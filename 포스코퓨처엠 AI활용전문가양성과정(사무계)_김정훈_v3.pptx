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d2c97886b3c4740" /><Relationship Type="http://schemas.openxmlformats.org/officeDocument/2006/relationships/extended-properties" Target="/docProps/app.xml" Id="R0e84790292bd416a" /><Relationship Type="http://schemas.openxmlformats.org/officeDocument/2006/relationships/officeDocument" Target="/ppt/presentation.xml" Id="R80f7a6018a704275" /></Relationships>
</file>

<file path=ppt/presentation.xml><?xml version="1.0" encoding="utf-8"?>
<p:presentation xmlns:p="http://schemas.openxmlformats.org/presentationml/2006/main">
  <p:sldMasterIdLst>
    <p:sldMasterId xmlns:r="http://schemas.openxmlformats.org/officeDocument/2006/relationships" id="2147483648" r:id="Rbcdd4f07fe614ab1"/>
  </p:sldMasterIdLst>
  <p:notesMasterIdLst>
    <p:notesMasterId xmlns:r="http://schemas.openxmlformats.org/officeDocument/2006/relationships" r:id="Refe42f0321f34e84"/>
  </p:notesMasterIdLst>
  <p:sldIdLst>
    <p:sldId xmlns:r="http://schemas.openxmlformats.org/officeDocument/2006/relationships" id="256" r:id="Ra9d82f450727434b"/>
    <p:sldId xmlns:r="http://schemas.openxmlformats.org/officeDocument/2006/relationships" id="257" r:id="Rda05b5190779491c"/>
    <p:sldId xmlns:r="http://schemas.openxmlformats.org/officeDocument/2006/relationships" id="258" r:id="R01824d82716e468d"/>
    <p:sldId xmlns:r="http://schemas.openxmlformats.org/officeDocument/2006/relationships" id="259" r:id="Rf4dfdd51391e4d42"/>
    <p:sldId xmlns:r="http://schemas.openxmlformats.org/officeDocument/2006/relationships" id="260" r:id="R0180b9682790483a"/>
    <p:sldId xmlns:r="http://schemas.openxmlformats.org/officeDocument/2006/relationships" id="261" r:id="Rafc4578883e2448a"/>
    <p:sldId xmlns:r="http://schemas.openxmlformats.org/officeDocument/2006/relationships" id="262" r:id="R8810531798ba4e3e"/>
    <p:sldId xmlns:r="http://schemas.openxmlformats.org/officeDocument/2006/relationships" id="263" r:id="Rd3dedb4c32734063"/>
    <p:sldId xmlns:r="http://schemas.openxmlformats.org/officeDocument/2006/relationships" id="264" r:id="R5a7d1d5d2fc1473a"/>
    <p:sldId xmlns:r="http://schemas.openxmlformats.org/officeDocument/2006/relationships" id="265" r:id="R2cd1de5c09e54c6c"/>
    <p:sldId xmlns:r="http://schemas.openxmlformats.org/officeDocument/2006/relationships" id="266" r:id="R100812a4813d42c2"/>
    <p:sldId xmlns:r="http://schemas.openxmlformats.org/officeDocument/2006/relationships" id="267" r:id="Rc11fdd56da454906"/>
    <p:sldId xmlns:r="http://schemas.openxmlformats.org/officeDocument/2006/relationships" id="268" r:id="R0c4ee866efc84c11"/>
    <p:sldId xmlns:r="http://schemas.openxmlformats.org/officeDocument/2006/relationships" id="269" r:id="R93b3fdc0eab1465b"/>
    <p:sldId xmlns:r="http://schemas.openxmlformats.org/officeDocument/2006/relationships" id="270" r:id="Rc676c941495341fe"/>
    <p:sldId xmlns:r="http://schemas.openxmlformats.org/officeDocument/2006/relationships" id="271" r:id="R7b6c1d425510406d"/>
  </p:sldIdLst>
  <p:sldSz cx="24387175" cy="13716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4e4cc4b4e594916" /><Relationship Type="http://schemas.openxmlformats.org/officeDocument/2006/relationships/slideMaster" Target="/ppt/slideMasters/slideMaster1.xml" Id="Rbcdd4f07fe614ab1" /><Relationship Type="http://schemas.openxmlformats.org/officeDocument/2006/relationships/notesMaster" Target="/ppt/notesMasters/notesMaster1.xml" Id="Refe42f0321f34e84" /><Relationship Type="http://schemas.openxmlformats.org/officeDocument/2006/relationships/presProps" Target="/ppt/presProps.xml" Id="R303c4a5913d74d52" /><Relationship Type="http://schemas.openxmlformats.org/officeDocument/2006/relationships/viewProps" Target="/ppt/viewProps.xml" Id="R24f96ebf3b3749fd" /><Relationship Type="http://schemas.openxmlformats.org/officeDocument/2006/relationships/tableStyles" Target="/ppt/tableStyles.xml" Id="R7af1cde3eb9e47cb" /><Relationship Type="http://schemas.openxmlformats.org/officeDocument/2006/relationships/slide" Target="/ppt/slides/slide1.xml" Id="Ra9d82f450727434b" /><Relationship Type="http://schemas.openxmlformats.org/officeDocument/2006/relationships/slide" Target="/ppt/slides/slide2.xml" Id="Rda05b5190779491c" /><Relationship Type="http://schemas.openxmlformats.org/officeDocument/2006/relationships/slide" Target="/ppt/slides/slide3.xml" Id="R01824d82716e468d" /><Relationship Type="http://schemas.openxmlformats.org/officeDocument/2006/relationships/slide" Target="/ppt/slides/slide4.xml" Id="Rf4dfdd51391e4d42" /><Relationship Type="http://schemas.openxmlformats.org/officeDocument/2006/relationships/slide" Target="/ppt/slides/slide5.xml" Id="R0180b9682790483a" /><Relationship Type="http://schemas.openxmlformats.org/officeDocument/2006/relationships/slide" Target="/ppt/slides/slide6.xml" Id="Rafc4578883e2448a" /><Relationship Type="http://schemas.openxmlformats.org/officeDocument/2006/relationships/slide" Target="/ppt/slides/slide7.xml" Id="R8810531798ba4e3e" /><Relationship Type="http://schemas.openxmlformats.org/officeDocument/2006/relationships/slide" Target="/ppt/slides/slide8.xml" Id="Rd3dedb4c32734063" /><Relationship Type="http://schemas.openxmlformats.org/officeDocument/2006/relationships/slide" Target="/ppt/slides/slide9.xml" Id="R5a7d1d5d2fc1473a" /><Relationship Type="http://schemas.openxmlformats.org/officeDocument/2006/relationships/slide" Target="/ppt/slides/slide10.xml" Id="R2cd1de5c09e54c6c" /><Relationship Type="http://schemas.openxmlformats.org/officeDocument/2006/relationships/slide" Target="/ppt/slides/slide11.xml" Id="R100812a4813d42c2" /><Relationship Type="http://schemas.openxmlformats.org/officeDocument/2006/relationships/slide" Target="/ppt/slides/slide12.xml" Id="Rc11fdd56da454906" /><Relationship Type="http://schemas.openxmlformats.org/officeDocument/2006/relationships/slide" Target="/ppt/slides/slide13.xml" Id="R0c4ee866efc84c11" /><Relationship Type="http://schemas.openxmlformats.org/officeDocument/2006/relationships/slide" Target="/ppt/slides/slide14.xml" Id="R93b3fdc0eab1465b" /><Relationship Type="http://schemas.openxmlformats.org/officeDocument/2006/relationships/slide" Target="/ppt/slides/slide15.xml" Id="Rc676c941495341fe" /><Relationship Type="http://schemas.openxmlformats.org/officeDocument/2006/relationships/slide" Target="/ppt/slides/slide16.xml" Id="R7b6c1d42551040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84c5b2ecdd4e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디자인 사용자 지정">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cef5a6acf546c6" /><Relationship Type="http://schemas.openxmlformats.org/officeDocument/2006/relationships/notesMaster" Target="/ppt/notesMasters/notesMaster1.xml" Id="Rf2cc948a1ced4b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0de8846c2a49d1" /><Relationship Type="http://schemas.openxmlformats.org/officeDocument/2006/relationships/notesMaster" Target="/ppt/notesMasters/notesMaster1.xml" Id="R288830c9c5b645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dca7854b694052" /><Relationship Type="http://schemas.openxmlformats.org/officeDocument/2006/relationships/notesMaster" Target="/ppt/notesMasters/notesMaster1.xml" Id="R1b57e678e79345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b4a5754e5cf4c2f" /><Relationship Type="http://schemas.openxmlformats.org/officeDocument/2006/relationships/notesMaster" Target="/ppt/notesMasters/notesMaster1.xml" Id="Ra3233f0c4f5f40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f5ee353eb24675" /><Relationship Type="http://schemas.openxmlformats.org/officeDocument/2006/relationships/notesMaster" Target="/ppt/notesMasters/notesMaster1.xml" Id="Ra7c490ea81804c58" /></Relationships>
</file>

<file path=ppt/notesSlides/_rels/notesSlide6.xml.rels>&#65279;<?xml version="1.0" encoding="utf-8"?><Relationships xmlns="http://schemas.openxmlformats.org/package/2006/relationships"><Relationship Type="http://schemas.openxmlformats.org/officeDocument/2006/relationships/slide" Target="/ppt/slides/slide6.xml" Id="R23609caface740a3" /><Relationship Type="http://schemas.openxmlformats.org/officeDocument/2006/relationships/notesMaster" Target="/ppt/notesMasters/notesMaster1.xml" Id="R301f101e8dd74d8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3dc1ee898c4713" /><Relationship Type="http://schemas.openxmlformats.org/officeDocument/2006/relationships/notesMaster" Target="/ppt/notesMasters/notesMaster1.xml" Id="R7514b759dc3c4d52"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c5c81d68b94d20" /><Relationship Type="http://schemas.openxmlformats.org/officeDocument/2006/relationships/notesMaster" Target="/ppt/notesMasters/notesMaster1.xml" Id="Ra319521131054f8c"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a642f8350743f5" /><Relationship Type="http://schemas.openxmlformats.org/officeDocument/2006/relationships/notesMaster" Target="/ppt/notesMasters/notesMaster1.xml" Id="R5dd5a5af4ff2457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114419c064e4ab7" /><Relationship Type="http://schemas.openxmlformats.org/officeDocument/2006/relationships/notesMaster" Target="/ppt/notesMasters/notesMaster1.xml" Id="R6c6ba3325ce4414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ec7374bdcda4be5" /><Relationship Type="http://schemas.openxmlformats.org/officeDocument/2006/relationships/notesMaster" Target="/ppt/notesMasters/notesMaster1.xml" Id="R61c62672d91540e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8f35d275a444190" /><Relationship Type="http://schemas.openxmlformats.org/officeDocument/2006/relationships/notesMaster" Target="/ppt/notesMasters/notesMaster1.xml" Id="R4b5079b9e4d74ca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9560d6432c041b4" /><Relationship Type="http://schemas.openxmlformats.org/officeDocument/2006/relationships/notesMaster" Target="/ppt/notesMasters/notesMaster1.xml" Id="R91c767517b86493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60d585a4929409c" /><Relationship Type="http://schemas.openxmlformats.org/officeDocument/2006/relationships/notesMaster" Target="/ppt/notesMasters/notesMaster1.xml" Id="Rc88bcc6c032d424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091b976b35045ab" /><Relationship Type="http://schemas.openxmlformats.org/officeDocument/2006/relationships/notesMaster" Target="/ppt/notesMasters/notesMaster1.xml" Id="Rd36b4ae09b4f48a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03662a226584491" /><Relationship Type="http://schemas.openxmlformats.org/officeDocument/2006/relationships/notesMaster" Target="/ppt/notesMasters/notesMaster1.xml" Id="Raeae79a9c0df4f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직원이 복리후생 규정을 쉽게 확인할 수 있도록 만든 상담 서비스를 소개하겠습니다. 문제를 정의한 관점, 교육에서 배운 기술을 실제로 적용한 과정, 그리고 검증 결과 순서로 말씀드리겠습니다.</a:t>
            </a:r>
          </a:p>
          <a:p xmlns:a="http://schemas.openxmlformats.org/drawingml/2006/main">
            <a:r>
              <a:t/>
            </a:r>
          </a:p>
          <a:p xmlns:a="http://schemas.openxmlformats.org/drawingml/2006/main">
            <a:r>
              <a:t>근거 자료: 기존 v2 표지 및 PRD.md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직원과 담당자가 겪는 불편을 설명하고, 이를 어떤 가설로 풀었는지 말씀드리겠습니다. 이어서 시스템 구조와 기술 선택, 실제 안내 유형을 보여드린 뒤 검색 성능과 한계, 향후 활용 계획을 정리하겠습니다.</a:t>
            </a:r>
          </a:p>
          <a:p xmlns:a="http://schemas.openxmlformats.org/drawingml/2006/main">
            <a:r>
              <a:t/>
            </a:r>
          </a:p>
          <a:p xmlns:a="http://schemas.openxmlformats.org/drawingml/2006/main">
            <a:r>
              <a:t>근거 자료: v2; PRD.md; app.py; eval_retrieval.py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프로젝트에서는 문제를 두 단계로 보았습니다. 먼저 직원의 표현을 알맞은 규정에 연결하는 검색 문제, 다음으로 개인 조건과 예외를 확인하는 판단 문제입니다. 실제 개발 중 출장 숙소 질문이 숙소지원금으로 잘못 분류되는 사례가 있었습니다. 그래서 단어를 찾아주는 기능만으로는 부족하고 조건 확인과 문의 준비까지 이어져야 한다고 보았습니다. 월 문의량과 소요 시간은 아직 측정하지 않았습니다.</a:t>
            </a:r>
          </a:p>
          <a:p xmlns:a="http://schemas.openxmlformats.org/drawingml/2006/main">
            <a:r>
              <a:t/>
            </a:r>
          </a:p>
          <a:p xmlns:a="http://schemas.openxmlformats.org/drawingml/2006/main">
            <a:r>
              <a:t>근거 자료: PRD.md §2; handoff.md; app.py 검색 관련 주석; v2 4·12페이지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처음부터 모든 복리후생을 자동화하는 대신 현재 구현된 네 분야를 상담 범위로 잡았습니다. 가설은 관련 규정과 확인 조건을 한 번에 제공하면 기본 확인과 문의 준비를 줄일 수 있다는 것입니다. 상담과 초안 작성은 구현되어 있지만, 실제 발송과 업무 시스템 연계는 프로토타입 범위를 넘어서는 후속 과제입니다. 최종 승인도 담당자가 수행합니다.</a:t>
            </a:r>
          </a:p>
          <a:p xmlns:a="http://schemas.openxmlformats.org/drawingml/2006/main">
            <a:r>
              <a:t/>
            </a:r>
          </a:p>
          <a:p xmlns:a="http://schemas.openxmlformats.org/drawingml/2006/main">
            <a:r>
              <a:t>근거 자료: PLAN.md 확인된 범위 결정; app.py SOURCE_FILES·문의 초안 함수; PRD.md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상단은 규정 준비 과정입니다. 현재 여섯 문서를 제목 계층과 본문을 보존해 135개 검색 구간으로 나눕니다. 하단은 실제 상담 흐름입니다. 질문 재작성, 검색, 판정, 생성의 네 노드를 LangGraph로 연결했습니다. 판정 단계에서 바로 답할 수 있는지, 정보가 더 필요한지, 담당자 확인이 필요한지를 나눕니다. 최종 화면은 답변과 실제 사용 근거를 받습니다.</a:t>
            </a:r>
          </a:p>
          <a:p xmlns:a="http://schemas.openxmlformats.org/drawingml/2006/main">
            <a:r>
              <a:t/>
            </a:r>
          </a:p>
          <a:p xmlns:a="http://schemas.openxmlformats.org/drawingml/2006/main">
            <a:r>
              <a:t>근거 자료: app.py SOURCE_FILES·split_policy_chunks·load_policy_index·build_consultation_graph; 2026.09.13 AST 기반 청크 집계 16+29+8+19+4+59=135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RAG를 사용한 이유는 회사 규정을 근거로 답해야 하기 때문입니다. 키워드와 의미 검색을 결합해 정확한 표현과 일상 표현을 함께 다루었습니다. LangGraph에서는 단계를 나눠 문제가 검색에 있는지 판정에 있는지 확인할 수 있도록 했습니다. 현재 코드의 모델은 gpt-5.6-luna이며, 여러 모델의 비용이나 성능을 비교한 실험은 제시하지 않았습니다.</a:t>
            </a:r>
          </a:p>
          <a:p xmlns:a="http://schemas.openxmlformats.org/drawingml/2006/main">
            <a:r>
              <a:t/>
            </a:r>
          </a:p>
          <a:p xmlns:a="http://schemas.openxmlformats.org/drawingml/2006/main">
            <a:r>
              <a:t>근거 자료: app.py MODEL·EMBEDDING_MODEL·score_chunk·retrieve·build_consultation_graph; PRD.md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교육의 주차별 구분은 기존 발표자료 본문을 기준으로 정리했습니다. 기초 API 연결이 규정 검색으로, 검색이 상담 상태 관리로, 마지막에는 품질 평가와 사용자 화면으로 이어졌습니다. 구현을 한 번 완성하는 것에 그치지 않고 대표 질문으로 확인하고 다시 고치는 흐름으로 연결한 점을 설명하겠습니다. 실제 강의 일정과 주차 구분은 제출 전 확인이 필요합니다.</a:t>
            </a:r>
          </a:p>
          <a:p xmlns:a="http://schemas.openxmlformats.org/drawingml/2006/main">
            <a:r>
              <a:t/>
            </a:r>
          </a:p>
          <a:p xmlns:a="http://schemas.openxmlformats.org/drawingml/2006/main">
            <a:r>
              <a:t>근거 자료: 기존 v2 10페이지 본문; app.py; eval_retrieval.py; test_rules.py; 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표는 실제 화면 캡처가 아니라 프로젝트 규정과 구현을 정리한 예시입니다. 필요한 서류가 명확한 질문에는 구체적인 기준을 안내합니다. 반면 숙소지원금처럼 조건이 부족하면 추가 확인을 하고, 출장 예외는 담당자 판단이 필요하다는 점을 설명합니다. 동호회는 다음 행동에 필요한 초안까지 지원하지만 실제 발송은 연동 전입니다.</a:t>
            </a:r>
          </a:p>
          <a:p xmlns:a="http://schemas.openxmlformats.org/drawingml/2006/main">
            <a:r>
              <a:t/>
            </a:r>
          </a:p>
          <a:p xmlns:a="http://schemas.openxmlformats.org/drawingml/2006/main">
            <a:r>
              <a:t>근거 자료: 규정/경조금 지급기준.md §5.3.1; 규정/동호회 관리 규정.md §5.1·5.2·5.3.1; app.py 생성·추가 확인·초안 함수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장표에는 발표자가 준비한 실제 시연 영상을 삽입합니다. 질문을 입력한 뒤 조건을 확인하는 답변과 근거 링크를 보여주고, 필요 시 담당자 문의 초안으로 이어지는 흐름을 보여주세요. 영상 삽입 영역과 안내 문구는 편집 가능한 개체이며, 영상을 배치할 때 삭제할 수 있습니다. 실제 발송 완료를 시연 결과로 오해하지 않도록 초안 작성 단계임을 설명합니다.</a:t>
            </a:r>
          </a:p>
          <a:p xmlns:a="http://schemas.openxmlformats.org/drawingml/2006/main">
            <a:r>
              <a:t/>
            </a:r>
          </a:p>
          <a:p xmlns:a="http://schemas.openxmlformats.org/drawingml/2006/main">
            <a:r>
              <a:t>근거 자료: 사용자 요청: 영상은 직접 제작·삽입; 기존 v2의 해외출장 전날 이동 시연 시나리오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신뢰성은 안내 문구 하나로 확보되지 않습니다. 질문이 바르게 정리됐는지, 관련 규정을 찾았는지, 실제 사용한 근거만 보여주는지 각각 확인해야 합니다. 그래서 검색 후보와 표시 근거를 분리하고, 추가 확인과 담당자 확인을 응답 유형으로 다루었습니다. 과거 수정 사례를 회귀 검증에 추가해 같은 오류가 다시 생기는지도 확인합니다.</a:t>
            </a:r>
          </a:p>
          <a:p xmlns:a="http://schemas.openxmlformats.org/drawingml/2006/main">
            <a:r>
              <a:t/>
            </a:r>
          </a:p>
          <a:p xmlns:a="http://schemas.openxmlformats.org/drawingml/2006/main">
            <a:r>
              <a:t>근거 자료: app.py resolve_question_node·select_used_evidence·generate_answer_node; test_rules.py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가장 큰 시행착오는 단어로 미리 제도를 정하면 더 정확할 것이라는 생각이었습니다. 출장 숙소 질문이 오히려 잘못된 규정에 갇혔습니다. 대화 연속성도 단어 규칙으로 판단하자 양쪽으로 오류가 생겼습니다. 청킹을 바꿀 때에는 정답 라벨이 예전 경로를 가리켜 성능이 나빠진 것처럼 보이기도 했습니다. 구현과 평가 데이터를 함께 점검해야 한다는 점을 배웠습니다.</a:t>
            </a:r>
          </a:p>
          <a:p xmlns:a="http://schemas.openxmlformats.org/drawingml/2006/main">
            <a:r>
              <a:t/>
            </a:r>
          </a:p>
          <a:p xmlns:a="http://schemas.openxmlformats.org/drawingml/2006/main">
            <a:r>
              <a:t>근거 자료: handoff.md; app.py split_policy_chunks·retrieve 주석; eval_retrieval.py 평가 라벨 주석; v2 12페이지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여기서는 기존 평가 파일에 남아 있는 동일 회귀 44문항의 개선 전후를 비교합니다. 의미 검색 가중치를 0.5에서 0.8로 조정했을 때 첫 번째 결과가 정답인 비율이 45.5%에서 63.6%로, 18.1%포인트 높아졌습니다. Hit@3은 정답 조항이 상위 세 결과에 포함된 비율입니다. 실사용 18문항은 숙소지원금 분야에 한정되므로 전체 분야의 성능으로 일반화하지 않습니다. 이는 9월 10일 기준선 기록이며 현재 코드는 추가 개선되어 있습니다. 이번 제작에서는 실제 API 평가를 다시 실행하지 않았습니다.</a:t>
            </a:r>
          </a:p>
          <a:p xmlns:a="http://schemas.openxmlformats.org/drawingml/2006/main">
            <a:r>
              <a:t/>
            </a:r>
          </a:p>
          <a:p xmlns:a="http://schemas.openxmlformats.org/drawingml/2006/main">
            <a:r>
              <a:t>근거 자료: eval_retrieval.py 모듈 설명 2026-09-10 기준선; handoff.md. Hit@1·Hit@3은 정답 조항 검색 적중률, MRR은 정답 조항 순위의 역수 평균. 반올림 표시값 차이 63.6−45.5=18.1%p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처음에는 텍스트 파일을 마크다운으로 바꾸면 준비가 끝나는 줄 알았습니다. 그런데 검토 과정에서 큰 제목만 기준으로 문서를 나누고 있어 작은 제목과의 관계가 빠진다는 피드백을 받았습니다. 그래서 본문이 어느 제목 아래에 있는지 함께 남기도록 수정했습니다. 예를 들어 숙소지원금의 지원 대상에 관한 내용이라면 그 위치를 제목 경로로 함께 보관하는 방식입니다. 이 경험을 통해 파일 형식뿐 아니라 내용을 어떻게 나누고 정리하는지도 검색에 중요하다는 것을 배웠습니다. 이 피드백만의 성능 개선 수치는 별도로 측정하지 않았습니다.</a:t>
            </a:r>
          </a:p>
          <a:p xmlns:a="http://schemas.openxmlformats.org/drawingml/2006/main">
            <a:r>
              <a:t/>
            </a:r>
          </a:p>
          <a:p xmlns:a="http://schemas.openxmlformats.org/drawingml/2006/main">
            <a:r>
              <a:t>근거 자료: 2026.09.13 사용자가 제공한 실제 멘토링 경험; app.py split_policy_chunks·load_policy_index; PLAN.md의 Markdown 전환 및 path/text 검증 완료 항목. 사용자 설명의 당시 진행 상황과 현재 코드 확인을 구분함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기술 평가에서는 검색 순위 개선을 확인했지만, 업무 시간이 얼마나 줄었는지는 아직 측정하지 않았습니다. 파일럿에서는 같은 질문을 기존 방식과 서비스 사용 방식으로 처리하는 시간을 비교하고, 재문의 비율과 추가 확인 횟수를 함께 보겠습니다. 직원은 기준을 쉽게 확인하고 담당자는 정리된 문의를 받을 수 있을 것으로 기대합니다. 이 기대를 실제 사용 데이터로 검증하는 것이 다음 단계입니다.</a:t>
            </a:r>
          </a:p>
          <a:p xmlns:a="http://schemas.openxmlformats.org/drawingml/2006/main">
            <a:r>
              <a:t/>
            </a:r>
          </a:p>
          <a:p xmlns:a="http://schemas.openxmlformats.org/drawingml/2006/main">
            <a:r>
              <a:t>근거 자료: PRD.md §11·15; v2 13페이지 기대 효과; 본 장표의 업무 지표는 향후 검증 제안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전에는 데이터를 준비한다는 것이 파일 형식을 바꾸는 정도라고 생각했습니다. 이번에 피드백을 받고 수정하면서, 문서를 나누는 방식도 AI가 답을 찾는 데 영향을 준다는 것을 알게 됐습니다. 또 예전 같으면 바로 만들기부터 시작했을 텐데, 이제는 AI에게 맡길 부분과 제가 기준을 정해야 할 부분을 먼저 나누어 보려고 합니다. 검증할 질문을 준비할 때도 이런 구분부터 생각하게 된 점이 한 달 동안 달라진 부분입니다. 앞으로 실제 업무 질문으로 계속 확인하면서 조금씩 보완해 가고 싶습니다.</a:t>
            </a:r>
          </a:p>
          <a:p xmlns:a="http://schemas.openxmlformats.org/drawingml/2006/main">
            <a:r>
              <a:t/>
            </a:r>
          </a:p>
          <a:p xmlns:a="http://schemas.openxmlformats.org/drawingml/2006/main">
            <a:r>
              <a:t>근거 자료: 2026.09.13 사용자가 제공한 실제 교육 소감과 성장 경험; PRD.md의 향후 실무 활용 계획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이상으로 복리후생 상담 서비스의 문제 정의와 구현, 검증 결과를 소개했습니다. 감사합니다. 질문을 받겠습니다.</a:t>
            </a:r>
          </a:p>
          <a:p xmlns:a="http://schemas.openxmlformats.org/drawingml/2006/main">
            <a:r>
              <a:t/>
            </a:r>
          </a:p>
          <a:p xmlns:a="http://schemas.openxmlformats.org/drawingml/2006/main">
            <a:r>
              <a:t>근거 자료: 기존 v2 마무리 장표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2dfe020e044e11" /><Relationship Type="http://schemas.openxmlformats.org/officeDocument/2006/relationships/image" Target="/ppt/media/image.jpeg" Id="R8a332929de7347e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7009856b60e408a" /><Relationship Type="http://schemas.openxmlformats.org/officeDocument/2006/relationships/image" Target="/ppt/media/image2.jpeg" Id="R0150e797b7314de6" /><Relationship Type="http://schemas.openxmlformats.org/officeDocument/2006/relationships/image" Target="/ppt/media/image.png" Id="R12da4d4163aa4d5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705bef537fa4bab" /><Relationship Type="http://schemas.openxmlformats.org/officeDocument/2006/relationships/image" Target="/ppt/media/image.png" Id="Rcd211f03203547e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dbde78f2edb49f0" /><Relationship Type="http://schemas.openxmlformats.org/officeDocument/2006/relationships/image" Target="/ppt/media/image.png" Id="R0261d1e2cde649f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bc81167683e48b5" /><Relationship Type="http://schemas.openxmlformats.org/officeDocument/2006/relationships/image" Target="/ppt/media/image.png" Id="Rc9faa885d22f4df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10c0bf454494d77" /><Relationship Type="http://schemas.openxmlformats.org/officeDocument/2006/relationships/image" Target="/ppt/media/image2.jpeg" Id="Rc3145c118558472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5d9b4c4c45d4b7e" /><Relationship Type="http://schemas.openxmlformats.org/officeDocument/2006/relationships/image" Target="/ppt/media/image.png" Id="Rcff105926f394468" /></Relationships>
</file>

<file path=ppt/slideLayouts/slideLayout1.xml><?xml version="1.0" encoding="utf-8"?>
<p:sldLayout xmlns:p="http://schemas.openxmlformats.org/presentationml/2006/main" type="title" preserve="1">
  <p:cSld name="제목 슬라이드">
    <p:bg>
      <p:bgPr>
        <a:blipFill xmlns:a="http://schemas.openxmlformats.org/drawingml/2006/main" rotWithShape="1">
          <a:blip xmlns:r="http://schemas.openxmlformats.org/officeDocument/2006/relationships" r:embed="R8a332929de7347e0">
            <a:alphaModFix amt="75000"/>
            <a:lum/>
          </a:blip>
          <a:srcRect l="0" t="0" r="0" b="0"/>
          <a:stretch>
            <a:fillRect l="0" t="0" r="0" b="0"/>
          </a:stretch>
        </a:blipFill>
      </p:bgPr>
    </p:bg>
    <p:spTree>
      <p:nvGrpSpPr>
        <p:cNvPr id="1" name=""/>
        <p:cNvGrpSpPr/>
        <p:nvPr/>
      </p:nvGrpSpPr>
      <p:grpSpPr>
        <a:xfrm xmlns:a="http://schemas.openxmlformats.org/drawingml/2006/main"/>
      </p:grpSpPr>
      <p:sp>
        <p:nvSpPr>
          <p:cNvPr id="2" name="제목 1">
            <a:extLst xmlns:a="http://schemas.openxmlformats.org/drawingml/2006/main">
              <a:ext uri="{FF2B5EF4-FFF2-40B4-BE49-F238E27FC236}">
                <a16:creationId xmlns:a16="http://schemas.microsoft.com/office/drawing/2014/main" id="{08B332EF-C8B5-2BD9-442E-592FCB56B350}"/>
              </a:ext>
            </a:extLst>
          </p:cNvPr>
          <p:cNvSpPr>
            <a:spLocks xmlns:a="http://schemas.openxmlformats.org/drawingml/2006/main" noGrp="1"/>
          </p:cNvSpPr>
          <p:nvPr>
            <p:ph type="ctrTitle" idx="0"/>
          </p:nvPr>
        </p:nvSpPr>
        <p:spPr>
          <a:xfrm xmlns:a="http://schemas.openxmlformats.org/drawingml/2006/main">
            <a:off x="1543826" y="3710770"/>
            <a:ext cx="18291175" cy="1930340"/>
          </a:xfrm>
        </p:spPr>
        <p:txBody>
          <a:bodyPr xmlns:a="http://schemas.openxmlformats.org/drawingml/2006/main" anchor="t">
            <a:normAutofit/>
          </a:bodyPr>
          <a:lstStyle xmlns:a="http://schemas.openxmlformats.org/drawingml/2006/main">
            <a:lvl1pPr algn="l">
              <a:buNone/>
              <a:defRPr sz="11500">
                <a:latin typeface="프리젠테이션 8 ExtraBold"/>
                <a:ea typeface="프리젠테이션 8 ExtraBold"/>
                <a:cs typeface="프리젠테이션 8 ExtraBold"/>
              </a:defRPr>
            </a:lvl1pPr>
          </a:lstStyle>
          <a:p xmlns:a="http://schemas.openxmlformats.org/drawingml/2006/main">
            <a:r>
              <a:t>마스터 제목 스타일 편집</a:t>
            </a:r>
          </a:p>
        </p:txBody>
      </p:sp>
      <p:sp>
        <p:nvSpPr>
          <p:cNvPr id="3" name="부제목 2">
            <a:extLst xmlns:a="http://schemas.openxmlformats.org/drawingml/2006/main">
              <a:ext uri="{FF2B5EF4-FFF2-40B4-BE49-F238E27FC236}">
                <a16:creationId xmlns:a16="http://schemas.microsoft.com/office/drawing/2014/main" id="{8B01E7AF-9682-B4AA-218C-A68B8F3D8210}"/>
              </a:ext>
            </a:extLst>
          </p:cNvPr>
          <p:cNvSpPr>
            <a:spLocks xmlns:a="http://schemas.openxmlformats.org/drawingml/2006/main" noGrp="1"/>
          </p:cNvSpPr>
          <p:nvPr>
            <p:ph type="subTitle" idx="1" hasCustomPrompt="1"/>
          </p:nvPr>
        </p:nvSpPr>
        <p:spPr>
          <a:xfrm xmlns:a="http://schemas.openxmlformats.org/drawingml/2006/main">
            <a:off x="1543825" y="6861248"/>
            <a:ext cx="18291175" cy="801238"/>
          </a:xfrm>
        </p:spPr>
        <p:txBody>
          <a:bodyPr xmlns:a="http://schemas.openxmlformats.org/drawingml/2006/main" anchor="b">
            <a:normAutofit/>
          </a:bodyPr>
          <a:lstStyle xmlns:a="http://schemas.openxmlformats.org/drawingml/2006/main">
            <a:lvl1pPr marL="0" indent="0" algn="l">
              <a:buNone/>
              <a:defRPr sz="4000">
                <a:solidFill>
                  <a:srgbClr val="002060"/>
                </a:solidFill>
                <a:latin typeface="프리젠테이션 7 Bold"/>
                <a:ea typeface="프리젠테이션 7 Bold"/>
                <a:cs typeface="프리젠테이션 7 Bold"/>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클릭하여 마스터 부제목 스타일 편집</a:t>
            </a:r>
          </a:p>
        </p:txBody>
      </p:sp>
    </p:spTree>
  </p:cSld>
</p:sldLayout>
</file>

<file path=ppt/slideLayouts/slideLayout2.xml><?xml version="1.0" encoding="utf-8"?>
<p:sldLayout xmlns:p="http://schemas.openxmlformats.org/presentationml/2006/main" type="titleOnly" preserve="1">
  <p:cSld name="제목만">
    <p:bg>
      <p:bgPr>
        <a:blipFill xmlns:a="http://schemas.openxmlformats.org/drawingml/2006/main" rotWithShape="1">
          <a:blip xmlns:r="http://schemas.openxmlformats.org/officeDocument/2006/relationships" r:embed="R0150e797b7314de6">
            <a:alphaModFix amt="80000"/>
            <a:lum/>
          </a:blip>
          <a:srcRect l="0" t="0" r="0" b="0"/>
          <a:stretch>
            <a:fillRect l="0" t="0" r="0" b="0"/>
          </a:stretch>
        </a:blipFill>
      </p:bgPr>
    </p:bg>
    <p:spTree>
      <p:nvGrpSpPr>
        <p:cNvPr id="1" name=""/>
        <p:cNvGrpSpPr/>
        <p:nvPr/>
      </p:nvGrpSpPr>
      <p:grpSpPr>
        <a:xfrm xmlns:a="http://schemas.openxmlformats.org/drawingml/2006/main"/>
      </p:grpSpPr>
      <p:sp>
        <p:nvSpPr>
          <p:cNvPr id="2" name="제목 1">
            <a:extLst xmlns:a="http://schemas.openxmlformats.org/drawingml/2006/main">
              <a:ext uri="{FF2B5EF4-FFF2-40B4-BE49-F238E27FC236}">
                <a16:creationId xmlns:a16="http://schemas.microsoft.com/office/drawing/2014/main" id="{C3C1CEDB-44A2-0B7C-2AAA-F392BAB2F44A}"/>
              </a:ext>
            </a:extLst>
          </p:cNvPr>
          <p:cNvSpPr>
            <a:spLocks xmlns:a="http://schemas.openxmlformats.org/drawingml/2006/main" noGrp="1"/>
          </p:cNvSpPr>
          <p:nvPr>
            <p:ph type="title" idx="0"/>
          </p:nvPr>
        </p:nvSpPr>
        <p:spPr>
          <a:xfrm xmlns:a="http://schemas.openxmlformats.org/drawingml/2006/main">
            <a:off x="2532888" y="2295144"/>
            <a:ext cx="19726035" cy="1088136"/>
          </a:xfrm>
        </p:spPr>
        <p:txBody>
          <a:bodyPr xmlns:a="http://schemas.openxmlformats.org/drawingml/2006/main">
            <a:normAutofit/>
          </a:bodyPr>
          <a:lstStyle xmlns:a="http://schemas.openxmlformats.org/drawingml/2006/main">
            <a:lvl1pPr>
              <a:buNone/>
              <a:defRPr sz="5600" kern="1200">
                <a:solidFill>
                  <a:schemeClr val="tx1"/>
                </a:solidFill>
                <a:latin typeface="프리젠테이션 8 ExtraBold"/>
                <a:ea typeface="프리젠테이션 8 ExtraBold"/>
                <a:cs typeface="프리젠테이션 8 ExtraBold"/>
              </a:defRPr>
            </a:lvl1pPr>
          </a:lstStyle>
          <a:p xmlns:a="http://schemas.openxmlformats.org/drawingml/2006/main">
            <a:r>
              <a:t>마스터 제목 스타일 편집</a:t>
            </a:r>
          </a:p>
        </p:txBody>
      </p:sp>
      <p:sp>
        <p:nvSpPr>
          <p:cNvPr id="3" name="날짜 개체 틀 2">
            <a:extLst xmlns:a="http://schemas.openxmlformats.org/drawingml/2006/main">
              <a:ext uri="{FF2B5EF4-FFF2-40B4-BE49-F238E27FC236}">
                <a16:creationId xmlns:a16="http://schemas.microsoft.com/office/drawing/2014/main" id="{C4175252-30FA-33F4-E0C6-51AF65B82B2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72FA985-9A27-4AB2-8BC6-397BDDF1AFF1}" type="datetimeFigureOut">
              <a:t>2026-09-11</a:t>
            </a:fld>
            <a:endParaRPr/>
          </a:p>
        </p:txBody>
      </p:sp>
      <p:sp>
        <p:nvSpPr>
          <p:cNvPr id="4" name="바닥글 개체 틀 3">
            <a:extLst xmlns:a="http://schemas.openxmlformats.org/drawingml/2006/main">
              <a:ext uri="{FF2B5EF4-FFF2-40B4-BE49-F238E27FC236}">
                <a16:creationId xmlns:a16="http://schemas.microsoft.com/office/drawing/2014/main" id="{FC20A81B-A49E-49B4-A203-B6F405414A0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슬라이드 번호 개체 틀 4">
            <a:extLst xmlns:a="http://schemas.openxmlformats.org/drawingml/2006/main">
              <a:ext uri="{FF2B5EF4-FFF2-40B4-BE49-F238E27FC236}">
                <a16:creationId xmlns:a16="http://schemas.microsoft.com/office/drawing/2014/main" id="{087BCF0C-EDFA-CF43-CA43-94ED70F9D46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C3C6D6B-447B-4518-AB4A-57FC072EBF5B}" type="slidenum">
              <a:t>‹#›</a:t>
            </a:fld>
            <a:endParaRPr/>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12da4d4163aa4d52"/>
          <a:stretch xmlns:a="http://schemas.openxmlformats.org/drawingml/2006/main">
            <a:fillRect l="0" t="0" r="0" b="0"/>
          </a:stretch>
        </p:blipFill>
        <p:spPr>
          <a:xfrm xmlns:a="http://schemas.openxmlformats.org/drawingml/2006/main">
            <a:off x="1562295" y="2447925"/>
            <a:ext cx="685886" cy="787400"/>
          </a:xfrm>
          <a:prstGeom xmlns:a="http://schemas.openxmlformats.org/drawingml/2006/main" prst="rect">
            <a:avLst/>
          </a:prstGeom>
        </p:spPr>
      </p:pic>
      <p:sp>
        <p:nvSpPr>
          <p:cNvPr id="6" name="Text 1">
            <a:extLst xmlns:a="http://schemas.openxmlformats.org/drawingml/2006/main">
              <a:ext uri="{FF2B5EF4-FFF2-40B4-BE49-F238E27FC236}">
                <a16:creationId xmlns:a16="http://schemas.microsoft.com/office/drawing/2014/main" id="{50296802-8738-5386-BCAD-D430923BDE3D}"/>
              </a:ext>
            </a:extLst>
          </p:cNvPr>
          <p:cNvSpPr>
            <a:spLocks xmlns:a="http://schemas.openxmlformats.org/drawingml/2006/main" noGrp="1"/>
          </p:cNvSpPr>
          <p:nvPr/>
        </p:nvSpPr>
        <p:spPr>
          <a:xfrm xmlns:a="http://schemas.openxmlformats.org/drawingml/2006/main">
            <a:off x="939916" y="635000"/>
            <a:ext cx="7481070" cy="7302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marR="0" lvl="0" indent="0" algn="l" defTabSz="914400">
              <a:lnSpc>
                <a:spcPts val="4242"/>
              </a:lnSpc>
              <a:spcBef>
                <a:spcPts val="0"/>
              </a:spcBef>
              <a:spcAft>
                <a:spcPts val="0"/>
              </a:spcAft>
              <a:buClrTx/>
              <a:buSzTx/>
              <a:buFontTx/>
              <a:buNone/>
            </a:pPr>
            <a:r>
              <a:rPr sz="3263" b="1" i="0" u="none" cap="none" spc="0">
                <a:ln>
                  <a:noFill/>
                </a:ln>
                <a:solidFill>
                  <a:srgbClr val="002060"/>
                </a:solidFill>
                <a:latin typeface="Pretendard SemiBold"/>
                <a:ea typeface="Pretendard SemiBold"/>
                <a:cs typeface="Pretendard SemiBold"/>
              </a:rPr>
              <a:t>26</a:t>
            </a:r>
            <a:r>
              <a:rPr sz="3263" b="1" i="0" u="none" cap="none" spc="0">
                <a:ln>
                  <a:noFill/>
                </a:ln>
                <a:solidFill>
                  <a:srgbClr val="002060"/>
                </a:solidFill>
                <a:latin typeface="Pretendard SemiBold"/>
                <a:ea typeface="Pretendard SemiBold"/>
                <a:cs typeface="Pretendard SemiBold"/>
              </a:rPr>
              <a:t>년 </a:t>
            </a:r>
            <a:r>
              <a:rPr sz="3263" b="1" i="0" u="none" cap="none" spc="0">
                <a:ln>
                  <a:noFill/>
                </a:ln>
                <a:solidFill>
                  <a:srgbClr val="002060"/>
                </a:solidFill>
                <a:latin typeface="Pretendard SemiBold"/>
                <a:ea typeface="Pretendard SemiBold"/>
                <a:cs typeface="Pretendard SemiBold"/>
              </a:rPr>
              <a:t>포스코퓨처엠</a:t>
            </a:r>
            <a:r>
              <a:rPr sz="3263" b="1" i="0" u="none" cap="none" spc="0">
                <a:ln>
                  <a:noFill/>
                </a:ln>
                <a:solidFill>
                  <a:srgbClr val="002060"/>
                </a:solidFill>
                <a:latin typeface="Pretendard SemiBold"/>
                <a:ea typeface="Pretendard SemiBold"/>
                <a:cs typeface="Pretendard SemiBold"/>
              </a:rPr>
              <a:t> </a:t>
            </a:r>
            <a:r>
              <a:rPr sz="3263" b="1" i="0" u="none" cap="none" spc="0">
                <a:ln>
                  <a:noFill/>
                </a:ln>
                <a:solidFill>
                  <a:srgbClr val="002060"/>
                </a:solidFill>
                <a:latin typeface="Pretendard SemiBold"/>
                <a:ea typeface="Pretendard SemiBold"/>
                <a:cs typeface="Pretendard SemiBold"/>
              </a:rPr>
              <a:t>AI활용전문가</a:t>
            </a:r>
            <a:r>
              <a:rPr sz="3263" b="1" i="0" u="none" cap="none" spc="0">
                <a:ln>
                  <a:noFill/>
                </a:ln>
                <a:solidFill>
                  <a:srgbClr val="002060"/>
                </a:solidFill>
                <a:latin typeface="Pretendard SemiBold"/>
                <a:ea typeface="Pretendard SemiBold"/>
                <a:cs typeface="Pretendard SemiBold"/>
              </a:rPr>
              <a:t> </a:t>
            </a:r>
            <a:r>
              <a:rPr sz="3263" b="1" i="0" u="none" cap="none" spc="0">
                <a:ln>
                  <a:noFill/>
                </a:ln>
                <a:solidFill>
                  <a:srgbClr val="002060"/>
                </a:solidFill>
                <a:latin typeface="Pretendard SemiBold"/>
                <a:ea typeface="Pretendard SemiBold"/>
                <a:cs typeface="Pretendard SemiBold"/>
              </a:rPr>
              <a:t>과정</a:t>
            </a:r>
            <a:endParaRPr sz="3263" b="0" i="0" u="none" kern="1200" cap="none" spc="0" baseline="0">
              <a:ln>
                <a:noFill/>
              </a:ln>
              <a:solidFill>
                <a:srgbClr val="002060"/>
              </a:solidFill>
              <a:latin typeface="Calibri"/>
              <a:ea typeface="Calibri"/>
              <a:cs typeface="Calibri"/>
            </a:endParaRPr>
          </a:p>
        </p:txBody>
      </p:sp>
    </p:spTree>
  </p:cSld>
</p:sldLayout>
</file>

<file path=ppt/slideLayouts/slideLayout3.xml><?xml version="1.0" encoding="utf-8"?>
<p:sldLayout xmlns:p="http://schemas.openxmlformats.org/presentationml/2006/main" preserve="1" userDrawn="1">
  <p:cSld name="3_제목만">
    <p:bg>
      <p:bgPr>
        <a:solidFill xmlns:a="http://schemas.openxmlformats.org/drawingml/2006/main">
          <a:srgbClr val="F7F9F8"/>
        </a:solidFill>
      </p:bgPr>
    </p:bg>
    <p:spTree>
      <p:nvGrpSpPr>
        <p:cNvPr id="1" name=""/>
        <p:cNvGrpSpPr/>
        <p:nvPr/>
      </p:nvGrpSpPr>
      <p:grpSpPr>
        <a:xfrm xmlns:a="http://schemas.openxmlformats.org/drawingml/2006/main"/>
      </p:grpSpPr>
      <p:sp>
        <p:nvSpPr>
          <p:cNvPr id="2" name="제목 1">
            <a:extLst xmlns:a="http://schemas.openxmlformats.org/drawingml/2006/main">
              <a:ext uri="{FF2B5EF4-FFF2-40B4-BE49-F238E27FC236}">
                <a16:creationId xmlns:a16="http://schemas.microsoft.com/office/drawing/2014/main" id="{C3C1CEDB-44A2-0B7C-2AAA-F392BAB2F44A}"/>
              </a:ext>
            </a:extLst>
          </p:cNvPr>
          <p:cNvSpPr>
            <a:spLocks xmlns:a="http://schemas.openxmlformats.org/drawingml/2006/main" noGrp="1"/>
          </p:cNvSpPr>
          <p:nvPr>
            <p:ph type="title" idx="0"/>
          </p:nvPr>
        </p:nvSpPr>
        <p:spPr>
          <a:xfrm xmlns:a="http://schemas.openxmlformats.org/drawingml/2006/main">
            <a:off x="2532888" y="2295144"/>
            <a:ext cx="19726035" cy="1088136"/>
          </a:xfrm>
        </p:spPr>
        <p:txBody>
          <a:bodyPr xmlns:a="http://schemas.openxmlformats.org/drawingml/2006/main">
            <a:normAutofit/>
          </a:bodyPr>
          <a:lstStyle xmlns:a="http://schemas.openxmlformats.org/drawingml/2006/main">
            <a:lvl1pPr>
              <a:buNone/>
              <a:defRPr sz="5600" kern="1200">
                <a:solidFill>
                  <a:schemeClr val="tx1"/>
                </a:solidFill>
                <a:latin typeface="프리젠테이션 8 ExtraBold"/>
                <a:ea typeface="프리젠테이션 8 ExtraBold"/>
                <a:cs typeface="프리젠테이션 8 ExtraBold"/>
              </a:defRPr>
            </a:lvl1pPr>
          </a:lstStyle>
          <a:p xmlns:a="http://schemas.openxmlformats.org/drawingml/2006/main">
            <a:r>
              <a:t>마스터 제목 스타일 편집</a:t>
            </a:r>
          </a:p>
        </p:txBody>
      </p:sp>
      <p:sp>
        <p:nvSpPr>
          <p:cNvPr id="3" name="날짜 개체 틀 2">
            <a:extLst xmlns:a="http://schemas.openxmlformats.org/drawingml/2006/main">
              <a:ext uri="{FF2B5EF4-FFF2-40B4-BE49-F238E27FC236}">
                <a16:creationId xmlns:a16="http://schemas.microsoft.com/office/drawing/2014/main" id="{C4175252-30FA-33F4-E0C6-51AF65B82B2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72FA985-9A27-4AB2-8BC6-397BDDF1AFF1}" type="datetimeFigureOut">
              <a:t>2026-09-11</a:t>
            </a:fld>
            <a:endParaRPr/>
          </a:p>
        </p:txBody>
      </p:sp>
      <p:sp>
        <p:nvSpPr>
          <p:cNvPr id="4" name="바닥글 개체 틀 3">
            <a:extLst xmlns:a="http://schemas.openxmlformats.org/drawingml/2006/main">
              <a:ext uri="{FF2B5EF4-FFF2-40B4-BE49-F238E27FC236}">
                <a16:creationId xmlns:a16="http://schemas.microsoft.com/office/drawing/2014/main" id="{FC20A81B-A49E-49B4-A203-B6F405414A0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슬라이드 번호 개체 틀 4">
            <a:extLst xmlns:a="http://schemas.openxmlformats.org/drawingml/2006/main">
              <a:ext uri="{FF2B5EF4-FFF2-40B4-BE49-F238E27FC236}">
                <a16:creationId xmlns:a16="http://schemas.microsoft.com/office/drawing/2014/main" id="{087BCF0C-EDFA-CF43-CA43-94ED70F9D46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sz="1800">
                <a:latin typeface="프리젠테이션 4 Regular"/>
                <a:ea typeface="프리젠테이션 4 Regular"/>
                <a:cs typeface="프리젠테이션 4 Regular"/>
              </a:defRPr>
            </a:lvl1pPr>
          </a:lstStyle>
          <a:p xmlns:a="http://schemas.openxmlformats.org/drawingml/2006/main">
            <a:fld id="{7C3C6D6B-447B-4518-AB4A-57FC072EBF5B}" type="slidenum">
              <a:t>‹#›</a:t>
            </a:fld>
            <a:endParaRPr/>
          </a:p>
        </p:txBody>
      </p:sp>
      <p:sp>
        <p:nvSpPr>
          <p:cNvPr id="10" name="내용 개체 틀 9">
            <a:extLst xmlns:a="http://schemas.openxmlformats.org/drawingml/2006/main">
              <a:ext uri="{FF2B5EF4-FFF2-40B4-BE49-F238E27FC236}">
                <a16:creationId xmlns:a16="http://schemas.microsoft.com/office/drawing/2014/main" id="{CA32BC59-A64A-79E8-35F1-D54BD4F9F2EF}"/>
              </a:ext>
            </a:extLst>
          </p:cNvPr>
          <p:cNvSpPr>
            <a:spLocks xmlns:a="http://schemas.openxmlformats.org/drawingml/2006/main" noGrp="1"/>
          </p:cNvSpPr>
          <p:nvPr>
            <p:ph idx="13"/>
          </p:nvPr>
        </p:nvSpPr>
        <p:spPr>
          <a:xfrm xmlns:a="http://schemas.openxmlformats.org/drawingml/2006/main">
            <a:off x="2532888" y="3638842"/>
            <a:ext cx="11574236" cy="914400"/>
          </a:xfrm>
        </p:spPr>
        <p:txBody>
          <a:bodyPr xmlns:a="http://schemas.openxmlformats.org/drawingml/2006/main">
            <a:normAutofit/>
          </a:bodyPr>
          <a:lstStyle xmlns:a="http://schemas.openxmlformats.org/drawingml/2006/main">
            <a:lvl1pPr marL="0" indent="0">
              <a:buNone/>
              <a:defRPr sz="3200">
                <a:latin typeface="프리젠테이션 4 Regular"/>
                <a:ea typeface="프리젠테이션 4 Regular"/>
                <a:cs typeface="프리젠테이션 4 Regular"/>
              </a:defRPr>
            </a:lvl1pPr>
          </a:lstStyle>
          <a:p xmlns:a="http://schemas.openxmlformats.org/drawingml/2006/main">
            <a:pPr lvl="0">
              <a:buNone/>
            </a:pPr>
            <a:r>
              <a:t>마스터 텍스트 스타일을 편집하려면 클릭</a:t>
            </a:r>
          </a:p>
        </p:txBody>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cd211f03203547e7"/>
          <a:stretch xmlns:a="http://schemas.openxmlformats.org/drawingml/2006/main">
            <a:fillRect l="0" t="0" r="0" b="0"/>
          </a:stretch>
        </p:blipFill>
        <p:spPr>
          <a:xfrm xmlns:a="http://schemas.openxmlformats.org/drawingml/2006/main">
            <a:off x="1562295" y="2447925"/>
            <a:ext cx="685886" cy="787400"/>
          </a:xfrm>
          <a:prstGeom xmlns:a="http://schemas.openxmlformats.org/drawingml/2006/main" prst="rect">
            <a:avLst/>
          </a:prstGeom>
        </p:spPr>
      </p:pic>
      <p:sp>
        <p:nvSpPr>
          <p:cNvPr id="7" name="Text 1">
            <a:extLst xmlns:a="http://schemas.openxmlformats.org/drawingml/2006/main">
              <a:ext uri="{FF2B5EF4-FFF2-40B4-BE49-F238E27FC236}">
                <a16:creationId xmlns:a16="http://schemas.microsoft.com/office/drawing/2014/main" id="{B3B44DE7-E7CA-BACE-5335-6B2A1DE66D50}"/>
              </a:ext>
            </a:extLst>
          </p:cNvPr>
          <p:cNvSpPr>
            <a:spLocks xmlns:a="http://schemas.openxmlformats.org/drawingml/2006/main" noGrp="1"/>
          </p:cNvSpPr>
          <p:nvPr/>
        </p:nvSpPr>
        <p:spPr>
          <a:xfrm xmlns:a="http://schemas.openxmlformats.org/drawingml/2006/main">
            <a:off x="939916" y="635000"/>
            <a:ext cx="7481070" cy="7302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marR="0" lvl="0" indent="0" algn="l" defTabSz="914400">
              <a:lnSpc>
                <a:spcPts val="4242"/>
              </a:lnSpc>
              <a:spcBef>
                <a:spcPts val="0"/>
              </a:spcBef>
              <a:spcAft>
                <a:spcPts val="0"/>
              </a:spcAft>
              <a:buClrTx/>
              <a:buSzTx/>
              <a:buFontTx/>
              <a:buNone/>
            </a:pPr>
            <a:r>
              <a:rPr sz="3263" b="1" i="0" u="none" cap="none" spc="0">
                <a:ln>
                  <a:noFill/>
                </a:ln>
                <a:solidFill>
                  <a:srgbClr val="002060"/>
                </a:solidFill>
                <a:latin typeface="Pretendard SemiBold"/>
                <a:ea typeface="Pretendard SemiBold"/>
                <a:cs typeface="Pretendard SemiBold"/>
              </a:rPr>
              <a:t>26</a:t>
            </a:r>
            <a:r>
              <a:rPr sz="3263" b="1" i="0" u="none" cap="none" spc="0">
                <a:ln>
                  <a:noFill/>
                </a:ln>
                <a:solidFill>
                  <a:srgbClr val="002060"/>
                </a:solidFill>
                <a:latin typeface="Pretendard SemiBold"/>
                <a:ea typeface="Pretendard SemiBold"/>
                <a:cs typeface="Pretendard SemiBold"/>
              </a:rPr>
              <a:t>년 </a:t>
            </a:r>
            <a:r>
              <a:rPr sz="3263" b="1" i="0" u="none" cap="none" spc="0">
                <a:ln>
                  <a:noFill/>
                </a:ln>
                <a:solidFill>
                  <a:srgbClr val="002060"/>
                </a:solidFill>
                <a:latin typeface="Pretendard SemiBold"/>
                <a:ea typeface="Pretendard SemiBold"/>
                <a:cs typeface="Pretendard SemiBold"/>
              </a:rPr>
              <a:t>포스코퓨처엠</a:t>
            </a:r>
            <a:r>
              <a:rPr sz="3263" b="1" i="0" u="none" cap="none" spc="0">
                <a:ln>
                  <a:noFill/>
                </a:ln>
                <a:solidFill>
                  <a:srgbClr val="002060"/>
                </a:solidFill>
                <a:latin typeface="Pretendard SemiBold"/>
                <a:ea typeface="Pretendard SemiBold"/>
                <a:cs typeface="Pretendard SemiBold"/>
              </a:rPr>
              <a:t> </a:t>
            </a:r>
            <a:r>
              <a:rPr sz="3263" b="1" i="0" u="none" cap="none" spc="0">
                <a:ln>
                  <a:noFill/>
                </a:ln>
                <a:solidFill>
                  <a:srgbClr val="002060"/>
                </a:solidFill>
                <a:latin typeface="Pretendard SemiBold"/>
                <a:ea typeface="Pretendard SemiBold"/>
                <a:cs typeface="Pretendard SemiBold"/>
              </a:rPr>
              <a:t>AI활용전문가</a:t>
            </a:r>
            <a:r>
              <a:rPr sz="3263" b="1" i="0" u="none" cap="none" spc="0">
                <a:ln>
                  <a:noFill/>
                </a:ln>
                <a:solidFill>
                  <a:srgbClr val="002060"/>
                </a:solidFill>
                <a:latin typeface="Pretendard SemiBold"/>
                <a:ea typeface="Pretendard SemiBold"/>
                <a:cs typeface="Pretendard SemiBold"/>
              </a:rPr>
              <a:t> </a:t>
            </a:r>
            <a:r>
              <a:rPr sz="3263" b="1" i="0" u="none" cap="none" spc="0">
                <a:ln>
                  <a:noFill/>
                </a:ln>
                <a:solidFill>
                  <a:srgbClr val="002060"/>
                </a:solidFill>
                <a:latin typeface="Pretendard SemiBold"/>
                <a:ea typeface="Pretendard SemiBold"/>
                <a:cs typeface="Pretendard SemiBold"/>
              </a:rPr>
              <a:t>과정</a:t>
            </a:r>
            <a:endParaRPr sz="3263" b="0" i="0" u="none" kern="1200" cap="none" spc="0" baseline="0">
              <a:ln>
                <a:noFill/>
              </a:ln>
              <a:solidFill>
                <a:srgbClr val="002060"/>
              </a:solidFill>
              <a:latin typeface="Calibri"/>
              <a:ea typeface="Calibri"/>
              <a:cs typeface="Calibri"/>
            </a:endParaRPr>
          </a:p>
        </p:txBody>
      </p:sp>
    </p:spTree>
  </p:cSld>
</p:sldLayout>
</file>

<file path=ppt/slideLayouts/slideLayout4.xml><?xml version="1.0" encoding="utf-8"?>
<p:sldLayout xmlns:p="http://schemas.openxmlformats.org/presentationml/2006/main" preserve="1" userDrawn="1">
  <p:cSld name="5_제목만">
    <p:bg>
      <p:bgPr>
        <a:solidFill xmlns:a="http://schemas.openxmlformats.org/drawingml/2006/main">
          <a:srgbClr val="F7F9F8"/>
        </a:solidFill>
      </p:bgPr>
    </p:bg>
    <p:spTree>
      <p:nvGrpSpPr>
        <p:cNvPr id="1" name=""/>
        <p:cNvGrpSpPr/>
        <p:nvPr/>
      </p:nvGrpSpPr>
      <p:grpSpPr>
        <a:xfrm xmlns:a="http://schemas.openxmlformats.org/drawingml/2006/main"/>
      </p:grpSpPr>
      <p:sp>
        <p:nvSpPr>
          <p:cNvPr id="2" name="제목 1">
            <a:extLst xmlns:a="http://schemas.openxmlformats.org/drawingml/2006/main">
              <a:ext uri="{FF2B5EF4-FFF2-40B4-BE49-F238E27FC236}">
                <a16:creationId xmlns:a16="http://schemas.microsoft.com/office/drawing/2014/main" id="{C3C1CEDB-44A2-0B7C-2AAA-F392BAB2F44A}"/>
              </a:ext>
            </a:extLst>
          </p:cNvPr>
          <p:cNvSpPr>
            <a:spLocks xmlns:a="http://schemas.openxmlformats.org/drawingml/2006/main" noGrp="1"/>
          </p:cNvSpPr>
          <p:nvPr>
            <p:ph type="title" idx="0"/>
          </p:nvPr>
        </p:nvSpPr>
        <p:spPr>
          <a:xfrm xmlns:a="http://schemas.openxmlformats.org/drawingml/2006/main">
            <a:off x="2532888" y="2295144"/>
            <a:ext cx="19726035" cy="1088136"/>
          </a:xfrm>
        </p:spPr>
        <p:txBody>
          <a:bodyPr xmlns:a="http://schemas.openxmlformats.org/drawingml/2006/main">
            <a:normAutofit/>
          </a:bodyPr>
          <a:lstStyle xmlns:a="http://schemas.openxmlformats.org/drawingml/2006/main">
            <a:lvl1pPr>
              <a:buNone/>
              <a:defRPr sz="5600" kern="1200">
                <a:solidFill>
                  <a:schemeClr val="tx1"/>
                </a:solidFill>
                <a:latin typeface="프리젠테이션 8 ExtraBold"/>
                <a:ea typeface="프리젠테이션 8 ExtraBold"/>
                <a:cs typeface="프리젠테이션 8 ExtraBold"/>
              </a:defRPr>
            </a:lvl1pPr>
          </a:lstStyle>
          <a:p xmlns:a="http://schemas.openxmlformats.org/drawingml/2006/main">
            <a:r>
              <a:t>마스터 제목 스타일 편집</a:t>
            </a:r>
          </a:p>
        </p:txBody>
      </p:sp>
      <p:sp>
        <p:nvSpPr>
          <p:cNvPr id="3" name="날짜 개체 틀 2">
            <a:extLst xmlns:a="http://schemas.openxmlformats.org/drawingml/2006/main">
              <a:ext uri="{FF2B5EF4-FFF2-40B4-BE49-F238E27FC236}">
                <a16:creationId xmlns:a16="http://schemas.microsoft.com/office/drawing/2014/main" id="{C4175252-30FA-33F4-E0C6-51AF65B82B2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72FA985-9A27-4AB2-8BC6-397BDDF1AFF1}" type="datetimeFigureOut">
              <a:t>2026-09-11</a:t>
            </a:fld>
            <a:endParaRPr/>
          </a:p>
        </p:txBody>
      </p:sp>
      <p:sp>
        <p:nvSpPr>
          <p:cNvPr id="4" name="바닥글 개체 틀 3">
            <a:extLst xmlns:a="http://schemas.openxmlformats.org/drawingml/2006/main">
              <a:ext uri="{FF2B5EF4-FFF2-40B4-BE49-F238E27FC236}">
                <a16:creationId xmlns:a16="http://schemas.microsoft.com/office/drawing/2014/main" id="{FC20A81B-A49E-49B4-A203-B6F405414A0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슬라이드 번호 개체 틀 4">
            <a:extLst xmlns:a="http://schemas.openxmlformats.org/drawingml/2006/main">
              <a:ext uri="{FF2B5EF4-FFF2-40B4-BE49-F238E27FC236}">
                <a16:creationId xmlns:a16="http://schemas.microsoft.com/office/drawing/2014/main" id="{087BCF0C-EDFA-CF43-CA43-94ED70F9D46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sz="1800">
                <a:latin typeface="프리젠테이션 4 Regular"/>
                <a:ea typeface="프리젠테이션 4 Regular"/>
                <a:cs typeface="프리젠테이션 4 Regular"/>
              </a:defRPr>
            </a:lvl1pPr>
          </a:lstStyle>
          <a:p xmlns:a="http://schemas.openxmlformats.org/drawingml/2006/main">
            <a:fld id="{7C3C6D6B-447B-4518-AB4A-57FC072EBF5B}" type="slidenum">
              <a:t>‹#›</a:t>
            </a:fld>
            <a:endParaRPr/>
          </a:p>
        </p:txBody>
      </p:sp>
      <p:sp>
        <p:nvSpPr>
          <p:cNvPr id="10" name="내용 개체 틀 9">
            <a:extLst xmlns:a="http://schemas.openxmlformats.org/drawingml/2006/main">
              <a:ext uri="{FF2B5EF4-FFF2-40B4-BE49-F238E27FC236}">
                <a16:creationId xmlns:a16="http://schemas.microsoft.com/office/drawing/2014/main" id="{CA32BC59-A64A-79E8-35F1-D54BD4F9F2EF}"/>
              </a:ext>
            </a:extLst>
          </p:cNvPr>
          <p:cNvSpPr>
            <a:spLocks xmlns:a="http://schemas.openxmlformats.org/drawingml/2006/main" noGrp="1"/>
          </p:cNvSpPr>
          <p:nvPr>
            <p:ph idx="13" hasCustomPrompt="1"/>
          </p:nvPr>
        </p:nvSpPr>
        <p:spPr>
          <a:xfrm xmlns:a="http://schemas.openxmlformats.org/drawingml/2006/main">
            <a:off x="2532887" y="3638842"/>
            <a:ext cx="19726035" cy="8370278"/>
          </a:xfrm>
        </p:spPr>
        <p:txBody>
          <a:bodyPr xmlns:a="http://schemas.openxmlformats.org/drawingml/2006/main">
            <a:normAutofit/>
          </a:bodyPr>
          <a:lstStyle xmlns:a="http://schemas.openxmlformats.org/drawingml/2006/main">
            <a:lvl1pPr marL="0" indent="0">
              <a:lnSpc>
                <a:spcPct val="114000"/>
              </a:lnSpc>
              <a:buNone/>
              <a:defRPr sz="4400" b="0" i="0">
                <a:latin typeface="Pretendard Medium"/>
                <a:ea typeface="Pretendard Medium"/>
                <a:cs typeface="Pretendard Medium"/>
              </a:defRPr>
            </a:lvl1pPr>
          </a:lstStyle>
          <a:p xmlns:a="http://schemas.openxmlformats.org/drawingml/2006/main">
            <a:pPr lvl="0">
              <a:buNone/>
            </a:pPr>
            <a:r>
              <a:t>마스터 텍스트 스타일을 편집하려면 클릭</a:t>
            </a:r>
          </a:p>
        </p:txBody>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0261d1e2cde649f8"/>
          <a:stretch xmlns:a="http://schemas.openxmlformats.org/drawingml/2006/main">
            <a:fillRect l="0" t="0" r="0" b="0"/>
          </a:stretch>
        </p:blipFill>
        <p:spPr>
          <a:xfrm xmlns:a="http://schemas.openxmlformats.org/drawingml/2006/main">
            <a:off x="1562295" y="2447925"/>
            <a:ext cx="685886" cy="787400"/>
          </a:xfrm>
          <a:prstGeom xmlns:a="http://schemas.openxmlformats.org/drawingml/2006/main" prst="rect">
            <a:avLst/>
          </a:prstGeom>
        </p:spPr>
      </p:pic>
      <p:sp>
        <p:nvSpPr>
          <p:cNvPr id="7" name="Text 1">
            <a:extLst xmlns:a="http://schemas.openxmlformats.org/drawingml/2006/main">
              <a:ext uri="{FF2B5EF4-FFF2-40B4-BE49-F238E27FC236}">
                <a16:creationId xmlns:a16="http://schemas.microsoft.com/office/drawing/2014/main" id="{333B01CC-6EAE-CEF5-27E9-C86B159DBD09}"/>
              </a:ext>
            </a:extLst>
          </p:cNvPr>
          <p:cNvSpPr>
            <a:spLocks xmlns:a="http://schemas.openxmlformats.org/drawingml/2006/main" noGrp="1"/>
          </p:cNvSpPr>
          <p:nvPr/>
        </p:nvSpPr>
        <p:spPr>
          <a:xfrm xmlns:a="http://schemas.openxmlformats.org/drawingml/2006/main">
            <a:off x="939916" y="635000"/>
            <a:ext cx="7481070" cy="7302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marR="0" lvl="0" indent="0" algn="l" defTabSz="914400">
              <a:lnSpc>
                <a:spcPts val="4242"/>
              </a:lnSpc>
              <a:spcBef>
                <a:spcPts val="0"/>
              </a:spcBef>
              <a:spcAft>
                <a:spcPts val="0"/>
              </a:spcAft>
              <a:buClrTx/>
              <a:buSzTx/>
              <a:buFontTx/>
              <a:buNone/>
            </a:pPr>
            <a:r>
              <a:rPr sz="3263" b="1" i="0" u="none" cap="none" spc="0">
                <a:ln>
                  <a:noFill/>
                </a:ln>
                <a:solidFill>
                  <a:srgbClr val="002060"/>
                </a:solidFill>
                <a:latin typeface="Pretendard SemiBold"/>
                <a:ea typeface="Pretendard SemiBold"/>
                <a:cs typeface="Pretendard SemiBold"/>
              </a:rPr>
              <a:t>26</a:t>
            </a:r>
            <a:r>
              <a:rPr sz="3263" b="1" i="0" u="none" cap="none" spc="0">
                <a:ln>
                  <a:noFill/>
                </a:ln>
                <a:solidFill>
                  <a:srgbClr val="002060"/>
                </a:solidFill>
                <a:latin typeface="Pretendard SemiBold"/>
                <a:ea typeface="Pretendard SemiBold"/>
                <a:cs typeface="Pretendard SemiBold"/>
              </a:rPr>
              <a:t>년 </a:t>
            </a:r>
            <a:r>
              <a:rPr sz="3263" b="1" i="0" u="none" cap="none" spc="0">
                <a:ln>
                  <a:noFill/>
                </a:ln>
                <a:solidFill>
                  <a:srgbClr val="002060"/>
                </a:solidFill>
                <a:latin typeface="Pretendard SemiBold"/>
                <a:ea typeface="Pretendard SemiBold"/>
                <a:cs typeface="Pretendard SemiBold"/>
              </a:rPr>
              <a:t>포스코퓨처엠</a:t>
            </a:r>
            <a:r>
              <a:rPr sz="3263" b="1" i="0" u="none" cap="none" spc="0">
                <a:ln>
                  <a:noFill/>
                </a:ln>
                <a:solidFill>
                  <a:srgbClr val="002060"/>
                </a:solidFill>
                <a:latin typeface="Pretendard SemiBold"/>
                <a:ea typeface="Pretendard SemiBold"/>
                <a:cs typeface="Pretendard SemiBold"/>
              </a:rPr>
              <a:t> </a:t>
            </a:r>
            <a:r>
              <a:rPr sz="3263" b="1" i="0" u="none" cap="none" spc="0">
                <a:ln>
                  <a:noFill/>
                </a:ln>
                <a:solidFill>
                  <a:srgbClr val="002060"/>
                </a:solidFill>
                <a:latin typeface="Pretendard SemiBold"/>
                <a:ea typeface="Pretendard SemiBold"/>
                <a:cs typeface="Pretendard SemiBold"/>
              </a:rPr>
              <a:t>AI활용전문가</a:t>
            </a:r>
            <a:r>
              <a:rPr sz="3263" b="1" i="0" u="none" cap="none" spc="0">
                <a:ln>
                  <a:noFill/>
                </a:ln>
                <a:solidFill>
                  <a:srgbClr val="002060"/>
                </a:solidFill>
                <a:latin typeface="Pretendard SemiBold"/>
                <a:ea typeface="Pretendard SemiBold"/>
                <a:cs typeface="Pretendard SemiBold"/>
              </a:rPr>
              <a:t> </a:t>
            </a:r>
            <a:r>
              <a:rPr sz="3263" b="1" i="0" u="none" cap="none" spc="0">
                <a:ln>
                  <a:noFill/>
                </a:ln>
                <a:solidFill>
                  <a:srgbClr val="002060"/>
                </a:solidFill>
                <a:latin typeface="Pretendard SemiBold"/>
                <a:ea typeface="Pretendard SemiBold"/>
                <a:cs typeface="Pretendard SemiBold"/>
              </a:rPr>
              <a:t>과정</a:t>
            </a:r>
            <a:endParaRPr sz="3263" b="0" i="0" u="none" kern="1200" cap="none" spc="0" baseline="0">
              <a:ln>
                <a:noFill/>
              </a:ln>
              <a:solidFill>
                <a:srgbClr val="002060"/>
              </a:solidFill>
              <a:latin typeface="Calibri"/>
              <a:ea typeface="Calibri"/>
              <a:cs typeface="Calibri"/>
            </a:endParaRPr>
          </a:p>
        </p:txBody>
      </p:sp>
    </p:spTree>
  </p:cSld>
</p:sldLayout>
</file>

<file path=ppt/slideLayouts/slideLayout5.xml><?xml version="1.0" encoding="utf-8"?>
<p:sldLayout xmlns:p="http://schemas.openxmlformats.org/presentationml/2006/main" preserve="1" userDrawn="1">
  <p:cSld name="7_제목만">
    <p:bg>
      <p:bgPr>
        <a:solidFill xmlns:a="http://schemas.openxmlformats.org/drawingml/2006/main">
          <a:srgbClr val="F7F9F8"/>
        </a:solidFill>
      </p:bgPr>
    </p:bg>
    <p:spTree>
      <p:nvGrpSpPr>
        <p:cNvPr id="1" name=""/>
        <p:cNvGrpSpPr/>
        <p:nvPr/>
      </p:nvGrpSpPr>
      <p:grpSpPr>
        <a:xfrm xmlns:a="http://schemas.openxmlformats.org/drawingml/2006/main"/>
      </p:grpSpPr>
      <p:sp>
        <p:nvSpPr>
          <p:cNvPr id="2" name="제목 1">
            <a:extLst xmlns:a="http://schemas.openxmlformats.org/drawingml/2006/main">
              <a:ext uri="{FF2B5EF4-FFF2-40B4-BE49-F238E27FC236}">
                <a16:creationId xmlns:a16="http://schemas.microsoft.com/office/drawing/2014/main" id="{C3C1CEDB-44A2-0B7C-2AAA-F392BAB2F44A}"/>
              </a:ext>
            </a:extLst>
          </p:cNvPr>
          <p:cNvSpPr>
            <a:spLocks xmlns:a="http://schemas.openxmlformats.org/drawingml/2006/main" noGrp="1"/>
          </p:cNvSpPr>
          <p:nvPr>
            <p:ph type="title" idx="0"/>
          </p:nvPr>
        </p:nvSpPr>
        <p:spPr>
          <a:xfrm xmlns:a="http://schemas.openxmlformats.org/drawingml/2006/main">
            <a:off x="1562295" y="4376702"/>
            <a:ext cx="6516493" cy="1088136"/>
          </a:xfrm>
        </p:spPr>
        <p:txBody>
          <a:bodyPr xmlns:a="http://schemas.openxmlformats.org/drawingml/2006/main">
            <a:normAutofit/>
          </a:bodyPr>
          <a:lstStyle xmlns:a="http://schemas.openxmlformats.org/drawingml/2006/main">
            <a:lvl1pPr>
              <a:buNone/>
              <a:defRPr sz="5600" kern="1200">
                <a:solidFill>
                  <a:schemeClr val="tx1"/>
                </a:solidFill>
                <a:latin typeface="프리젠테이션 8 ExtraBold"/>
                <a:ea typeface="프리젠테이션 8 ExtraBold"/>
                <a:cs typeface="프리젠테이션 8 ExtraBold"/>
              </a:defRPr>
            </a:lvl1pPr>
          </a:lstStyle>
          <a:p xmlns:a="http://schemas.openxmlformats.org/drawingml/2006/main">
            <a:r>
              <a:t>마스터 제목 스타일 편집</a:t>
            </a:r>
          </a:p>
        </p:txBody>
      </p:sp>
      <p:sp>
        <p:nvSpPr>
          <p:cNvPr id="3" name="날짜 개체 틀 2">
            <a:extLst xmlns:a="http://schemas.openxmlformats.org/drawingml/2006/main">
              <a:ext uri="{FF2B5EF4-FFF2-40B4-BE49-F238E27FC236}">
                <a16:creationId xmlns:a16="http://schemas.microsoft.com/office/drawing/2014/main" id="{C4175252-30FA-33F4-E0C6-51AF65B82B2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72FA985-9A27-4AB2-8BC6-397BDDF1AFF1}" type="datetimeFigureOut">
              <a:t>2026-09-11</a:t>
            </a:fld>
            <a:endParaRPr/>
          </a:p>
        </p:txBody>
      </p:sp>
      <p:sp>
        <p:nvSpPr>
          <p:cNvPr id="4" name="바닥글 개체 틀 3">
            <a:extLst xmlns:a="http://schemas.openxmlformats.org/drawingml/2006/main">
              <a:ext uri="{FF2B5EF4-FFF2-40B4-BE49-F238E27FC236}">
                <a16:creationId xmlns:a16="http://schemas.microsoft.com/office/drawing/2014/main" id="{FC20A81B-A49E-49B4-A203-B6F405414A0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슬라이드 번호 개체 틀 4">
            <a:extLst xmlns:a="http://schemas.openxmlformats.org/drawingml/2006/main">
              <a:ext uri="{FF2B5EF4-FFF2-40B4-BE49-F238E27FC236}">
                <a16:creationId xmlns:a16="http://schemas.microsoft.com/office/drawing/2014/main" id="{087BCF0C-EDFA-CF43-CA43-94ED70F9D46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sz="1800">
                <a:latin typeface="프리젠테이션 4 Regular"/>
                <a:ea typeface="프리젠테이션 4 Regular"/>
                <a:cs typeface="프리젠테이션 4 Regular"/>
              </a:defRPr>
            </a:lvl1pPr>
          </a:lstStyle>
          <a:p xmlns:a="http://schemas.openxmlformats.org/drawingml/2006/main">
            <a:fld id="{7C3C6D6B-447B-4518-AB4A-57FC072EBF5B}" type="slidenum">
              <a:t>‹#›</a:t>
            </a:fld>
            <a:endParaRPr/>
          </a:p>
        </p:txBody>
      </p:sp>
      <p:sp>
        <p:nvSpPr>
          <p:cNvPr id="10" name="내용 개체 틀 9">
            <a:extLst xmlns:a="http://schemas.openxmlformats.org/drawingml/2006/main">
              <a:ext uri="{FF2B5EF4-FFF2-40B4-BE49-F238E27FC236}">
                <a16:creationId xmlns:a16="http://schemas.microsoft.com/office/drawing/2014/main" id="{CA32BC59-A64A-79E8-35F1-D54BD4F9F2EF}"/>
              </a:ext>
            </a:extLst>
          </p:cNvPr>
          <p:cNvSpPr>
            <a:spLocks xmlns:a="http://schemas.openxmlformats.org/drawingml/2006/main" noGrp="1"/>
          </p:cNvSpPr>
          <p:nvPr>
            <p:ph idx="13"/>
          </p:nvPr>
        </p:nvSpPr>
        <p:spPr>
          <a:xfrm xmlns:a="http://schemas.openxmlformats.org/drawingml/2006/main">
            <a:off x="1562295" y="5720400"/>
            <a:ext cx="6516493" cy="914400"/>
          </a:xfrm>
        </p:spPr>
        <p:txBody>
          <a:bodyPr xmlns:a="http://schemas.openxmlformats.org/drawingml/2006/main">
            <a:normAutofit/>
          </a:bodyPr>
          <a:lstStyle xmlns:a="http://schemas.openxmlformats.org/drawingml/2006/main">
            <a:lvl1pPr marL="0" indent="0">
              <a:buNone/>
              <a:defRPr sz="3200">
                <a:latin typeface="프리젠테이션 4 Regular"/>
                <a:ea typeface="프리젠테이션 4 Regular"/>
                <a:cs typeface="프리젠테이션 4 Regular"/>
              </a:defRPr>
            </a:lvl1pPr>
          </a:lstStyle>
          <a:p xmlns:a="http://schemas.openxmlformats.org/drawingml/2006/main">
            <a:pPr lvl="0">
              <a:buNone/>
            </a:pPr>
            <a:r>
              <a:t>마스터 텍스트 스타일을 편집하려면 클릭</a:t>
            </a:r>
          </a:p>
        </p:txBody>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c9faa885d22f4df9"/>
          <a:stretch xmlns:a="http://schemas.openxmlformats.org/drawingml/2006/main">
            <a:fillRect l="0" t="0" r="0" b="0"/>
          </a:stretch>
        </p:blipFill>
        <p:spPr>
          <a:xfrm xmlns:a="http://schemas.openxmlformats.org/drawingml/2006/main">
            <a:off x="1562295" y="2447925"/>
            <a:ext cx="685886" cy="787400"/>
          </a:xfrm>
          <a:prstGeom xmlns:a="http://schemas.openxmlformats.org/drawingml/2006/main" prst="rect">
            <a:avLst/>
          </a:prstGeom>
        </p:spPr>
      </p:pic>
      <p:sp>
        <p:nvSpPr>
          <p:cNvPr id="7" name="Text 1">
            <a:extLst xmlns:a="http://schemas.openxmlformats.org/drawingml/2006/main">
              <a:ext uri="{FF2B5EF4-FFF2-40B4-BE49-F238E27FC236}">
                <a16:creationId xmlns:a16="http://schemas.microsoft.com/office/drawing/2014/main" id="{1F2612CC-EC80-CF30-06E6-0590192A55D4}"/>
              </a:ext>
            </a:extLst>
          </p:cNvPr>
          <p:cNvSpPr>
            <a:spLocks xmlns:a="http://schemas.openxmlformats.org/drawingml/2006/main" noGrp="1"/>
          </p:cNvSpPr>
          <p:nvPr/>
        </p:nvSpPr>
        <p:spPr>
          <a:xfrm xmlns:a="http://schemas.openxmlformats.org/drawingml/2006/main">
            <a:off x="939916" y="635000"/>
            <a:ext cx="7481070" cy="7302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marR="0" lvl="0" indent="0" algn="l" defTabSz="914400">
              <a:lnSpc>
                <a:spcPts val="4242"/>
              </a:lnSpc>
              <a:spcBef>
                <a:spcPts val="0"/>
              </a:spcBef>
              <a:spcAft>
                <a:spcPts val="0"/>
              </a:spcAft>
              <a:buClrTx/>
              <a:buSzTx/>
              <a:buFontTx/>
              <a:buNone/>
            </a:pPr>
            <a:r>
              <a:rPr sz="3263" b="1" i="0" u="none" cap="none" spc="0">
                <a:ln>
                  <a:noFill/>
                </a:ln>
                <a:solidFill>
                  <a:srgbClr val="002060"/>
                </a:solidFill>
                <a:latin typeface="Pretendard SemiBold"/>
                <a:ea typeface="Pretendard SemiBold"/>
                <a:cs typeface="Pretendard SemiBold"/>
              </a:rPr>
              <a:t>26</a:t>
            </a:r>
            <a:r>
              <a:rPr sz="3263" b="1" i="0" u="none" cap="none" spc="0">
                <a:ln>
                  <a:noFill/>
                </a:ln>
                <a:solidFill>
                  <a:srgbClr val="002060"/>
                </a:solidFill>
                <a:latin typeface="Pretendard SemiBold"/>
                <a:ea typeface="Pretendard SemiBold"/>
                <a:cs typeface="Pretendard SemiBold"/>
              </a:rPr>
              <a:t>년 </a:t>
            </a:r>
            <a:r>
              <a:rPr sz="3263" b="1" i="0" u="none" cap="none" spc="0">
                <a:ln>
                  <a:noFill/>
                </a:ln>
                <a:solidFill>
                  <a:srgbClr val="002060"/>
                </a:solidFill>
                <a:latin typeface="Pretendard SemiBold"/>
                <a:ea typeface="Pretendard SemiBold"/>
                <a:cs typeface="Pretendard SemiBold"/>
              </a:rPr>
              <a:t>포스코퓨처엠</a:t>
            </a:r>
            <a:r>
              <a:rPr sz="3263" b="1" i="0" u="none" cap="none" spc="0">
                <a:ln>
                  <a:noFill/>
                </a:ln>
                <a:solidFill>
                  <a:srgbClr val="002060"/>
                </a:solidFill>
                <a:latin typeface="Pretendard SemiBold"/>
                <a:ea typeface="Pretendard SemiBold"/>
                <a:cs typeface="Pretendard SemiBold"/>
              </a:rPr>
              <a:t> </a:t>
            </a:r>
            <a:r>
              <a:rPr sz="3263" b="1" i="0" u="none" cap="none" spc="0">
                <a:ln>
                  <a:noFill/>
                </a:ln>
                <a:solidFill>
                  <a:srgbClr val="002060"/>
                </a:solidFill>
                <a:latin typeface="Pretendard SemiBold"/>
                <a:ea typeface="Pretendard SemiBold"/>
                <a:cs typeface="Pretendard SemiBold"/>
              </a:rPr>
              <a:t>AI활용전문가</a:t>
            </a:r>
            <a:r>
              <a:rPr sz="3263" b="1" i="0" u="none" cap="none" spc="0">
                <a:ln>
                  <a:noFill/>
                </a:ln>
                <a:solidFill>
                  <a:srgbClr val="002060"/>
                </a:solidFill>
                <a:latin typeface="Pretendard SemiBold"/>
                <a:ea typeface="Pretendard SemiBold"/>
                <a:cs typeface="Pretendard SemiBold"/>
              </a:rPr>
              <a:t> </a:t>
            </a:r>
            <a:r>
              <a:rPr sz="3263" b="1" i="0" u="none" cap="none" spc="0">
                <a:ln>
                  <a:noFill/>
                </a:ln>
                <a:solidFill>
                  <a:srgbClr val="002060"/>
                </a:solidFill>
                <a:latin typeface="Pretendard SemiBold"/>
                <a:ea typeface="Pretendard SemiBold"/>
                <a:cs typeface="Pretendard SemiBold"/>
              </a:rPr>
              <a:t>과정</a:t>
            </a:r>
            <a:endParaRPr sz="3263" b="0" i="0" u="none" kern="1200" cap="none" spc="0" baseline="0">
              <a:ln>
                <a:noFill/>
              </a:ln>
              <a:solidFill>
                <a:srgbClr val="002060"/>
              </a:solidFill>
              <a:latin typeface="Calibri"/>
              <a:ea typeface="Calibri"/>
              <a:cs typeface="Calibri"/>
            </a:endParaRPr>
          </a:p>
        </p:txBody>
      </p:sp>
    </p:spTree>
  </p:cSld>
</p:sldLayout>
</file>

<file path=ppt/slideLayouts/slideLayout6.xml><?xml version="1.0" encoding="utf-8"?>
<p:sldLayout xmlns:p="http://schemas.openxmlformats.org/presentationml/2006/main" preserve="1" userDrawn="1">
  <p:cSld name="빈 화면">
    <p:bg>
      <p:bgPr>
        <a:blipFill xmlns:a="http://schemas.openxmlformats.org/drawingml/2006/main" rotWithShape="1">
          <a:blip xmlns:r="http://schemas.openxmlformats.org/officeDocument/2006/relationships" r:embed="Rc3145c118558472c">
            <a:lum/>
          </a:blip>
          <a:srcRect l="0" t="0" r="0" b="0"/>
          <a:stretch>
            <a:fillRect l="0" t="0" r="0" b="0"/>
          </a:stretch>
        </a:blipFill>
      </p:bgPr>
    </p:bg>
    <p:spTree>
      <p:nvGrpSpPr>
        <p:cNvPr id="1" name=""/>
        <p:cNvGrpSpPr/>
        <p:nvPr/>
      </p:nvGrpSpPr>
      <p:grpSpPr>
        <a:xfrm xmlns:a="http://schemas.openxmlformats.org/drawingml/2006/main"/>
      </p:grpSpPr>
      <p:sp>
        <p:nvSpPr>
          <p:cNvPr id="2" name="날짜 개체 틀 1">
            <a:extLst xmlns:a="http://schemas.openxmlformats.org/drawingml/2006/main">
              <a:ext uri="{FF2B5EF4-FFF2-40B4-BE49-F238E27FC236}">
                <a16:creationId xmlns:a16="http://schemas.microsoft.com/office/drawing/2014/main" id="{D61D524B-0985-11CA-E542-D8E067986E9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72FA985-9A27-4AB2-8BC6-397BDDF1AFF1}" type="datetimeFigureOut">
              <a:t>2026-09-11</a:t>
            </a:fld>
            <a:endParaRPr/>
          </a:p>
        </p:txBody>
      </p:sp>
      <p:sp>
        <p:nvSpPr>
          <p:cNvPr id="3" name="바닥글 개체 틀 2">
            <a:extLst xmlns:a="http://schemas.openxmlformats.org/drawingml/2006/main">
              <a:ext uri="{FF2B5EF4-FFF2-40B4-BE49-F238E27FC236}">
                <a16:creationId xmlns:a16="http://schemas.microsoft.com/office/drawing/2014/main" id="{017E00CF-EAD8-548E-FC60-9163AAA02BA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슬라이드 번호 개체 틀 3">
            <a:extLst xmlns:a="http://schemas.openxmlformats.org/drawingml/2006/main">
              <a:ext uri="{FF2B5EF4-FFF2-40B4-BE49-F238E27FC236}">
                <a16:creationId xmlns:a16="http://schemas.microsoft.com/office/drawing/2014/main" id="{D99EBAC0-0DAE-6D68-8B86-ADB660A76D0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C3C6D6B-447B-4518-AB4A-57FC072EBF5B}" type="slidenum">
              <a:t>‹#›</a:t>
            </a:fld>
            <a:endParaRPr/>
          </a:p>
        </p:txBody>
      </p:sp>
      <p:sp>
        <p:nvSpPr>
          <p:cNvPr id="7" name="제목 6">
            <a:extLst xmlns:a="http://schemas.openxmlformats.org/drawingml/2006/main">
              <a:ext uri="{FF2B5EF4-FFF2-40B4-BE49-F238E27FC236}">
                <a16:creationId xmlns:a16="http://schemas.microsoft.com/office/drawing/2014/main" id="{558DE616-1B19-9155-9132-63560B03B6FC}"/>
              </a:ext>
            </a:extLst>
          </p:cNvPr>
          <p:cNvSpPr>
            <a:spLocks xmlns:a="http://schemas.openxmlformats.org/drawingml/2006/main" noGrp="1"/>
          </p:cNvSpPr>
          <p:nvPr>
            <p:ph type="title" idx="0"/>
          </p:nvPr>
        </p:nvSpPr>
        <p:spPr>
          <a:xfrm xmlns:a="http://schemas.openxmlformats.org/drawingml/2006/main">
            <a:off x="1676400" y="5532437"/>
            <a:ext cx="21034375" cy="2651125"/>
          </a:xfrm>
        </p:spPr>
        <p:txBody>
          <a:bodyPr xmlns:a="http://schemas.openxmlformats.org/drawingml/2006/main">
            <a:normAutofit/>
          </a:bodyPr>
          <a:lstStyle xmlns:a="http://schemas.openxmlformats.org/drawingml/2006/main">
            <a:lvl1pPr algn="ctr">
              <a:buNone/>
              <a:defRPr sz="8800">
                <a:effectLst>
                  <a:outerShdw blurRad="38100" dist="38100" dir="2700000" algn="tl">
                    <a:srgbClr val="000000">
                      <a:alpha val="43137"/>
                    </a:srgbClr>
                  </a:outerShdw>
                </a:effectLst>
                <a:latin typeface="프리젠테이션 8 ExtraBold"/>
                <a:ea typeface="프리젠테이션 8 ExtraBold"/>
                <a:cs typeface="프리젠테이션 8 ExtraBold"/>
              </a:defRPr>
            </a:lvl1pPr>
          </a:lstStyle>
          <a:p xmlns:a="http://schemas.openxmlformats.org/drawingml/2006/main">
            <a:r>
              <a:t>마스터 제목 스타일 편집</a:t>
            </a:r>
          </a:p>
        </p:txBody>
      </p:sp>
    </p:spTree>
  </p:cSld>
</p:sldLayout>
</file>

<file path=ppt/slideLayouts/slideLayout7.xml><?xml version="1.0" encoding="utf-8"?>
<p:sldLayout xmlns:p="http://schemas.openxmlformats.org/presentationml/2006/main" userDrawn="1">
  <p:cSld name="4_제목만">
    <p:bg>
      <p:bgPr>
        <a:solidFill xmlns:a="http://schemas.openxmlformats.org/drawingml/2006/main">
          <a:srgbClr val="F7F9F8"/>
        </a:solidFill>
      </p:bgPr>
    </p:bg>
    <p:spTree>
      <p:nvGrpSpPr>
        <p:cNvPr id="1" name=""/>
        <p:cNvGrpSpPr/>
        <p:nvPr/>
      </p:nvGrpSpPr>
      <p:grpSpPr>
        <a:xfrm xmlns:a="http://schemas.openxmlformats.org/drawingml/2006/main"/>
      </p:grpSpPr>
      <p:sp>
        <p:nvSpPr>
          <p:cNvPr id="2" name="제목 1">
            <a:extLst xmlns:a="http://schemas.openxmlformats.org/drawingml/2006/main">
              <a:ext uri="{FF2B5EF4-FFF2-40B4-BE49-F238E27FC236}">
                <a16:creationId xmlns:a16="http://schemas.microsoft.com/office/drawing/2014/main" id="{C3C1CEDB-44A2-0B7C-2AAA-F392BAB2F44A}"/>
              </a:ext>
            </a:extLst>
          </p:cNvPr>
          <p:cNvSpPr>
            <a:spLocks xmlns:a="http://schemas.openxmlformats.org/drawingml/2006/main" noGrp="1"/>
          </p:cNvSpPr>
          <p:nvPr>
            <p:ph type="title" idx="0"/>
          </p:nvPr>
        </p:nvSpPr>
        <p:spPr>
          <a:xfrm xmlns:a="http://schemas.openxmlformats.org/drawingml/2006/main">
            <a:off x="2532888" y="2295144"/>
            <a:ext cx="19726035" cy="1088136"/>
          </a:xfrm>
        </p:spPr>
        <p:txBody>
          <a:bodyPr xmlns:a="http://schemas.openxmlformats.org/drawingml/2006/main">
            <a:normAutofit/>
          </a:bodyPr>
          <a:lstStyle xmlns:a="http://schemas.openxmlformats.org/drawingml/2006/main">
            <a:lvl1pPr>
              <a:buNone/>
              <a:defRPr sz="5600" kern="1200">
                <a:solidFill>
                  <a:schemeClr val="tx1"/>
                </a:solidFill>
                <a:latin typeface="프리젠테이션 8 ExtraBold"/>
                <a:ea typeface="프리젠테이션 8 ExtraBold"/>
                <a:cs typeface="프리젠테이션 8 ExtraBold"/>
              </a:defRPr>
            </a:lvl1pPr>
          </a:lstStyle>
          <a:p xmlns:a="http://schemas.openxmlformats.org/drawingml/2006/main">
            <a:r>
              <a:t>마스터 제목 스타일 편집</a:t>
            </a:r>
          </a:p>
        </p:txBody>
      </p:sp>
      <p:sp>
        <p:nvSpPr>
          <p:cNvPr id="3" name="날짜 개체 틀 2">
            <a:extLst xmlns:a="http://schemas.openxmlformats.org/drawingml/2006/main">
              <a:ext uri="{FF2B5EF4-FFF2-40B4-BE49-F238E27FC236}">
                <a16:creationId xmlns:a16="http://schemas.microsoft.com/office/drawing/2014/main" id="{C4175252-30FA-33F4-E0C6-51AF65B82B2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72FA985-9A27-4AB2-8BC6-397BDDF1AFF1}" type="datetimeFigureOut">
              <a:t>2026-09-11</a:t>
            </a:fld>
            <a:endParaRPr/>
          </a:p>
        </p:txBody>
      </p:sp>
      <p:sp>
        <p:nvSpPr>
          <p:cNvPr id="4" name="바닥글 개체 틀 3">
            <a:extLst xmlns:a="http://schemas.openxmlformats.org/drawingml/2006/main">
              <a:ext uri="{FF2B5EF4-FFF2-40B4-BE49-F238E27FC236}">
                <a16:creationId xmlns:a16="http://schemas.microsoft.com/office/drawing/2014/main" id="{FC20A81B-A49E-49B4-A203-B6F405414A0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슬라이드 번호 개체 틀 4">
            <a:extLst xmlns:a="http://schemas.openxmlformats.org/drawingml/2006/main">
              <a:ext uri="{FF2B5EF4-FFF2-40B4-BE49-F238E27FC236}">
                <a16:creationId xmlns:a16="http://schemas.microsoft.com/office/drawing/2014/main" id="{087BCF0C-EDFA-CF43-CA43-94ED70F9D46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sz="1800">
                <a:latin typeface="프리젠테이션 4 Regular"/>
                <a:ea typeface="프리젠테이션 4 Regular"/>
                <a:cs typeface="프리젠테이션 4 Regular"/>
              </a:defRPr>
            </a:lvl1pPr>
          </a:lstStyle>
          <a:p xmlns:a="http://schemas.openxmlformats.org/drawingml/2006/main">
            <a:fld id="{7C3C6D6B-447B-4518-AB4A-57FC072EBF5B}" type="slidenum">
              <a:t>‹#›</a:t>
            </a:fld>
            <a:endParaRPr/>
          </a:p>
        </p:txBody>
      </p:sp>
      <p:sp>
        <p:nvSpPr>
          <p:cNvPr id="10" name="내용 개체 틀 9">
            <a:extLst xmlns:a="http://schemas.openxmlformats.org/drawingml/2006/main">
              <a:ext uri="{FF2B5EF4-FFF2-40B4-BE49-F238E27FC236}">
                <a16:creationId xmlns:a16="http://schemas.microsoft.com/office/drawing/2014/main" id="{CA32BC59-A64A-79E8-35F1-D54BD4F9F2EF}"/>
              </a:ext>
            </a:extLst>
          </p:cNvPr>
          <p:cNvSpPr>
            <a:spLocks xmlns:a="http://schemas.openxmlformats.org/drawingml/2006/main" noGrp="1"/>
          </p:cNvSpPr>
          <p:nvPr>
            <p:ph idx="13"/>
          </p:nvPr>
        </p:nvSpPr>
        <p:spPr>
          <a:xfrm xmlns:a="http://schemas.openxmlformats.org/drawingml/2006/main">
            <a:off x="2532888" y="3461860"/>
            <a:ext cx="11574236" cy="914400"/>
          </a:xfrm>
        </p:spPr>
        <p:txBody>
          <a:bodyPr xmlns:a="http://schemas.openxmlformats.org/drawingml/2006/main">
            <a:normAutofit/>
          </a:bodyPr>
          <a:lstStyle xmlns:a="http://schemas.openxmlformats.org/drawingml/2006/main">
            <a:lvl1pPr marL="0" indent="0">
              <a:buNone/>
              <a:defRPr sz="3200">
                <a:latin typeface="프리젠테이션 4 Regular"/>
                <a:ea typeface="프리젠테이션 4 Regular"/>
                <a:cs typeface="프리젠테이션 4 Regular"/>
              </a:defRPr>
            </a:lvl1pPr>
          </a:lstStyle>
          <a:p xmlns:a="http://schemas.openxmlformats.org/drawingml/2006/main">
            <a:pPr lvl="0">
              <a:buNone/>
            </a:pPr>
            <a:r>
              <a:t>마스터 텍스트 스타일을 편집하려면 클릭</a:t>
            </a:r>
          </a:p>
        </p:txBody>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cff105926f394468">
            <a:duotone>
              <a:prstClr val="black"/>
              <a:schemeClr val="accent5">
                <a:tint val="45000"/>
                <a:satMod val="400000"/>
              </a:schemeClr>
            </a:duotone>
          </a:blip>
          <a:stretch xmlns:a="http://schemas.openxmlformats.org/drawingml/2006/main">
            <a:fillRect l="0" t="0" r="0" b="0"/>
          </a:stretch>
        </p:blipFill>
        <p:spPr>
          <a:xfrm xmlns:a="http://schemas.openxmlformats.org/drawingml/2006/main">
            <a:off x="1562295" y="2447925"/>
            <a:ext cx="685886" cy="787400"/>
          </a:xfrm>
          <a:prstGeom xmlns:a="http://schemas.openxmlformats.org/drawingml/2006/main" prst="rect">
            <a:avLst/>
          </a:prstGeom>
        </p:spPr>
      </p:pic>
      <p:sp>
        <p:nvSpPr>
          <p:cNvPr id="6" name="Text 1">
            <a:extLst xmlns:a="http://schemas.openxmlformats.org/drawingml/2006/main">
              <a:ext uri="{FF2B5EF4-FFF2-40B4-BE49-F238E27FC236}">
                <a16:creationId xmlns:a16="http://schemas.microsoft.com/office/drawing/2014/main" id="{75F4790A-F038-DD36-2D06-F0CB4C2CAD80}"/>
              </a:ext>
            </a:extLst>
          </p:cNvPr>
          <p:cNvSpPr>
            <a:spLocks xmlns:a="http://schemas.openxmlformats.org/drawingml/2006/main" noGrp="1"/>
          </p:cNvSpPr>
          <p:nvPr/>
        </p:nvSpPr>
        <p:spPr>
          <a:xfrm xmlns:a="http://schemas.openxmlformats.org/drawingml/2006/main">
            <a:off x="939916" y="635000"/>
            <a:ext cx="7481070" cy="7302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marR="0" lvl="0" indent="0" algn="l" defTabSz="914400">
              <a:lnSpc>
                <a:spcPts val="4242"/>
              </a:lnSpc>
              <a:spcBef>
                <a:spcPts val="0"/>
              </a:spcBef>
              <a:spcAft>
                <a:spcPts val="0"/>
              </a:spcAft>
              <a:buClrTx/>
              <a:buSzTx/>
              <a:buFontTx/>
              <a:buNone/>
            </a:pPr>
            <a:r>
              <a:rPr sz="3263" b="1" i="0" u="none" cap="none" spc="0">
                <a:ln>
                  <a:noFill/>
                </a:ln>
                <a:solidFill>
                  <a:srgbClr val="002060"/>
                </a:solidFill>
                <a:latin typeface="Pretendard SemiBold"/>
                <a:ea typeface="Pretendard SemiBold"/>
                <a:cs typeface="Pretendard SemiBold"/>
              </a:rPr>
              <a:t>26</a:t>
            </a:r>
            <a:r>
              <a:rPr sz="3263" b="1" i="0" u="none" cap="none" spc="0">
                <a:ln>
                  <a:noFill/>
                </a:ln>
                <a:solidFill>
                  <a:srgbClr val="002060"/>
                </a:solidFill>
                <a:latin typeface="Pretendard SemiBold"/>
                <a:ea typeface="Pretendard SemiBold"/>
                <a:cs typeface="Pretendard SemiBold"/>
              </a:rPr>
              <a:t>년 </a:t>
            </a:r>
            <a:r>
              <a:rPr sz="3263" b="1" i="0" u="none" cap="none" spc="0">
                <a:ln>
                  <a:noFill/>
                </a:ln>
                <a:solidFill>
                  <a:srgbClr val="002060"/>
                </a:solidFill>
                <a:latin typeface="Pretendard SemiBold"/>
                <a:ea typeface="Pretendard SemiBold"/>
                <a:cs typeface="Pretendard SemiBold"/>
              </a:rPr>
              <a:t>포스코퓨처엠</a:t>
            </a:r>
            <a:r>
              <a:rPr sz="3263" b="1" i="0" u="none" cap="none" spc="0">
                <a:ln>
                  <a:noFill/>
                </a:ln>
                <a:solidFill>
                  <a:srgbClr val="002060"/>
                </a:solidFill>
                <a:latin typeface="Pretendard SemiBold"/>
                <a:ea typeface="Pretendard SemiBold"/>
                <a:cs typeface="Pretendard SemiBold"/>
              </a:rPr>
              <a:t> </a:t>
            </a:r>
            <a:r>
              <a:rPr sz="3263" b="1" i="0" u="none" cap="none" spc="0">
                <a:ln>
                  <a:noFill/>
                </a:ln>
                <a:solidFill>
                  <a:srgbClr val="002060"/>
                </a:solidFill>
                <a:latin typeface="Pretendard SemiBold"/>
                <a:ea typeface="Pretendard SemiBold"/>
                <a:cs typeface="Pretendard SemiBold"/>
              </a:rPr>
              <a:t>AI활용전문가</a:t>
            </a:r>
            <a:r>
              <a:rPr sz="3263" b="1" i="0" u="none" cap="none" spc="0">
                <a:ln>
                  <a:noFill/>
                </a:ln>
                <a:solidFill>
                  <a:srgbClr val="002060"/>
                </a:solidFill>
                <a:latin typeface="Pretendard SemiBold"/>
                <a:ea typeface="Pretendard SemiBold"/>
                <a:cs typeface="Pretendard SemiBold"/>
              </a:rPr>
              <a:t> </a:t>
            </a:r>
            <a:r>
              <a:rPr sz="3263" b="1" i="0" u="none" cap="none" spc="0">
                <a:ln>
                  <a:noFill/>
                </a:ln>
                <a:solidFill>
                  <a:srgbClr val="002060"/>
                </a:solidFill>
                <a:latin typeface="Pretendard SemiBold"/>
                <a:ea typeface="Pretendard SemiBold"/>
                <a:cs typeface="Pretendard SemiBold"/>
              </a:rPr>
              <a:t>과정</a:t>
            </a:r>
            <a:endParaRPr sz="3263" b="0" i="0" u="none" kern="1200" cap="none" spc="0" baseline="0">
              <a:ln>
                <a:noFill/>
              </a:ln>
              <a:solidFill>
                <a:srgbClr val="002060"/>
              </a:solidFill>
              <a:latin typeface="Calibri"/>
              <a:ea typeface="Calibri"/>
              <a:cs typeface="Calibri"/>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1f3aeaab6d4be1" /><Relationship Type="http://schemas.openxmlformats.org/officeDocument/2006/relationships/slideLayout" Target="/ppt/slideLayouts/slideLayout1.xml" Id="R8483840f2dc54a83" /><Relationship Type="http://schemas.openxmlformats.org/officeDocument/2006/relationships/slideLayout" Target="/ppt/slideLayouts/slideLayout2.xml" Id="R47af535fa32e4b86" /><Relationship Type="http://schemas.openxmlformats.org/officeDocument/2006/relationships/slideLayout" Target="/ppt/slideLayouts/slideLayout3.xml" Id="R0f1d9de440104781" /><Relationship Type="http://schemas.openxmlformats.org/officeDocument/2006/relationships/slideLayout" Target="/ppt/slideLayouts/slideLayout4.xml" Id="R9907adee1e244768" /><Relationship Type="http://schemas.openxmlformats.org/officeDocument/2006/relationships/slideLayout" Target="/ppt/slideLayouts/slideLayout5.xml" Id="R04bc0d356e2749ae" /><Relationship Type="http://schemas.openxmlformats.org/officeDocument/2006/relationships/slideLayout" Target="/ppt/slideLayouts/slideLayout6.xml" Id="R3b1d5303f39347fe" /><Relationship Type="http://schemas.openxmlformats.org/officeDocument/2006/relationships/slideLayout" Target="/ppt/slideLayouts/slideLayout7.xml" Id="Ra7b2af02c0ec448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제목 개체 틀 1">
            <a:extLst xmlns:a="http://schemas.openxmlformats.org/drawingml/2006/main">
              <a:ext uri="{FF2B5EF4-FFF2-40B4-BE49-F238E27FC236}">
                <a16:creationId xmlns:a16="http://schemas.microsoft.com/office/drawing/2014/main" id="{C15479CA-99B7-C453-672A-D568278B2E63}"/>
              </a:ext>
            </a:extLst>
          </p:cNvPr>
          <p:cNvSpPr>
            <a:spLocks xmlns:a="http://schemas.openxmlformats.org/drawingml/2006/main" noGrp="1"/>
          </p:cNvSpPr>
          <p:nvPr>
            <p:ph type="title" idx="0"/>
          </p:nvPr>
        </p:nvSpPr>
        <p:spPr>
          <a:xfrm xmlns:a="http://schemas.openxmlformats.org/drawingml/2006/main">
            <a:off x="1676400" y="730250"/>
            <a:ext cx="21034375" cy="2651125"/>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마스터 제목 스타일 편집</a:t>
            </a:r>
          </a:p>
        </p:txBody>
      </p:sp>
      <p:sp>
        <p:nvSpPr>
          <p:cNvPr id="3" name="텍스트 개체 틀 2">
            <a:extLst xmlns:a="http://schemas.openxmlformats.org/drawingml/2006/main">
              <a:ext uri="{FF2B5EF4-FFF2-40B4-BE49-F238E27FC236}">
                <a16:creationId xmlns:a16="http://schemas.microsoft.com/office/drawing/2014/main" id="{E6AA1627-F255-3372-C8B0-6777F14D39AA}"/>
              </a:ext>
            </a:extLst>
          </p:cNvPr>
          <p:cNvSpPr>
            <a:spLocks xmlns:a="http://schemas.openxmlformats.org/drawingml/2006/main" noGrp="1"/>
          </p:cNvSpPr>
          <p:nvPr>
            <p:ph type="body" idx="1"/>
          </p:nvPr>
        </p:nvSpPr>
        <p:spPr>
          <a:xfrm xmlns:a="http://schemas.openxmlformats.org/drawingml/2006/main">
            <a:off x="1676400" y="3651250"/>
            <a:ext cx="21034375" cy="8702675"/>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마스터 텍스트 스타일을 편집하려면 클릭</a:t>
            </a:r>
          </a:p>
          <a:p xmlns:a="http://schemas.openxmlformats.org/drawingml/2006/main">
            <a:pPr lvl="1">
              <a:buNone/>
            </a:pPr>
            <a:r>
              <a:t>두 번째 수준</a:t>
            </a:r>
          </a:p>
          <a:p xmlns:a="http://schemas.openxmlformats.org/drawingml/2006/main">
            <a:pPr lvl="2">
              <a:buNone/>
            </a:pPr>
            <a:r>
              <a:t>세 번째 수준</a:t>
            </a:r>
          </a:p>
          <a:p xmlns:a="http://schemas.openxmlformats.org/drawingml/2006/main">
            <a:pPr lvl="3">
              <a:buNone/>
            </a:pPr>
            <a:r>
              <a:t>네 번째 수준</a:t>
            </a:r>
          </a:p>
          <a:p xmlns:a="http://schemas.openxmlformats.org/drawingml/2006/main">
            <a:pPr lvl="4">
              <a:buNone/>
            </a:pPr>
            <a:r>
              <a:t>다섯 번째 수준</a:t>
            </a:r>
          </a:p>
        </p:txBody>
      </p:sp>
      <p:sp>
        <p:nvSpPr>
          <p:cNvPr id="4" name="날짜 개체 틀 3">
            <a:extLst xmlns:a="http://schemas.openxmlformats.org/drawingml/2006/main">
              <a:ext uri="{FF2B5EF4-FFF2-40B4-BE49-F238E27FC236}">
                <a16:creationId xmlns:a16="http://schemas.microsoft.com/office/drawing/2014/main" id="{C472FB2B-85B4-86B5-5056-B2F7A9C14C21}"/>
              </a:ext>
            </a:extLst>
          </p:cNvPr>
          <p:cNvSpPr>
            <a:spLocks xmlns:a="http://schemas.openxmlformats.org/drawingml/2006/main" noGrp="1"/>
          </p:cNvSpPr>
          <p:nvPr>
            <p:ph type="dt" idx="2"/>
          </p:nvPr>
        </p:nvSpPr>
        <p:spPr>
          <a:xfrm xmlns:a="http://schemas.openxmlformats.org/drawingml/2006/main">
            <a:off x="1676400" y="12712700"/>
            <a:ext cx="5487988" cy="73025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82000"/>
                  </a:schemeClr>
                </a:solidFill>
              </a:defRPr>
            </a:lvl1pPr>
          </a:lstStyle>
          <a:p xmlns:a="http://schemas.openxmlformats.org/drawingml/2006/main">
            <a:fld id="{C72FA985-9A27-4AB2-8BC6-397BDDF1AFF1}" type="datetimeFigureOut">
              <a:t>2026-09-11</a:t>
            </a:fld>
            <a:endParaRPr/>
          </a:p>
        </p:txBody>
      </p:sp>
      <p:sp>
        <p:nvSpPr>
          <p:cNvPr id="5" name="바닥글 개체 틀 4">
            <a:extLst xmlns:a="http://schemas.openxmlformats.org/drawingml/2006/main">
              <a:ext uri="{FF2B5EF4-FFF2-40B4-BE49-F238E27FC236}">
                <a16:creationId xmlns:a16="http://schemas.microsoft.com/office/drawing/2014/main" id="{5EDE744B-F235-D8FF-7021-D1E5AFD180DA}"/>
              </a:ext>
            </a:extLst>
          </p:cNvPr>
          <p:cNvSpPr>
            <a:spLocks xmlns:a="http://schemas.openxmlformats.org/drawingml/2006/main" noGrp="1"/>
          </p:cNvSpPr>
          <p:nvPr>
            <p:ph type="ftr" idx="3"/>
          </p:nvPr>
        </p:nvSpPr>
        <p:spPr>
          <a:xfrm xmlns:a="http://schemas.openxmlformats.org/drawingml/2006/main">
            <a:off x="8078788" y="12712700"/>
            <a:ext cx="8229600" cy="73025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82000"/>
                  </a:schemeClr>
                </a:solidFill>
              </a:defRPr>
            </a:lvl1pPr>
          </a:lstStyle>
          <a:p xmlns:a="http://schemas.openxmlformats.org/drawingml/2006/main">
            <a:endParaRPr/>
          </a:p>
        </p:txBody>
      </p:sp>
      <p:sp>
        <p:nvSpPr>
          <p:cNvPr id="6" name="슬라이드 번호 개체 틀 5">
            <a:extLst xmlns:a="http://schemas.openxmlformats.org/drawingml/2006/main">
              <a:ext uri="{FF2B5EF4-FFF2-40B4-BE49-F238E27FC236}">
                <a16:creationId xmlns:a16="http://schemas.microsoft.com/office/drawing/2014/main" id="{58D4A9E4-98C4-E645-5D96-0A5C715DC2ED}"/>
              </a:ext>
            </a:extLst>
          </p:cNvPr>
          <p:cNvSpPr>
            <a:spLocks xmlns:a="http://schemas.openxmlformats.org/drawingml/2006/main" noGrp="1"/>
          </p:cNvSpPr>
          <p:nvPr>
            <p:ph type="sldNum" idx="4"/>
          </p:nvPr>
        </p:nvSpPr>
        <p:spPr>
          <a:xfrm xmlns:a="http://schemas.openxmlformats.org/drawingml/2006/main">
            <a:off x="17222788" y="12712700"/>
            <a:ext cx="5487987" cy="73025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2000">
                <a:solidFill>
                  <a:schemeClr val="tx1">
                    <a:tint val="82000"/>
                  </a:schemeClr>
                </a:solidFill>
                <a:latin typeface="프리젠테이션 4 Regular"/>
                <a:ea typeface="프리젠테이션 4 Regular"/>
                <a:cs typeface="프리젠테이션 4 Regular"/>
              </a:defRPr>
            </a:lvl1pPr>
          </a:lstStyle>
          <a:p xmlns:a="http://schemas.openxmlformats.org/drawingml/2006/main">
            <a:fld id="{7C3C6D6B-447B-4518-AB4A-57FC072EBF5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83840f2dc54a83"/>
    <p:sldLayoutId xmlns:r="http://schemas.openxmlformats.org/officeDocument/2006/relationships" id="2147483650" r:id="R47af535fa32e4b86"/>
    <p:sldLayoutId xmlns:r="http://schemas.openxmlformats.org/officeDocument/2006/relationships" id="2147483651" r:id="R0f1d9de440104781"/>
    <p:sldLayoutId xmlns:r="http://schemas.openxmlformats.org/officeDocument/2006/relationships" id="2147483652" r:id="R9907adee1e244768"/>
    <p:sldLayoutId xmlns:r="http://schemas.openxmlformats.org/officeDocument/2006/relationships" id="2147483653" r:id="R04bc0d356e2749ae"/>
    <p:sldLayoutId xmlns:r="http://schemas.openxmlformats.org/officeDocument/2006/relationships" id="2147483654" r:id="R3b1d5303f39347fe"/>
    <p:sldLayoutId xmlns:r="http://schemas.openxmlformats.org/officeDocument/2006/relationships" id="2147483655" r:id="Ra7b2af02c0ec448a"/>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디자인 사용자 지정">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803d7deee3d45f2" /><Relationship Type="http://schemas.openxmlformats.org/officeDocument/2006/relationships/notesSlide" Target="/ppt/notesSlides/notesSlide1.xml" Id="Re529a6d835c3475c"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d875e261767f45e3" /><Relationship Type="http://schemas.openxmlformats.org/officeDocument/2006/relationships/notesSlide" Target="/ppt/notesSlides/notesSlide2.xml" Id="Rc9afa14f008446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3f948a50007f4cc0" /><Relationship Type="http://schemas.openxmlformats.org/officeDocument/2006/relationships/notesSlide" Target="/ppt/notesSlides/notesSlide3.xml" Id="R8915b45b43534ffc"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eaa5fc1c9e8f48df" /><Relationship Type="http://schemas.openxmlformats.org/officeDocument/2006/relationships/notesSlide" Target="/ppt/notesSlides/notesSlide4.xml" Id="R673a51fc553b42ab"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db364f8055bb42f4" /><Relationship Type="http://schemas.openxmlformats.org/officeDocument/2006/relationships/notesSlide" Target="/ppt/notesSlides/notesSlide5.xml" Id="R637f1c290af14a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58cd53bcf7c446fa" /><Relationship Type="http://schemas.openxmlformats.org/officeDocument/2006/relationships/notesSlide" Target="/ppt/notesSlides/notesSlide6.xml" Id="R19129c941eb84bb9"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7b9b5f43bf9f4629" /><Relationship Type="http://schemas.openxmlformats.org/officeDocument/2006/relationships/notesSlide" Target="/ppt/notesSlides/notesSlide7.xml" Id="R031d11230e594e80"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32dc4fe3ba154b44" /><Relationship Type="http://schemas.openxmlformats.org/officeDocument/2006/relationships/notesSlide" Target="/ppt/notesSlides/notesSlide8.xml" Id="R07837f7ea1724f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424e14ae70764c85" /><Relationship Type="http://schemas.openxmlformats.org/officeDocument/2006/relationships/notesSlide" Target="/ppt/notesSlides/notesSlide9.xml" Id="Rb7ca727239864b2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756011c595784c93" /><Relationship Type="http://schemas.openxmlformats.org/officeDocument/2006/relationships/notesSlide" Target="/ppt/notesSlides/notesSlide10.xml" Id="R8f1524766f7248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281605ec92a24eec" /><Relationship Type="http://schemas.openxmlformats.org/officeDocument/2006/relationships/notesSlide" Target="/ppt/notesSlides/notesSlide11.xml" Id="R261de3d4c7d1426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4.xml" Id="R9dd5234975ac4b65" /><Relationship Type="http://schemas.openxmlformats.org/officeDocument/2006/relationships/notesSlide" Target="/ppt/notesSlides/notesSlide12.xml" Id="R35ec5f4f2c5b494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4.xml" Id="R187d900d5d074c01" /><Relationship Type="http://schemas.openxmlformats.org/officeDocument/2006/relationships/notesSlide" Target="/ppt/notesSlides/notesSlide13.xml" Id="R5e2bb76c2f9a445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4.xml" Id="R231a2c9af07d4282" /><Relationship Type="http://schemas.openxmlformats.org/officeDocument/2006/relationships/notesSlide" Target="/ppt/notesSlides/notesSlide14.xml" Id="R39ec75590329498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4.xml" Id="R478810af848a4c18" /><Relationship Type="http://schemas.openxmlformats.org/officeDocument/2006/relationships/notesSlide" Target="/ppt/notesSlides/notesSlide15.xml" Id="R81683bdfe6fd488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2bad967c07a496d" /><Relationship Type="http://schemas.openxmlformats.org/officeDocument/2006/relationships/notesSlide" Target="/ppt/notesSlides/notesSlide16.xml" Id="Rb1c99de2118a4e1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제목 1">
            <a:extLst xmlns:a="http://schemas.openxmlformats.org/drawingml/2006/main">
              <a:ext uri="{FF2B5EF4-FFF2-40B4-BE49-F238E27FC236}">
                <a16:creationId xmlns:a16="http://schemas.microsoft.com/office/drawing/2014/main" id="{D7289E90-E881-D041-15D8-7D335E687254}"/>
              </a:ext>
            </a:extLst>
          </p:cNvPr>
          <p:cNvSpPr>
            <a:spLocks xmlns:a="http://schemas.openxmlformats.org/drawingml/2006/main" noGrp="1"/>
          </p:cNvSpPr>
          <p:nvPr>
            <p:ph type="ctrTitle" idx="0"/>
          </p:nvPr>
        </p:nvSpPr>
        <p:spPr>
          <a:xfrm xmlns:a="http://schemas.openxmlformats.org/drawingml/2006/main">
            <a:off x="1852086" y="2590366"/>
            <a:ext cx="18291175" cy="3767411"/>
          </a:xfrm>
        </p:spPr>
        <p:txBody>
          <a:bodyPr xmlns:a="http://schemas.openxmlformats.org/drawingml/2006/main" anchor="b">
            <a:noAutofit/>
          </a:bodyPr>
          <a:lstStyle xmlns:a="http://schemas.openxmlformats.org/drawingml/2006/main"/>
          <a:p xmlns:a="http://schemas.openxmlformats.org/drawingml/2006/main">
            <a:pPr>
              <a:lnSpc>
                <a:spcPct val="100000"/>
              </a:lnSpc>
              <a:spcAft>
                <a:spcPts val="600"/>
              </a:spcAft>
              <a:buNone/>
            </a:pPr>
            <a:r>
              <a:rPr sz="6000" b="1">
                <a:solidFill>
                  <a:srgbClr val="0E2841"/>
                </a:solidFill>
                <a:latin typeface="맑은 고딕"/>
                <a:ea typeface="맑은 고딕"/>
                <a:cs typeface="맑은 고딕"/>
              </a:rPr>
              <a:t>복리후생 상담 서비스</a:t>
            </a:r>
          </a:p>
          <a:p xmlns:a="http://schemas.openxmlformats.org/drawingml/2006/main">
            <a:pPr>
              <a:spcBef>
                <a:spcPts val="800"/>
              </a:spcBef>
              <a:buNone/>
            </a:pPr>
            <a:r>
              <a:rPr sz="3400" b="0">
                <a:solidFill>
                  <a:srgbClr val="1B3D5B"/>
                </a:solidFill>
                <a:latin typeface="맑은 고딕"/>
                <a:ea typeface="맑은 고딕"/>
                <a:cs typeface="맑은 고딕"/>
              </a:rPr>
              <a:t>직원이 규정을 쉽고 빠르게 확인하는 창구</a:t>
            </a:r>
          </a:p>
        </p:txBody>
      </p:sp>
      <p:sp>
        <p:nvSpPr>
          <p:cNvPr id="4" name="제목 1">
            <a:extLst xmlns:a="http://schemas.openxmlformats.org/drawingml/2006/main">
              <a:ext uri="{FF2B5EF4-FFF2-40B4-BE49-F238E27FC236}">
                <a16:creationId xmlns:a16="http://schemas.microsoft.com/office/drawing/2014/main" id="{A763905E-D9E5-FFE1-1048-44F371B174FA}"/>
              </a:ext>
            </a:extLst>
          </p:cNvPr>
          <p:cNvSpPr>
            <a:spLocks xmlns:a="http://schemas.openxmlformats.org/drawingml/2006/main" noGrp="1"/>
          </p:cNvSpPr>
          <p:nvPr/>
        </p:nvSpPr>
        <p:spPr>
          <a:xfrm xmlns:a="http://schemas.openxmlformats.org/drawingml/2006/main">
            <a:off x="1852086" y="7639985"/>
            <a:ext cx="12506325" cy="2591962"/>
          </a:xfrm>
          <a:prstGeom xmlns:a="http://schemas.openxmlformats.org/drawingml/2006/main" prst="rect">
            <a:avLst/>
          </a:prstGeom>
        </p:spPr>
        <p:txBody>
          <a:bodyPr xmlns:a="http://schemas.openxmlformats.org/drawingml/2006/main" vert="horz" lIns="91440" tIns="45720" rIns="91440" bIns="45720" anchor="t">
            <a:normAutofit fontScale="97500"/>
          </a:bodyPr>
          <a:lstStyle xmlns:a="http://schemas.openxmlformats.org/drawingml/2006/main">
            <a:lvl1pPr algn="l" defTabSz="914400">
              <a:lnSpc>
                <a:spcPct val="90000"/>
              </a:lnSpc>
              <a:spcBef>
                <a:spcPct val="0"/>
              </a:spcBef>
              <a:buNone/>
              <a:defRPr sz="11500" kern="1200">
                <a:solidFill>
                  <a:schemeClr val="tx1"/>
                </a:solidFill>
                <a:latin typeface="프리젠테이션 8 ExtraBold"/>
                <a:ea typeface="프리젠테이션 8 ExtraBold"/>
                <a:cs typeface="프리젠테이션 8 ExtraBold"/>
              </a:defRPr>
            </a:lvl1pPr>
          </a:lstStyle>
          <a:p xmlns:a="http://schemas.openxmlformats.org/drawingml/2006/main">
            <a:pPr>
              <a:lnSpc>
                <a:spcPct val="100000"/>
              </a:lnSpc>
              <a:spcBef>
                <a:spcPts val="0"/>
              </a:spcBef>
              <a:spcAft>
                <a:spcPts val="1200"/>
              </a:spcAft>
              <a:buNone/>
            </a:pPr>
            <a:r>
              <a:rPr sz="2600" b="0">
                <a:solidFill>
                  <a:srgbClr val="262223"/>
                </a:solidFill>
                <a:latin typeface="맑은 고딕"/>
                <a:ea typeface="맑은 고딕"/>
                <a:cs typeface="맑은 고딕"/>
              </a:rPr>
              <a:t>AI활용전문가양성과정(사무계)  |  김정훈</a:t>
            </a:r>
            <a:endParaRPr sz="6000" b="1">
              <a:solidFill>
                <a:schemeClr val="tx2"/>
              </a:solidFill>
              <a:latin typeface="Pretendard"/>
              <a:ea typeface="Pretendard"/>
              <a:cs typeface="Pretendard"/>
            </a:endParaRPr>
          </a:p>
          <a:p xmlns:a="http://schemas.openxmlformats.org/drawingml/2006/main">
            <a:pPr>
              <a:spcBef>
                <a:spcPts val="600"/>
              </a:spcBef>
              <a:buNone/>
            </a:pPr>
            <a:r>
              <a:rPr sz="2200" b="0">
                <a:solidFill>
                  <a:srgbClr val="3E4A52"/>
                </a:solidFill>
                <a:latin typeface="맑은 고딕"/>
                <a:ea typeface="맑은 고딕"/>
                <a:cs typeface="맑은 고딕"/>
              </a:rPr>
              <a:t>2026. 09. 16</a:t>
            </a:r>
          </a:p>
        </p:txBody>
      </p:sp>
    </p:spTree>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7" name="v3-text-1">
            <a:extLst xmlns:a="http://schemas.openxmlformats.org/drawingml/2006/main">
              <a:ext uri="{FF2B5EF4-FFF2-40B4-BE49-F238E27FC236}">
                <a16:creationId xmlns:a16="http://schemas.microsoft.com/office/drawing/2014/main" id="{24BE9799-3BA2-4890-B48E-08DE2648B97F}"/>
              </a:ext>
            </a:extLst>
          </p:cNvPr>
          <p:cNvSpPr>
            <a:spLocks xmlns:a="http://schemas.openxmlformats.org/drawingml/2006/main" noGrp="1"/>
          </p:cNvSpPr>
          <p:nvPr/>
        </p:nvSpPr>
        <p:spPr>
          <a:xfrm xmlns:a="http://schemas.openxmlformats.org/drawingml/2006/main">
            <a:off x="2629242" y="2324100"/>
            <a:ext cx="20386154"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1">
                <a:solidFill>
                  <a:srgbClr val="10344D"/>
                </a:solidFill>
                <a:latin typeface="맑은 고딕"/>
                <a:ea typeface="맑은 고딕"/>
                <a:cs typeface="맑은 고딕"/>
              </a:defRPr>
            </a:pPr>
            <a:r>
              <a:rPr sz="4350" b="1">
                <a:solidFill>
                  <a:srgbClr val="10344D"/>
                </a:solidFill>
                <a:latin typeface="맑은 고딕"/>
                <a:ea typeface="맑은 고딕"/>
                <a:cs typeface="맑은 고딕"/>
              </a:rPr>
              <a:t>발표 구성</a:t>
            </a:r>
          </a:p>
        </p:txBody>
      </p:sp>
      <p:sp>
        <p:nvSpPr>
          <p:cNvPr id="2" name="v3-text-2">
            <a:extLst xmlns:a="http://schemas.openxmlformats.org/drawingml/2006/main">
              <a:ext uri="{FF2B5EF4-FFF2-40B4-BE49-F238E27FC236}">
                <a16:creationId xmlns:a16="http://schemas.microsoft.com/office/drawing/2014/main" id="{F6A82508-94A7-4849-8631-150690AA39A5}"/>
              </a:ext>
            </a:extLst>
          </p:cNvPr>
          <p:cNvSpPr>
            <a:spLocks xmlns:a="http://schemas.openxmlformats.org/drawingml/2006/main" noGrp="1"/>
          </p:cNvSpPr>
          <p:nvPr/>
        </p:nvSpPr>
        <p:spPr>
          <a:xfrm xmlns:a="http://schemas.openxmlformats.org/drawingml/2006/main">
            <a:off x="2629242" y="3390900"/>
            <a:ext cx="20005104"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526573"/>
                </a:solidFill>
                <a:latin typeface="맑은 고딕"/>
                <a:ea typeface="맑은 고딕"/>
                <a:cs typeface="맑은 고딕"/>
              </a:defRPr>
            </a:pPr>
            <a:r>
              <a:rPr sz="2550" b="0">
                <a:solidFill>
                  <a:srgbClr val="526573"/>
                </a:solidFill>
                <a:latin typeface="맑은 고딕"/>
                <a:ea typeface="맑은 고딕"/>
                <a:cs typeface="맑은 고딕"/>
              </a:rPr>
              <a:t>업무의 불편을 정의하고, 구현과 검증을 통해 개선 가능성을 확인했습니다</a:t>
            </a:r>
          </a:p>
        </p:txBody>
      </p:sp>
      <p:sp>
        <p:nvSpPr>
          <p:cNvPr id="3" name="v3-text-3">
            <a:extLst xmlns:a="http://schemas.openxmlformats.org/drawingml/2006/main">
              <a:ext uri="{FF2B5EF4-FFF2-40B4-BE49-F238E27FC236}">
                <a16:creationId xmlns:a16="http://schemas.microsoft.com/office/drawing/2014/main" id="{F8A76261-4ECA-4422-9B2F-D7A3C3F163AF}"/>
              </a:ext>
            </a:extLst>
          </p:cNvPr>
          <p:cNvSpPr>
            <a:spLocks xmlns:a="http://schemas.openxmlformats.org/drawingml/2006/main" noGrp="1"/>
          </p:cNvSpPr>
          <p:nvPr/>
        </p:nvSpPr>
        <p:spPr>
          <a:xfrm xmlns:a="http://schemas.openxmlformats.org/drawingml/2006/main">
            <a:off x="22386665" y="12649200"/>
            <a:ext cx="914519"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800" b="0">
                <a:solidFill>
                  <a:srgbClr val="526573"/>
                </a:solidFill>
                <a:latin typeface="맑은 고딕"/>
                <a:ea typeface="맑은 고딕"/>
                <a:cs typeface="맑은 고딕"/>
              </a:defRPr>
            </a:pPr>
            <a:r>
              <a:rPr sz="1800" b="0">
                <a:solidFill>
                  <a:srgbClr val="526573"/>
                </a:solidFill>
                <a:latin typeface="맑은 고딕"/>
                <a:ea typeface="맑은 고딕"/>
                <a:cs typeface="맑은 고딕"/>
              </a:rPr>
              <a:t>02</a:t>
            </a:r>
          </a:p>
        </p:txBody>
      </p:sp>
      <p:graphicFrame>
        <p:nvGraphicFramePr>
          <p:cNvPr id="10" name=""/>
          <p:cNvGraphicFramePr/>
          <p:nvPr/>
        </p:nvGraphicFramePr>
        <p:xfrm>
          <a:off xmlns:a="http://schemas.openxmlformats.org/drawingml/2006/main" x="2629242" y="4686300"/>
          <a:ext xmlns:a="http://schemas.openxmlformats.org/drawingml/2006/main" cx="20195629" cy="5295900"/>
        </p:xfrm>
        <a:graphic xmlns:a="http://schemas.openxmlformats.org/drawingml/2006/main">
          <a:graphicData uri="http://schemas.openxmlformats.org/drawingml/2006/table">
            <a:tbl>
              <a:tblPr/>
              <a:tblGrid>
                <a:gridCol w="4382071"/>
                <a:gridCol w="6858893"/>
                <a:gridCol w="8954666"/>
              </a:tblGrid>
              <a:tr h="1323975">
                <a:tc>
                  <a:txBody>
                    <a:bodyPr/>
                    <a:lstStyle/>
                    <a:p>
                      <a:r>
                        <a:rPr sz="2700" b="1">
                          <a:solidFill>
                            <a:srgbClr val="FFFFFF"/>
                          </a:solidFill>
                          <a:latin typeface="맑은 고딕"/>
                          <a:ea typeface="맑은 고딕"/>
                          <a:cs typeface="맑은 고딕"/>
                        </a:rPr>
                        <a:t>구분</a:t>
                      </a:r>
                    </a:p>
                  </a:txBody>
                  <a:tcPr marL="190500" marR="190500" marT="133350" marB="114300" anchor="ctr">
                    <a:solidFill>
                      <a:srgbClr val="082D65"/>
                    </a:solidFill>
                  </a:tcPr>
                </a:tc>
                <a:tc>
                  <a:txBody>
                    <a:bodyPr/>
                    <a:lstStyle/>
                    <a:p>
                      <a:r>
                        <a:rPr sz="2700" b="1">
                          <a:solidFill>
                            <a:srgbClr val="FFFFFF"/>
                          </a:solidFill>
                          <a:latin typeface="맑은 고딕"/>
                          <a:ea typeface="맑은 고딕"/>
                          <a:cs typeface="맑은 고딕"/>
                        </a:rPr>
                        <a:t>핵심 질문</a:t>
                      </a:r>
                    </a:p>
                  </a:txBody>
                  <a:tcPr marL="190500" marR="190500" marT="133350" marB="114300" anchor="ctr">
                    <a:solidFill>
                      <a:srgbClr val="082D65"/>
                    </a:solidFill>
                  </a:tcPr>
                </a:tc>
                <a:tc>
                  <a:txBody>
                    <a:bodyPr/>
                    <a:lstStyle/>
                    <a:p>
                      <a:r>
                        <a:rPr sz="2700" b="1">
                          <a:solidFill>
                            <a:srgbClr val="FFFFFF"/>
                          </a:solidFill>
                          <a:latin typeface="맑은 고딕"/>
                          <a:ea typeface="맑은 고딕"/>
                          <a:cs typeface="맑은 고딕"/>
                        </a:rPr>
                        <a:t>주요 내용</a:t>
                      </a:r>
                    </a:p>
                  </a:txBody>
                  <a:tcPr marL="190500" marR="190500" marT="133350" marB="114300" anchor="ctr">
                    <a:solidFill>
                      <a:srgbClr val="082D65"/>
                    </a:solidFill>
                  </a:tcPr>
                </a:tc>
              </a:tr>
              <a:tr h="1323975">
                <a:tc>
                  <a:txBody>
                    <a:bodyPr/>
                    <a:lstStyle/>
                    <a:p>
                      <a:r>
                        <a:rPr sz="2850" b="1">
                          <a:solidFill>
                            <a:srgbClr val="10344D"/>
                          </a:solidFill>
                          <a:latin typeface="맑은 고딕"/>
                          <a:ea typeface="맑은 고딕"/>
                          <a:cs typeface="맑은 고딕"/>
                        </a:rPr>
                        <a:t>01  문제 정의</a:t>
                      </a:r>
                    </a:p>
                  </a:txBody>
                  <a:tcPr marL="190500" marR="190500" marT="133350" marB="114300" anchor="ctr">
                    <a:solidFill>
                      <a:srgbClr val="FFFFFF"/>
                    </a:solidFill>
                  </a:tcPr>
                </a:tc>
                <a:tc>
                  <a:txBody>
                    <a:bodyPr/>
                    <a:lstStyle/>
                    <a:p>
                      <a:r>
                        <a:rPr sz="2850" b="0">
                          <a:solidFill>
                            <a:srgbClr val="10344D"/>
                          </a:solidFill>
                          <a:latin typeface="맑은 고딕"/>
                          <a:ea typeface="맑은 고딕"/>
                          <a:cs typeface="맑은 고딕"/>
                        </a:rPr>
                        <a:t>무엇이 어렵고, 왜 해결해야 하나?</a:t>
                      </a:r>
                    </a:p>
                  </a:txBody>
                  <a:tcPr marL="190500" marR="190500" marT="133350" marB="114300" anchor="ctr">
                    <a:solidFill>
                      <a:srgbClr val="FFFFFF"/>
                    </a:solidFill>
                  </a:tcPr>
                </a:tc>
                <a:tc>
                  <a:txBody>
                    <a:bodyPr/>
                    <a:lstStyle/>
                    <a:p>
                      <a:r>
                        <a:rPr sz="2850" b="0">
                          <a:solidFill>
                            <a:srgbClr val="10344D"/>
                          </a:solidFill>
                          <a:latin typeface="맑은 고딕"/>
                          <a:ea typeface="맑은 고딕"/>
                          <a:cs typeface="맑은 고딕"/>
                        </a:rPr>
                        <a:t>실제 질문 사례 · 개선 가설 · 상담 범위</a:t>
                      </a:r>
                    </a:p>
                  </a:txBody>
                  <a:tcPr marL="190500" marR="190500" marT="133350" marB="114300" anchor="ctr">
                    <a:solidFill>
                      <a:srgbClr val="FFFFFF"/>
                    </a:solidFill>
                  </a:tcPr>
                </a:tc>
              </a:tr>
              <a:tr h="1323975">
                <a:tc>
                  <a:txBody>
                    <a:bodyPr/>
                    <a:lstStyle/>
                    <a:p>
                      <a:r>
                        <a:rPr sz="2850" b="1">
                          <a:solidFill>
                            <a:srgbClr val="10344D"/>
                          </a:solidFill>
                          <a:latin typeface="맑은 고딕"/>
                          <a:ea typeface="맑은 고딕"/>
                          <a:cs typeface="맑은 고딕"/>
                        </a:rPr>
                        <a:t>02  기능과 구현</a:t>
                      </a:r>
                    </a:p>
                  </a:txBody>
                  <a:tcPr marL="190500" marR="190500" marT="133350" marB="114300" anchor="ctr">
                    <a:solidFill>
                      <a:srgbClr val="E8EFF3"/>
                    </a:solidFill>
                  </a:tcPr>
                </a:tc>
                <a:tc>
                  <a:txBody>
                    <a:bodyPr/>
                    <a:lstStyle/>
                    <a:p>
                      <a:r>
                        <a:rPr sz="2850" b="0">
                          <a:solidFill>
                            <a:srgbClr val="10344D"/>
                          </a:solidFill>
                          <a:latin typeface="맑은 고딕"/>
                          <a:ea typeface="맑은 고딕"/>
                          <a:cs typeface="맑은 고딕"/>
                        </a:rPr>
                        <a:t>교육에서 배운 기술을 어떻게 적용했나?</a:t>
                      </a:r>
                    </a:p>
                  </a:txBody>
                  <a:tcPr marL="190500" marR="190500" marT="133350" marB="114300" anchor="ctr">
                    <a:solidFill>
                      <a:srgbClr val="E8EFF3"/>
                    </a:solidFill>
                  </a:tcPr>
                </a:tc>
                <a:tc>
                  <a:txBody>
                    <a:bodyPr/>
                    <a:lstStyle/>
                    <a:p>
                      <a:r>
                        <a:rPr sz="2850" b="0">
                          <a:solidFill>
                            <a:srgbClr val="10344D"/>
                          </a:solidFill>
                          <a:latin typeface="맑은 고딕"/>
                          <a:ea typeface="맑은 고딕"/>
                          <a:cs typeface="맑은 고딕"/>
                        </a:rPr>
                        <a:t>RAG 구조 · 기술 선택 · 응답 유형 · 시연</a:t>
                      </a:r>
                    </a:p>
                  </a:txBody>
                  <a:tcPr marL="190500" marR="190500" marT="133350" marB="114300" anchor="ctr">
                    <a:solidFill>
                      <a:srgbClr val="E8EFF3"/>
                    </a:solidFill>
                  </a:tcPr>
                </a:tc>
              </a:tr>
              <a:tr h="1323975">
                <a:tc>
                  <a:txBody>
                    <a:bodyPr/>
                    <a:lstStyle/>
                    <a:p>
                      <a:r>
                        <a:rPr sz="2850" b="1">
                          <a:solidFill>
                            <a:srgbClr val="10344D"/>
                          </a:solidFill>
                          <a:latin typeface="맑은 고딕"/>
                          <a:ea typeface="맑은 고딕"/>
                          <a:cs typeface="맑은 고딕"/>
                        </a:rPr>
                        <a:t>03  결과와 회고</a:t>
                      </a:r>
                    </a:p>
                  </a:txBody>
                  <a:tcPr marL="190500" marR="190500" marT="133350" marB="114300" anchor="ctr">
                    <a:solidFill>
                      <a:srgbClr val="FFFFFF"/>
                    </a:solidFill>
                  </a:tcPr>
                </a:tc>
                <a:tc>
                  <a:txBody>
                    <a:bodyPr/>
                    <a:lstStyle/>
                    <a:p>
                      <a:r>
                        <a:rPr sz="2850" b="0">
                          <a:solidFill>
                            <a:srgbClr val="10344D"/>
                          </a:solidFill>
                          <a:latin typeface="맑은 고딕"/>
                          <a:ea typeface="맑은 고딕"/>
                          <a:cs typeface="맑은 고딕"/>
                        </a:rPr>
                        <a:t>무엇이 개선됐고, 무엇이 남았나?</a:t>
                      </a:r>
                    </a:p>
                  </a:txBody>
                  <a:tcPr marL="190500" marR="190500" marT="133350" marB="114300" anchor="ctr">
                    <a:solidFill>
                      <a:srgbClr val="FFFFFF"/>
                    </a:solidFill>
                  </a:tcPr>
                </a:tc>
                <a:tc>
                  <a:txBody>
                    <a:bodyPr/>
                    <a:lstStyle/>
                    <a:p>
                      <a:r>
                        <a:rPr sz="2850" b="0">
                          <a:solidFill>
                            <a:srgbClr val="10344D"/>
                          </a:solidFill>
                          <a:latin typeface="맑은 고딕"/>
                          <a:ea typeface="맑은 고딕"/>
                          <a:cs typeface="맑은 고딕"/>
                        </a:rPr>
                        <a:t>검색 평가 · 시행착오 · 피드백 · 실무 활용</a:t>
                      </a:r>
                    </a:p>
                  </a:txBody>
                  <a:tcPr marL="190500" marR="190500" marT="133350" marB="114300" anchor="ctr">
                    <a:solidFill>
                      <a:srgbClr val="FFFFFF"/>
                    </a:solidFill>
                  </a:tcPr>
                </a:tc>
              </a:tr>
            </a:tbl>
          </a:graphicData>
        </a:graphic>
      </p:graphicFrame>
      <p:sp>
        <p:nvSpPr>
          <p:cNvPr id="5" name="v3-text-4">
            <a:extLst xmlns:a="http://schemas.openxmlformats.org/drawingml/2006/main">
              <a:ext uri="{FF2B5EF4-FFF2-40B4-BE49-F238E27FC236}">
                <a16:creationId xmlns:a16="http://schemas.microsoft.com/office/drawing/2014/main" id="{23368FE5-1B61-4AA9-AAB6-F403799188F8}"/>
              </a:ext>
            </a:extLst>
          </p:cNvPr>
          <p:cNvSpPr>
            <a:spLocks xmlns:a="http://schemas.openxmlformats.org/drawingml/2006/main" noGrp="1"/>
          </p:cNvSpPr>
          <p:nvPr/>
        </p:nvSpPr>
        <p:spPr>
          <a:xfrm xmlns:a="http://schemas.openxmlformats.org/drawingml/2006/main">
            <a:off x="2629242" y="10668000"/>
            <a:ext cx="4191546"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0344D"/>
                </a:solidFill>
                <a:latin typeface="맑은 고딕"/>
                <a:ea typeface="맑은 고딕"/>
                <a:cs typeface="맑은 고딕"/>
              </a:defRPr>
            </a:pPr>
            <a:r>
              <a:rPr sz="3150" b="1">
                <a:solidFill>
                  <a:srgbClr val="10344D"/>
                </a:solidFill>
                <a:latin typeface="맑은 고딕"/>
                <a:ea typeface="맑은 고딕"/>
                <a:cs typeface="맑은 고딕"/>
              </a:rPr>
              <a:t>프로젝트의 중심</a:t>
            </a:r>
          </a:p>
        </p:txBody>
      </p:sp>
      <p:sp>
        <p:nvSpPr>
          <p:cNvPr id="6" name="v3-text-5">
            <a:extLst xmlns:a="http://schemas.openxmlformats.org/drawingml/2006/main">
              <a:ext uri="{FF2B5EF4-FFF2-40B4-BE49-F238E27FC236}">
                <a16:creationId xmlns:a16="http://schemas.microsoft.com/office/drawing/2014/main" id="{6C01E1B6-EA2D-4A00-9BE0-E5F86203254F}"/>
              </a:ext>
            </a:extLst>
          </p:cNvPr>
          <p:cNvSpPr>
            <a:spLocks xmlns:a="http://schemas.openxmlformats.org/drawingml/2006/main" noGrp="1"/>
          </p:cNvSpPr>
          <p:nvPr/>
        </p:nvSpPr>
        <p:spPr>
          <a:xfrm xmlns:a="http://schemas.openxmlformats.org/drawingml/2006/main">
            <a:off x="6954155" y="10668000"/>
            <a:ext cx="15623034"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0">
                <a:solidFill>
                  <a:srgbClr val="10344D"/>
                </a:solidFill>
                <a:latin typeface="맑은 고딕"/>
                <a:ea typeface="맑은 고딕"/>
                <a:cs typeface="맑은 고딕"/>
              </a:defRPr>
            </a:pPr>
            <a:r>
              <a:rPr sz="3150" b="0">
                <a:solidFill>
                  <a:srgbClr val="10344D"/>
                </a:solidFill>
                <a:latin typeface="맑은 고딕"/>
                <a:ea typeface="맑은 고딕"/>
                <a:cs typeface="맑은 고딕"/>
              </a:rPr>
              <a:t>직원의 질문에 관련 규정을 연결하고, 필요한 확인과 다음 행동까지 안내</a:t>
            </a:r>
          </a:p>
        </p:txBody>
      </p:sp>
    </p:spTree>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8" name="v3-text-6">
            <a:extLst xmlns:a="http://schemas.openxmlformats.org/drawingml/2006/main">
              <a:ext uri="{FF2B5EF4-FFF2-40B4-BE49-F238E27FC236}">
                <a16:creationId xmlns:a16="http://schemas.microsoft.com/office/drawing/2014/main" id="{A83B6359-DA71-4462-92CB-2822769FE8C7}"/>
              </a:ext>
            </a:extLst>
          </p:cNvPr>
          <p:cNvSpPr>
            <a:spLocks xmlns:a="http://schemas.openxmlformats.org/drawingml/2006/main" noGrp="1"/>
          </p:cNvSpPr>
          <p:nvPr/>
        </p:nvSpPr>
        <p:spPr>
          <a:xfrm xmlns:a="http://schemas.openxmlformats.org/drawingml/2006/main">
            <a:off x="2629242" y="2324100"/>
            <a:ext cx="20386154"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1">
                <a:solidFill>
                  <a:srgbClr val="10344D"/>
                </a:solidFill>
                <a:latin typeface="맑은 고딕"/>
                <a:ea typeface="맑은 고딕"/>
                <a:cs typeface="맑은 고딕"/>
              </a:defRPr>
            </a:pPr>
            <a:r>
              <a:rPr sz="4350" b="1">
                <a:solidFill>
                  <a:srgbClr val="10344D"/>
                </a:solidFill>
                <a:latin typeface="맑은 고딕"/>
                <a:ea typeface="맑은 고딕"/>
                <a:cs typeface="맑은 고딕"/>
              </a:rPr>
              <a:t>문제 정의와 개선 관점</a:t>
            </a:r>
          </a:p>
        </p:txBody>
      </p:sp>
      <p:sp>
        <p:nvSpPr>
          <p:cNvPr id="2" name="v3-text-7">
            <a:extLst xmlns:a="http://schemas.openxmlformats.org/drawingml/2006/main">
              <a:ext uri="{FF2B5EF4-FFF2-40B4-BE49-F238E27FC236}">
                <a16:creationId xmlns:a16="http://schemas.microsoft.com/office/drawing/2014/main" id="{D7A8A0D6-B853-4F5D-9307-5AE980262C9F}"/>
              </a:ext>
            </a:extLst>
          </p:cNvPr>
          <p:cNvSpPr>
            <a:spLocks xmlns:a="http://schemas.openxmlformats.org/drawingml/2006/main" noGrp="1"/>
          </p:cNvSpPr>
          <p:nvPr/>
        </p:nvSpPr>
        <p:spPr>
          <a:xfrm xmlns:a="http://schemas.openxmlformats.org/drawingml/2006/main">
            <a:off x="2629242" y="3390900"/>
            <a:ext cx="20005104"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526573"/>
                </a:solidFill>
                <a:latin typeface="맑은 고딕"/>
                <a:ea typeface="맑은 고딕"/>
                <a:cs typeface="맑은 고딕"/>
              </a:defRPr>
            </a:pPr>
            <a:r>
              <a:rPr sz="2550" b="0">
                <a:solidFill>
                  <a:srgbClr val="526573"/>
                </a:solidFill>
                <a:latin typeface="맑은 고딕"/>
                <a:ea typeface="맑은 고딕"/>
                <a:cs typeface="맑은 고딕"/>
              </a:rPr>
              <a:t>규정의 위치를 찾는 일과, 내 상황에 적용하는 일이 모두 어렵습니다</a:t>
            </a:r>
          </a:p>
        </p:txBody>
      </p:sp>
      <p:sp>
        <p:nvSpPr>
          <p:cNvPr id="3" name="v3-text-8">
            <a:extLst xmlns:a="http://schemas.openxmlformats.org/drawingml/2006/main">
              <a:ext uri="{FF2B5EF4-FFF2-40B4-BE49-F238E27FC236}">
                <a16:creationId xmlns:a16="http://schemas.microsoft.com/office/drawing/2014/main" id="{04FE85A0-E120-4CB5-B73C-AB3069A738CB}"/>
              </a:ext>
            </a:extLst>
          </p:cNvPr>
          <p:cNvSpPr>
            <a:spLocks xmlns:a="http://schemas.openxmlformats.org/drawingml/2006/main" noGrp="1"/>
          </p:cNvSpPr>
          <p:nvPr/>
        </p:nvSpPr>
        <p:spPr>
          <a:xfrm xmlns:a="http://schemas.openxmlformats.org/drawingml/2006/main">
            <a:off x="22386665" y="12649200"/>
            <a:ext cx="914519"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800" b="0">
                <a:solidFill>
                  <a:srgbClr val="526573"/>
                </a:solidFill>
                <a:latin typeface="맑은 고딕"/>
                <a:ea typeface="맑은 고딕"/>
                <a:cs typeface="맑은 고딕"/>
              </a:defRPr>
            </a:pPr>
            <a:r>
              <a:rPr sz="1800" b="0">
                <a:solidFill>
                  <a:srgbClr val="526573"/>
                </a:solidFill>
                <a:latin typeface="맑은 고딕"/>
                <a:ea typeface="맑은 고딕"/>
                <a:cs typeface="맑은 고딕"/>
              </a:rPr>
              <a:t>03</a:t>
            </a:r>
          </a:p>
        </p:txBody>
      </p:sp>
      <p:graphicFrame>
        <p:nvGraphicFramePr>
          <p:cNvPr id="11" name=""/>
          <p:cNvGraphicFramePr/>
          <p:nvPr/>
        </p:nvGraphicFramePr>
        <p:xfrm>
          <a:off xmlns:a="http://schemas.openxmlformats.org/drawingml/2006/main" x="2629242" y="4476750"/>
          <a:ext xmlns:a="http://schemas.openxmlformats.org/drawingml/2006/main" cx="20195629" cy="5715000"/>
        </p:xfrm>
        <a:graphic xmlns:a="http://schemas.openxmlformats.org/drawingml/2006/main">
          <a:graphicData uri="http://schemas.openxmlformats.org/drawingml/2006/table">
            <a:tbl>
              <a:tblPr/>
              <a:tblGrid>
                <a:gridCol w="4382071"/>
                <a:gridCol w="10097815"/>
                <a:gridCol w="5715744"/>
              </a:tblGrid>
              <a:tr h="1428750">
                <a:tc>
                  <a:txBody>
                    <a:bodyPr/>
                    <a:lstStyle/>
                    <a:p>
                      <a:r>
                        <a:rPr sz="2550" b="1">
                          <a:solidFill>
                            <a:srgbClr val="FFFFFF"/>
                          </a:solidFill>
                          <a:latin typeface="맑은 고딕"/>
                          <a:ea typeface="맑은 고딕"/>
                          <a:cs typeface="맑은 고딕"/>
                        </a:rPr>
                        <a:t>불편의 원인</a:t>
                      </a:r>
                    </a:p>
                  </a:txBody>
                  <a:tcPr marL="190500" marR="190500" marT="133350" marB="114300" anchor="ctr">
                    <a:solidFill>
                      <a:srgbClr val="082D65"/>
                    </a:solidFill>
                  </a:tcPr>
                </a:tc>
                <a:tc>
                  <a:txBody>
                    <a:bodyPr/>
                    <a:lstStyle/>
                    <a:p>
                      <a:r>
                        <a:rPr sz="2550" b="1">
                          <a:solidFill>
                            <a:srgbClr val="FFFFFF"/>
                          </a:solidFill>
                          <a:latin typeface="맑은 고딕"/>
                          <a:ea typeface="맑은 고딕"/>
                          <a:cs typeface="맑은 고딕"/>
                        </a:rPr>
                        <a:t>프로젝트에서 다룬 구체적 사례</a:t>
                      </a:r>
                    </a:p>
                  </a:txBody>
                  <a:tcPr marL="190500" marR="190500" marT="133350" marB="114300" anchor="ctr">
                    <a:solidFill>
                      <a:srgbClr val="082D65"/>
                    </a:solidFill>
                  </a:tcPr>
                </a:tc>
                <a:tc>
                  <a:txBody>
                    <a:bodyPr/>
                    <a:lstStyle/>
                    <a:p>
                      <a:r>
                        <a:rPr sz="2550" b="1">
                          <a:solidFill>
                            <a:srgbClr val="FFFFFF"/>
                          </a:solidFill>
                          <a:latin typeface="맑은 고딕"/>
                          <a:ea typeface="맑은 고딕"/>
                          <a:cs typeface="맑은 고딕"/>
                        </a:rPr>
                        <a:t>업무상 의미</a:t>
                      </a:r>
                    </a:p>
                  </a:txBody>
                  <a:tcPr marL="190500" marR="190500" marT="133350" marB="114300" anchor="ctr">
                    <a:solidFill>
                      <a:srgbClr val="082D65"/>
                    </a:solidFill>
                  </a:tcPr>
                </a:tc>
              </a:tr>
              <a:tr h="1428750">
                <a:tc>
                  <a:txBody>
                    <a:bodyPr/>
                    <a:lstStyle/>
                    <a:p>
                      <a:r>
                        <a:rPr sz="2700" b="1">
                          <a:solidFill>
                            <a:srgbClr val="10344D"/>
                          </a:solidFill>
                          <a:latin typeface="맑은 고딕"/>
                          <a:ea typeface="맑은 고딕"/>
                          <a:cs typeface="맑은 고딕"/>
                        </a:rPr>
                        <a:t>표현과 규정의 차이</a:t>
                      </a:r>
                    </a:p>
                  </a:txBody>
                  <a:tcPr marL="190500" marR="190500" marT="133350" marB="114300" anchor="ctr">
                    <a:solidFill>
                      <a:srgbClr val="FFFFFF"/>
                    </a:solidFill>
                  </a:tcPr>
                </a:tc>
                <a:tc>
                  <a:txBody>
                    <a:bodyPr/>
                    <a:lstStyle/>
                    <a:p>
                      <a:r>
                        <a:rPr sz="2700" b="0">
                          <a:solidFill>
                            <a:srgbClr val="10344D"/>
                          </a:solidFill>
                          <a:latin typeface="맑은 고딕"/>
                          <a:ea typeface="맑은 고딕"/>
                          <a:cs typeface="맑은 고딕"/>
                        </a:rPr>
                        <a:t>“출장 가면 숙소는 회사가 잡아주나요?”</a:t>
                      </a:r>
                    </a:p>
                    <a:p>
                      <a:r>
                        <a:rPr sz="2700" b="0">
                          <a:solidFill>
                            <a:srgbClr val="10344D"/>
                          </a:solidFill>
                          <a:latin typeface="맑은 고딕"/>
                          <a:ea typeface="맑은 고딕"/>
                          <a:cs typeface="맑은 고딕"/>
                        </a:rPr>
                        <a:t>‘숙소’라는 단어만으로는 제도를 정하기 어려움</a:t>
                      </a:r>
                    </a:p>
                  </a:txBody>
                  <a:tcPr marL="190500" marR="190500" marT="133350" marB="114300" anchor="ctr">
                    <a:solidFill>
                      <a:srgbClr val="FFFFFF"/>
                    </a:solidFill>
                  </a:tcPr>
                </a:tc>
                <a:tc>
                  <a:txBody>
                    <a:bodyPr/>
                    <a:lstStyle/>
                    <a:p>
                      <a:r>
                        <a:rPr sz="2700" b="0">
                          <a:solidFill>
                            <a:srgbClr val="10344D"/>
                          </a:solidFill>
                          <a:latin typeface="맑은 고딕"/>
                          <a:ea typeface="맑은 고딕"/>
                          <a:cs typeface="맑은 고딕"/>
                        </a:rPr>
                        <a:t>일상 표현을 관련 규정에</a:t>
                      </a:r>
                    </a:p>
                    <a:p>
                      <a:r>
                        <a:rPr sz="2700" b="0">
                          <a:solidFill>
                            <a:srgbClr val="10344D"/>
                          </a:solidFill>
                          <a:latin typeface="맑은 고딕"/>
                          <a:ea typeface="맑은 고딕"/>
                          <a:cs typeface="맑은 고딕"/>
                        </a:rPr>
                        <a:t>정확히 연결해야 함</a:t>
                      </a:r>
                    </a:p>
                  </a:txBody>
                  <a:tcPr marL="190500" marR="190500" marT="133350" marB="114300" anchor="ctr">
                    <a:solidFill>
                      <a:srgbClr val="FFFFFF"/>
                    </a:solidFill>
                  </a:tcPr>
                </a:tc>
              </a:tr>
              <a:tr h="1428750">
                <a:tc>
                  <a:txBody>
                    <a:bodyPr/>
                    <a:lstStyle/>
                    <a:p>
                      <a:r>
                        <a:rPr sz="2700" b="1">
                          <a:solidFill>
                            <a:srgbClr val="10344D"/>
                          </a:solidFill>
                          <a:latin typeface="맑은 고딕"/>
                          <a:ea typeface="맑은 고딕"/>
                          <a:cs typeface="맑은 고딕"/>
                        </a:rPr>
                        <a:t>조건·예외의 복잡성</a:t>
                      </a:r>
                    </a:p>
                  </a:txBody>
                  <a:tcPr marL="190500" marR="190500" marT="133350" marB="114300" anchor="ctr">
                    <a:solidFill>
                      <a:srgbClr val="E8EFF3"/>
                    </a:solidFill>
                  </a:tcPr>
                </a:tc>
                <a:tc>
                  <a:txBody>
                    <a:bodyPr/>
                    <a:lstStyle/>
                    <a:p>
                      <a:r>
                        <a:rPr sz="2700" b="0">
                          <a:solidFill>
                            <a:srgbClr val="10344D"/>
                          </a:solidFill>
                          <a:latin typeface="맑은 고딕"/>
                          <a:ea typeface="맑은 고딕"/>
                          <a:cs typeface="맑은 고딕"/>
                        </a:rPr>
                        <a:t>“해외출장 전날 이동하면 교통비가 나오나요?”</a:t>
                      </a:r>
                    </a:p>
                    <a:p>
                      <a:r>
                        <a:rPr sz="2700" b="0">
                          <a:solidFill>
                            <a:srgbClr val="10344D"/>
                          </a:solidFill>
                          <a:latin typeface="맑은 고딕"/>
                          <a:ea typeface="맑은 고딕"/>
                          <a:cs typeface="맑은 고딕"/>
                        </a:rPr>
                        <a:t>이동 사유와 개인 일정 포함 여부 확인 필요</a:t>
                      </a:r>
                    </a:p>
                  </a:txBody>
                  <a:tcPr marL="190500" marR="190500" marT="133350" marB="114300" anchor="ctr">
                    <a:solidFill>
                      <a:srgbClr val="E8EFF3"/>
                    </a:solidFill>
                  </a:tcPr>
                </a:tc>
                <a:tc>
                  <a:txBody>
                    <a:bodyPr/>
                    <a:lstStyle/>
                    <a:p>
                      <a:r>
                        <a:rPr sz="2700" b="0">
                          <a:solidFill>
                            <a:srgbClr val="10344D"/>
                          </a:solidFill>
                          <a:latin typeface="맑은 고딕"/>
                          <a:ea typeface="맑은 고딕"/>
                          <a:cs typeface="맑은 고딕"/>
                        </a:rPr>
                        <a:t>단순 가능·불가 답변으로는</a:t>
                      </a:r>
                    </a:p>
                    <a:p>
                      <a:r>
                        <a:rPr sz="2700" b="0">
                          <a:solidFill>
                            <a:srgbClr val="10344D"/>
                          </a:solidFill>
                          <a:latin typeface="맑은 고딕"/>
                          <a:ea typeface="맑은 고딕"/>
                          <a:cs typeface="맑은 고딕"/>
                        </a:rPr>
                        <a:t>잘못 안내할 수 있음</a:t>
                      </a:r>
                    </a:p>
                  </a:txBody>
                  <a:tcPr marL="190500" marR="190500" marT="133350" marB="114300" anchor="ctr">
                    <a:solidFill>
                      <a:srgbClr val="E8EFF3"/>
                    </a:solidFill>
                  </a:tcPr>
                </a:tc>
              </a:tr>
              <a:tr h="1428750">
                <a:tc>
                  <a:txBody>
                    <a:bodyPr/>
                    <a:lstStyle/>
                    <a:p>
                      <a:r>
                        <a:rPr sz="2700" b="1">
                          <a:solidFill>
                            <a:srgbClr val="10344D"/>
                          </a:solidFill>
                          <a:latin typeface="맑은 고딕"/>
                          <a:ea typeface="맑은 고딕"/>
                          <a:cs typeface="맑은 고딕"/>
                        </a:rPr>
                        <a:t>문의 과정의 반복</a:t>
                      </a:r>
                    </a:p>
                  </a:txBody>
                  <a:tcPr marL="190500" marR="190500" marT="133350" marB="114300" anchor="ctr">
                    <a:solidFill>
                      <a:srgbClr val="FFFFFF"/>
                    </a:solidFill>
                  </a:tcPr>
                </a:tc>
                <a:tc>
                  <a:txBody>
                    <a:bodyPr/>
                    <a:lstStyle/>
                    <a:p>
                      <a:r>
                        <a:rPr sz="2700" b="0">
                          <a:solidFill>
                            <a:srgbClr val="10344D"/>
                          </a:solidFill>
                          <a:latin typeface="맑은 고딕"/>
                          <a:ea typeface="맑은 고딕"/>
                          <a:cs typeface="맑은 고딕"/>
                        </a:rPr>
                        <a:t>조건 설명, 규정 재확인, 담당자 문의를</a:t>
                      </a:r>
                    </a:p>
                    <a:p>
                      <a:r>
                        <a:rPr sz="2700" b="0">
                          <a:solidFill>
                            <a:srgbClr val="10344D"/>
                          </a:solidFill>
                          <a:latin typeface="맑은 고딕"/>
                          <a:ea typeface="맑은 고딕"/>
                          <a:cs typeface="맑은 고딕"/>
                        </a:rPr>
                        <a:t>직원이 여러 단계에 걸쳐 준비</a:t>
                      </a:r>
                    </a:p>
                  </a:txBody>
                  <a:tcPr marL="190500" marR="190500" marT="133350" marB="114300" anchor="ctr">
                    <a:solidFill>
                      <a:srgbClr val="FFFFFF"/>
                    </a:solidFill>
                  </a:tcPr>
                </a:tc>
                <a:tc>
                  <a:txBody>
                    <a:bodyPr/>
                    <a:lstStyle/>
                    <a:p>
                      <a:r>
                        <a:rPr sz="2700" b="0">
                          <a:solidFill>
                            <a:srgbClr val="10344D"/>
                          </a:solidFill>
                          <a:latin typeface="맑은 고딕"/>
                          <a:ea typeface="맑은 고딕"/>
                          <a:cs typeface="맑은 고딕"/>
                        </a:rPr>
                        <a:t>기본 안내와 예외 판단을</a:t>
                      </a:r>
                    </a:p>
                    <a:p>
                      <a:r>
                        <a:rPr sz="2700" b="0">
                          <a:solidFill>
                            <a:srgbClr val="10344D"/>
                          </a:solidFill>
                          <a:latin typeface="맑은 고딕"/>
                          <a:ea typeface="맑은 고딕"/>
                          <a:cs typeface="맑은 고딕"/>
                        </a:rPr>
                        <a:t>구분해 문의를 정리할 필요</a:t>
                      </a:r>
                    </a:p>
                  </a:txBody>
                  <a:tcPr marL="190500" marR="190500" marT="133350" marB="114300" anchor="ctr">
                    <a:solidFill>
                      <a:srgbClr val="FFFFFF"/>
                    </a:solidFill>
                  </a:tcPr>
                </a:tc>
              </a:tr>
            </a:tbl>
          </a:graphicData>
        </a:graphic>
      </p:graphicFrame>
      <p:sp>
        <p:nvSpPr>
          <p:cNvPr id="5" name="v3-text-9">
            <a:extLst xmlns:a="http://schemas.openxmlformats.org/drawingml/2006/main">
              <a:ext uri="{FF2B5EF4-FFF2-40B4-BE49-F238E27FC236}">
                <a16:creationId xmlns:a16="http://schemas.microsoft.com/office/drawing/2014/main" id="{AB41F2C4-89A6-47D2-A7FE-2614FCC04E70}"/>
              </a:ext>
            </a:extLst>
          </p:cNvPr>
          <p:cNvSpPr>
            <a:spLocks xmlns:a="http://schemas.openxmlformats.org/drawingml/2006/main" noGrp="1"/>
          </p:cNvSpPr>
          <p:nvPr/>
        </p:nvSpPr>
        <p:spPr>
          <a:xfrm xmlns:a="http://schemas.openxmlformats.org/drawingml/2006/main">
            <a:off x="2629242" y="10763250"/>
            <a:ext cx="276261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0344D"/>
                </a:solidFill>
                <a:latin typeface="맑은 고딕"/>
                <a:ea typeface="맑은 고딕"/>
                <a:cs typeface="맑은 고딕"/>
              </a:defRPr>
            </a:pPr>
            <a:r>
              <a:rPr sz="3000" b="1">
                <a:solidFill>
                  <a:srgbClr val="10344D"/>
                </a:solidFill>
                <a:latin typeface="맑은 고딕"/>
                <a:ea typeface="맑은 고딕"/>
                <a:cs typeface="맑은 고딕"/>
              </a:rPr>
              <a:t>선정 이유</a:t>
            </a:r>
          </a:p>
        </p:txBody>
      </p:sp>
      <p:sp>
        <p:nvSpPr>
          <p:cNvPr id="6" name="v3-text-10">
            <a:extLst xmlns:a="http://schemas.openxmlformats.org/drawingml/2006/main">
              <a:ext uri="{FF2B5EF4-FFF2-40B4-BE49-F238E27FC236}">
                <a16:creationId xmlns:a16="http://schemas.microsoft.com/office/drawing/2014/main" id="{71DA389E-12E6-4B38-BD17-8582B7EB7DFE}"/>
              </a:ext>
            </a:extLst>
          </p:cNvPr>
          <p:cNvSpPr>
            <a:spLocks xmlns:a="http://schemas.openxmlformats.org/drawingml/2006/main" noGrp="1"/>
          </p:cNvSpPr>
          <p:nvPr/>
        </p:nvSpPr>
        <p:spPr>
          <a:xfrm xmlns:a="http://schemas.openxmlformats.org/drawingml/2006/main">
            <a:off x="5620482" y="10725150"/>
            <a:ext cx="1705197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0">
                <a:solidFill>
                  <a:srgbClr val="10344D"/>
                </a:solidFill>
                <a:latin typeface="맑은 고딕"/>
                <a:ea typeface="맑은 고딕"/>
                <a:cs typeface="맑은 고딕"/>
              </a:defRPr>
            </a:pPr>
            <a:r>
              <a:rPr sz="3000" b="0">
                <a:solidFill>
                  <a:srgbClr val="10344D"/>
                </a:solidFill>
                <a:latin typeface="맑은 고딕"/>
                <a:ea typeface="맑은 고딕"/>
                <a:cs typeface="맑은 고딕"/>
              </a:rPr>
              <a:t>규정이라는 근거가 있고, 검색·조건 확인·문의 준비를 하나의 흐름으로 개선할 수 있는 업무</a:t>
            </a:r>
          </a:p>
        </p:txBody>
      </p:sp>
      <p:sp>
        <p:nvSpPr>
          <p:cNvPr id="7" name="v3-text-11">
            <a:extLst xmlns:a="http://schemas.openxmlformats.org/drawingml/2006/main">
              <a:ext uri="{FF2B5EF4-FFF2-40B4-BE49-F238E27FC236}">
                <a16:creationId xmlns:a16="http://schemas.microsoft.com/office/drawing/2014/main" id="{FED535DA-24F8-4128-A821-661A375AF253}"/>
              </a:ext>
            </a:extLst>
          </p:cNvPr>
          <p:cNvSpPr>
            <a:spLocks xmlns:a="http://schemas.openxmlformats.org/drawingml/2006/main" noGrp="1"/>
          </p:cNvSpPr>
          <p:nvPr/>
        </p:nvSpPr>
        <p:spPr>
          <a:xfrm xmlns:a="http://schemas.openxmlformats.org/drawingml/2006/main">
            <a:off x="2629242" y="11925300"/>
            <a:ext cx="20195629"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26573"/>
                </a:solidFill>
                <a:latin typeface="맑은 고딕"/>
                <a:ea typeface="맑은 고딕"/>
                <a:cs typeface="맑은 고딕"/>
              </a:defRPr>
            </a:pPr>
            <a:r>
              <a:rPr sz="1950" b="0">
                <a:solidFill>
                  <a:srgbClr val="526573"/>
                </a:solidFill>
                <a:latin typeface="맑은 고딕"/>
                <a:ea typeface="맑은 고딕"/>
                <a:cs typeface="맑은 고딕"/>
              </a:rPr>
              <a:t>사례 출처: 프로젝트 질문·개발 기록. 문의 빈도와 처리 시간은 실측 전이며, 현행 업무의 정량 효과로 주장하지 않음</a:t>
            </a:r>
          </a:p>
        </p:txBody>
      </p:sp>
    </p:spTree>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v3-text-12">
            <a:extLst xmlns:a="http://schemas.openxmlformats.org/drawingml/2006/main">
              <a:ext uri="{FF2B5EF4-FFF2-40B4-BE49-F238E27FC236}">
                <a16:creationId xmlns:a16="http://schemas.microsoft.com/office/drawing/2014/main" id="{472DEF30-158A-4E8C-A933-DEB8A41BD03F}"/>
              </a:ext>
            </a:extLst>
          </p:cNvPr>
          <p:cNvSpPr>
            <a:spLocks xmlns:a="http://schemas.openxmlformats.org/drawingml/2006/main" noGrp="1"/>
          </p:cNvSpPr>
          <p:nvPr/>
        </p:nvSpPr>
        <p:spPr>
          <a:xfrm xmlns:a="http://schemas.openxmlformats.org/drawingml/2006/main">
            <a:off x="2629242" y="2324100"/>
            <a:ext cx="20386154"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1">
                <a:solidFill>
                  <a:srgbClr val="10344D"/>
                </a:solidFill>
                <a:latin typeface="맑은 고딕"/>
                <a:ea typeface="맑은 고딕"/>
                <a:cs typeface="맑은 고딕"/>
              </a:defRPr>
            </a:pPr>
            <a:r>
              <a:rPr sz="4350" b="1">
                <a:solidFill>
                  <a:srgbClr val="10344D"/>
                </a:solidFill>
                <a:latin typeface="맑은 고딕"/>
                <a:ea typeface="맑은 고딕"/>
                <a:cs typeface="맑은 고딕"/>
              </a:rPr>
              <a:t>개선 가설과 현재 상담 범위</a:t>
            </a:r>
          </a:p>
        </p:txBody>
      </p:sp>
      <p:sp>
        <p:nvSpPr>
          <p:cNvPr id="2" name="v3-text-13">
            <a:extLst xmlns:a="http://schemas.openxmlformats.org/drawingml/2006/main">
              <a:ext uri="{FF2B5EF4-FFF2-40B4-BE49-F238E27FC236}">
                <a16:creationId xmlns:a16="http://schemas.microsoft.com/office/drawing/2014/main" id="{63B31705-CE86-4B2E-8061-F1750D784D2F}"/>
              </a:ext>
            </a:extLst>
          </p:cNvPr>
          <p:cNvSpPr>
            <a:spLocks xmlns:a="http://schemas.openxmlformats.org/drawingml/2006/main" noGrp="1"/>
          </p:cNvSpPr>
          <p:nvPr/>
        </p:nvSpPr>
        <p:spPr>
          <a:xfrm xmlns:a="http://schemas.openxmlformats.org/drawingml/2006/main">
            <a:off x="2629242" y="3390900"/>
            <a:ext cx="20005104"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526573"/>
                </a:solidFill>
                <a:latin typeface="맑은 고딕"/>
                <a:ea typeface="맑은 고딕"/>
                <a:cs typeface="맑은 고딕"/>
              </a:defRPr>
            </a:pPr>
            <a:r>
              <a:rPr sz="2550" b="0">
                <a:solidFill>
                  <a:srgbClr val="526573"/>
                </a:solidFill>
                <a:latin typeface="맑은 고딕"/>
                <a:ea typeface="맑은 고딕"/>
                <a:cs typeface="맑은 고딕"/>
              </a:rPr>
              <a:t>관련 규정과 확인 조건을 함께 제공하면, 직원의 기본 확인과 담당자 문의 준비를 줄일 수 있습니다</a:t>
            </a:r>
          </a:p>
        </p:txBody>
      </p:sp>
      <p:sp>
        <p:nvSpPr>
          <p:cNvPr id="3" name="v3-text-14">
            <a:extLst xmlns:a="http://schemas.openxmlformats.org/drawingml/2006/main">
              <a:ext uri="{FF2B5EF4-FFF2-40B4-BE49-F238E27FC236}">
                <a16:creationId xmlns:a16="http://schemas.microsoft.com/office/drawing/2014/main" id="{951F3E70-B6C0-46C9-9175-F812E9BE92DF}"/>
              </a:ext>
            </a:extLst>
          </p:cNvPr>
          <p:cNvSpPr>
            <a:spLocks xmlns:a="http://schemas.openxmlformats.org/drawingml/2006/main" noGrp="1"/>
          </p:cNvSpPr>
          <p:nvPr/>
        </p:nvSpPr>
        <p:spPr>
          <a:xfrm xmlns:a="http://schemas.openxmlformats.org/drawingml/2006/main">
            <a:off x="22386665" y="12649200"/>
            <a:ext cx="914519"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800" b="0">
                <a:solidFill>
                  <a:srgbClr val="526573"/>
                </a:solidFill>
                <a:latin typeface="맑은 고딕"/>
                <a:ea typeface="맑은 고딕"/>
                <a:cs typeface="맑은 고딕"/>
              </a:defRPr>
            </a:pPr>
            <a:r>
              <a:rPr sz="1800" b="0">
                <a:solidFill>
                  <a:srgbClr val="526573"/>
                </a:solidFill>
                <a:latin typeface="맑은 고딕"/>
                <a:ea typeface="맑은 고딕"/>
                <a:cs typeface="맑은 고딕"/>
              </a:rPr>
              <a:t>04</a:t>
            </a:r>
          </a:p>
        </p:txBody>
      </p:sp>
      <p:graphicFrame>
        <p:nvGraphicFramePr>
          <p:cNvPr id="13" name=""/>
          <p:cNvGraphicFramePr/>
          <p:nvPr/>
        </p:nvGraphicFramePr>
        <p:xfrm>
          <a:off xmlns:a="http://schemas.openxmlformats.org/drawingml/2006/main" x="2629242" y="4381500"/>
          <a:ext xmlns:a="http://schemas.openxmlformats.org/drawingml/2006/main" cx="20195629" cy="5562600"/>
        </p:xfrm>
        <a:graphic xmlns:a="http://schemas.openxmlformats.org/drawingml/2006/main">
          <a:graphicData uri="http://schemas.openxmlformats.org/drawingml/2006/table">
            <a:tbl>
              <a:tblPr/>
              <a:tblGrid>
                <a:gridCol w="3619971"/>
                <a:gridCol w="9335715"/>
                <a:gridCol w="7239943"/>
              </a:tblGrid>
              <a:tr h="1112520">
                <a:tc>
                  <a:txBody>
                    <a:bodyPr/>
                    <a:lstStyle/>
                    <a:p>
                      <a:r>
                        <a:rPr sz="2550" b="1">
                          <a:solidFill>
                            <a:srgbClr val="FFFFFF"/>
                          </a:solidFill>
                          <a:latin typeface="맑은 고딕"/>
                          <a:ea typeface="맑은 고딕"/>
                          <a:cs typeface="맑은 고딕"/>
                        </a:rPr>
                        <a:t>분야</a:t>
                      </a:r>
                    </a:p>
                  </a:txBody>
                  <a:tcPr marL="190500" marR="190500" marT="133350" marB="114300" anchor="ctr">
                    <a:solidFill>
                      <a:srgbClr val="082D65"/>
                    </a:solidFill>
                  </a:tcPr>
                </a:tc>
                <a:tc>
                  <a:txBody>
                    <a:bodyPr/>
                    <a:lstStyle/>
                    <a:p>
                      <a:r>
                        <a:rPr sz="2550" b="1">
                          <a:solidFill>
                            <a:srgbClr val="FFFFFF"/>
                          </a:solidFill>
                          <a:latin typeface="맑은 고딕"/>
                          <a:ea typeface="맑은 고딕"/>
                          <a:cs typeface="맑은 고딕"/>
                        </a:rPr>
                        <a:t>대표 질문</a:t>
                      </a:r>
                    </a:p>
                  </a:txBody>
                  <a:tcPr marL="190500" marR="190500" marT="133350" marB="114300" anchor="ctr">
                    <a:solidFill>
                      <a:srgbClr val="082D65"/>
                    </a:solidFill>
                  </a:tcPr>
                </a:tc>
                <a:tc>
                  <a:txBody>
                    <a:bodyPr/>
                    <a:lstStyle/>
                    <a:p>
                      <a:r>
                        <a:rPr sz="2550" b="1">
                          <a:solidFill>
                            <a:srgbClr val="FFFFFF"/>
                          </a:solidFill>
                          <a:latin typeface="맑은 고딕"/>
                          <a:ea typeface="맑은 고딕"/>
                          <a:cs typeface="맑은 고딕"/>
                        </a:rPr>
                        <a:t>현재 안내 범위</a:t>
                      </a:r>
                    </a:p>
                  </a:txBody>
                  <a:tcPr marL="190500" marR="190500" marT="133350" marB="114300" anchor="ctr">
                    <a:solidFill>
                      <a:srgbClr val="082D65"/>
                    </a:solidFill>
                  </a:tcPr>
                </a:tc>
              </a:tr>
              <a:tr h="1112520">
                <a:tc>
                  <a:txBody>
                    <a:bodyPr/>
                    <a:lstStyle/>
                    <a:p>
                      <a:r>
                        <a:rPr sz="2700" b="1">
                          <a:solidFill>
                            <a:srgbClr val="10344D"/>
                          </a:solidFill>
                          <a:latin typeface="맑은 고딕"/>
                          <a:ea typeface="맑은 고딕"/>
                          <a:cs typeface="맑은 고딕"/>
                        </a:rPr>
                        <a:t>출장·여비</a:t>
                      </a:r>
                    </a:p>
                  </a:txBody>
                  <a:tcPr marL="190500" marR="190500" marT="133350" marB="114300" anchor="ctr">
                    <a:solidFill>
                      <a:srgbClr val="FFFFFF"/>
                    </a:solidFill>
                  </a:tcPr>
                </a:tc>
                <a:tc>
                  <a:txBody>
                    <a:bodyPr/>
                    <a:lstStyle/>
                    <a:p>
                      <a:r>
                        <a:rPr sz="2700" b="0">
                          <a:solidFill>
                            <a:srgbClr val="10344D"/>
                          </a:solidFill>
                          <a:latin typeface="맑은 고딕"/>
                          <a:ea typeface="맑은 고딕"/>
                          <a:cs typeface="맑은 고딕"/>
                        </a:rPr>
                        <a:t>출장 숙박비와 교통비는 어떻게 계산하나요?</a:t>
                      </a:r>
                    </a:p>
                  </a:txBody>
                  <a:tcPr marL="190500" marR="190500" marT="133350" marB="114300" anchor="ctr">
                    <a:solidFill>
                      <a:srgbClr val="FFFFFF"/>
                    </a:solidFill>
                  </a:tcPr>
                </a:tc>
                <a:tc>
                  <a:txBody>
                    <a:bodyPr/>
                    <a:lstStyle/>
                    <a:p>
                      <a:r>
                        <a:rPr sz="2700" b="0">
                          <a:solidFill>
                            <a:srgbClr val="10344D"/>
                          </a:solidFill>
                          <a:latin typeface="맑은 고딕"/>
                          <a:ea typeface="맑은 고딕"/>
                          <a:cs typeface="맑은 고딕"/>
                        </a:rPr>
                        <a:t>비용 기준 · 일정·지역 조건 · 예외 확인</a:t>
                      </a:r>
                    </a:p>
                  </a:txBody>
                  <a:tcPr marL="190500" marR="190500" marT="133350" marB="114300" anchor="ctr">
                    <a:solidFill>
                      <a:srgbClr val="FFFFFF"/>
                    </a:solidFill>
                  </a:tcPr>
                </a:tc>
              </a:tr>
              <a:tr h="1112520">
                <a:tc>
                  <a:txBody>
                    <a:bodyPr/>
                    <a:lstStyle/>
                    <a:p>
                      <a:r>
                        <a:rPr sz="2700" b="1">
                          <a:solidFill>
                            <a:srgbClr val="10344D"/>
                          </a:solidFill>
                          <a:latin typeface="맑은 고딕"/>
                          <a:ea typeface="맑은 고딕"/>
                          <a:cs typeface="맑은 고딕"/>
                        </a:rPr>
                        <a:t>경조금</a:t>
                      </a:r>
                    </a:p>
                  </a:txBody>
                  <a:tcPr marL="190500" marR="190500" marT="133350" marB="114300" anchor="ctr">
                    <a:solidFill>
                      <a:srgbClr val="E8EFF3"/>
                    </a:solidFill>
                  </a:tcPr>
                </a:tc>
                <a:tc>
                  <a:txBody>
                    <a:bodyPr/>
                    <a:lstStyle/>
                    <a:p>
                      <a:r>
                        <a:rPr sz="2700" b="0">
                          <a:solidFill>
                            <a:srgbClr val="10344D"/>
                          </a:solidFill>
                          <a:latin typeface="맑은 고딕"/>
                          <a:ea typeface="맑은 고딕"/>
                          <a:cs typeface="맑은 고딕"/>
                        </a:rPr>
                        <a:t>형제가 결혼하는데 어떤 서류를 내나요?</a:t>
                      </a:r>
                    </a:p>
                  </a:txBody>
                  <a:tcPr marL="190500" marR="190500" marT="133350" marB="114300" anchor="ctr">
                    <a:solidFill>
                      <a:srgbClr val="E8EFF3"/>
                    </a:solidFill>
                  </a:tcPr>
                </a:tc>
                <a:tc>
                  <a:txBody>
                    <a:bodyPr/>
                    <a:lstStyle/>
                    <a:p>
                      <a:r>
                        <a:rPr sz="2700" b="0">
                          <a:solidFill>
                            <a:srgbClr val="10344D"/>
                          </a:solidFill>
                          <a:latin typeface="맑은 고딕"/>
                          <a:ea typeface="맑은 고딕"/>
                          <a:cs typeface="맑은 고딕"/>
                        </a:rPr>
                        <a:t>지급 기준 · 가족관계 · 제출 서류</a:t>
                      </a:r>
                    </a:p>
                  </a:txBody>
                  <a:tcPr marL="190500" marR="190500" marT="133350" marB="114300" anchor="ctr">
                    <a:solidFill>
                      <a:srgbClr val="E8EFF3"/>
                    </a:solidFill>
                  </a:tcPr>
                </a:tc>
              </a:tr>
              <a:tr h="1112520">
                <a:tc>
                  <a:txBody>
                    <a:bodyPr/>
                    <a:lstStyle/>
                    <a:p>
                      <a:r>
                        <a:rPr sz="2700" b="1">
                          <a:solidFill>
                            <a:srgbClr val="10344D"/>
                          </a:solidFill>
                          <a:latin typeface="맑은 고딕"/>
                          <a:ea typeface="맑은 고딕"/>
                          <a:cs typeface="맑은 고딕"/>
                        </a:rPr>
                        <a:t>숙소지원금</a:t>
                      </a:r>
                    </a:p>
                  </a:txBody>
                  <a:tcPr marL="190500" marR="190500" marT="133350" marB="114300" anchor="ctr">
                    <a:solidFill>
                      <a:srgbClr val="FFFFFF"/>
                    </a:solidFill>
                  </a:tcPr>
                </a:tc>
                <a:tc>
                  <a:txBody>
                    <a:bodyPr/>
                    <a:lstStyle/>
                    <a:p>
                      <a:r>
                        <a:rPr sz="2700" b="0">
                          <a:solidFill>
                            <a:srgbClr val="10344D"/>
                          </a:solidFill>
                          <a:latin typeface="맑은 고딕"/>
                          <a:ea typeface="맑은 고딕"/>
                          <a:cs typeface="맑은 고딕"/>
                        </a:rPr>
                        <a:t>타지역 발령 시 숙소지원금을 받을 수 있나요?</a:t>
                      </a:r>
                    </a:p>
                  </a:txBody>
                  <a:tcPr marL="190500" marR="190500" marT="133350" marB="114300" anchor="ctr">
                    <a:solidFill>
                      <a:srgbClr val="FFFFFF"/>
                    </a:solidFill>
                  </a:tcPr>
                </a:tc>
                <a:tc>
                  <a:txBody>
                    <a:bodyPr/>
                    <a:lstStyle/>
                    <a:p>
                      <a:r>
                        <a:rPr sz="2700" b="0">
                          <a:solidFill>
                            <a:srgbClr val="10344D"/>
                          </a:solidFill>
                          <a:latin typeface="맑은 고딕"/>
                          <a:ea typeface="맑은 고딕"/>
                          <a:cs typeface="맑은 고딕"/>
                        </a:rPr>
                        <a:t>지원 대상 · 거주 조건 · 추가 확인</a:t>
                      </a:r>
                    </a:p>
                  </a:txBody>
                  <a:tcPr marL="190500" marR="190500" marT="133350" marB="114300" anchor="ctr">
                    <a:solidFill>
                      <a:srgbClr val="FFFFFF"/>
                    </a:solidFill>
                  </a:tcPr>
                </a:tc>
              </a:tr>
              <a:tr h="1112520">
                <a:tc>
                  <a:txBody>
                    <a:bodyPr/>
                    <a:lstStyle/>
                    <a:p>
                      <a:r>
                        <a:rPr sz="2700" b="1">
                          <a:solidFill>
                            <a:srgbClr val="10344D"/>
                          </a:solidFill>
                          <a:latin typeface="맑은 고딕"/>
                          <a:ea typeface="맑은 고딕"/>
                          <a:cs typeface="맑은 고딕"/>
                        </a:rPr>
                        <a:t>동호회</a:t>
                      </a:r>
                    </a:p>
                  </a:txBody>
                  <a:tcPr marL="190500" marR="190500" marT="133350" marB="114300" anchor="ctr">
                    <a:solidFill>
                      <a:srgbClr val="E8EFF3"/>
                    </a:solidFill>
                  </a:tcPr>
                </a:tc>
                <a:tc>
                  <a:txBody>
                    <a:bodyPr/>
                    <a:lstStyle/>
                    <a:p>
                      <a:r>
                        <a:rPr sz="2700" b="0">
                          <a:solidFill>
                            <a:srgbClr val="10344D"/>
                          </a:solidFill>
                          <a:latin typeface="맑은 고딕"/>
                          <a:ea typeface="맑은 고딕"/>
                          <a:cs typeface="맑은 고딕"/>
                        </a:rPr>
                        <a:t>낚시 동호회를 새로 만들 수 있나요?</a:t>
                      </a:r>
                    </a:p>
                  </a:txBody>
                  <a:tcPr marL="190500" marR="190500" marT="133350" marB="114300" anchor="ctr">
                    <a:solidFill>
                      <a:srgbClr val="E8EFF3"/>
                    </a:solidFill>
                  </a:tcPr>
                </a:tc>
                <a:tc>
                  <a:txBody>
                    <a:bodyPr/>
                    <a:lstStyle/>
                    <a:p>
                      <a:r>
                        <a:rPr sz="2700" b="0">
                          <a:solidFill>
                            <a:srgbClr val="10344D"/>
                          </a:solidFill>
                          <a:latin typeface="맑은 고딕"/>
                          <a:ea typeface="맑은 고딕"/>
                          <a:cs typeface="맑은 고딕"/>
                        </a:rPr>
                        <a:t>등록 기준 · 준비 서류 · 신청 초안</a:t>
                      </a:r>
                    </a:p>
                  </a:txBody>
                  <a:tcPr marL="190500" marR="190500" marT="133350" marB="114300" anchor="ctr">
                    <a:solidFill>
                      <a:srgbClr val="E8EFF3"/>
                    </a:solidFill>
                  </a:tcPr>
                </a:tc>
              </a:tr>
            </a:tbl>
          </a:graphicData>
        </a:graphic>
      </p:graphicFrame>
      <p:sp>
        <p:nvSpPr>
          <p:cNvPr id="5" name="v3-text-15">
            <a:extLst xmlns:a="http://schemas.openxmlformats.org/drawingml/2006/main">
              <a:ext uri="{FF2B5EF4-FFF2-40B4-BE49-F238E27FC236}">
                <a16:creationId xmlns:a16="http://schemas.microsoft.com/office/drawing/2014/main" id="{EB83F0EF-88ED-48D3-8AB5-DF385DDF9599}"/>
              </a:ext>
            </a:extLst>
          </p:cNvPr>
          <p:cNvSpPr>
            <a:spLocks xmlns:a="http://schemas.openxmlformats.org/drawingml/2006/main" noGrp="1"/>
          </p:cNvSpPr>
          <p:nvPr/>
        </p:nvSpPr>
        <p:spPr>
          <a:xfrm xmlns:a="http://schemas.openxmlformats.org/drawingml/2006/main">
            <a:off x="2629242" y="10477500"/>
            <a:ext cx="276261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0344D"/>
                </a:solidFill>
                <a:latin typeface="맑은 고딕"/>
                <a:ea typeface="맑은 고딕"/>
                <a:cs typeface="맑은 고딕"/>
              </a:defRPr>
            </a:pPr>
            <a:r>
              <a:rPr sz="3000" b="1">
                <a:solidFill>
                  <a:srgbClr val="10344D"/>
                </a:solidFill>
                <a:latin typeface="맑은 고딕"/>
                <a:ea typeface="맑은 고딕"/>
                <a:cs typeface="맑은 고딕"/>
              </a:rPr>
              <a:t>현재 구현</a:t>
            </a:r>
          </a:p>
        </p:txBody>
      </p:sp>
      <p:sp>
        <p:nvSpPr>
          <p:cNvPr id="6" name="v3-text-16">
            <a:extLst xmlns:a="http://schemas.openxmlformats.org/drawingml/2006/main">
              <a:ext uri="{FF2B5EF4-FFF2-40B4-BE49-F238E27FC236}">
                <a16:creationId xmlns:a16="http://schemas.microsoft.com/office/drawing/2014/main" id="{5B698132-E637-4271-ACD9-61C3D1E56FE6}"/>
              </a:ext>
            </a:extLst>
          </p:cNvPr>
          <p:cNvSpPr>
            <a:spLocks xmlns:a="http://schemas.openxmlformats.org/drawingml/2006/main" noGrp="1"/>
          </p:cNvSpPr>
          <p:nvPr/>
        </p:nvSpPr>
        <p:spPr>
          <a:xfrm xmlns:a="http://schemas.openxmlformats.org/drawingml/2006/main">
            <a:off x="5620482" y="10477500"/>
            <a:ext cx="17147232"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0">
                <a:solidFill>
                  <a:srgbClr val="10344D"/>
                </a:solidFill>
                <a:latin typeface="맑은 고딕"/>
                <a:ea typeface="맑은 고딕"/>
                <a:cs typeface="맑은 고딕"/>
              </a:defRPr>
            </a:pPr>
            <a:r>
              <a:rPr sz="3000" b="0">
                <a:solidFill>
                  <a:srgbClr val="10344D"/>
                </a:solidFill>
                <a:latin typeface="맑은 고딕"/>
                <a:ea typeface="맑은 고딕"/>
                <a:cs typeface="맑은 고딕"/>
              </a:rPr>
              <a:t>4개 분야 상담, 근거 링크, 추가 확인, 문의·신청 초안</a:t>
            </a:r>
          </a:p>
        </p:txBody>
      </p:sp>
      <p:sp>
        <p:nvSpPr>
          <p:cNvPr id="7" name="v3-text-17">
            <a:extLst xmlns:a="http://schemas.openxmlformats.org/drawingml/2006/main">
              <a:ext uri="{FF2B5EF4-FFF2-40B4-BE49-F238E27FC236}">
                <a16:creationId xmlns:a16="http://schemas.microsoft.com/office/drawing/2014/main" id="{0E29C64B-37B8-4742-AC02-416407BC304E}"/>
              </a:ext>
            </a:extLst>
          </p:cNvPr>
          <p:cNvSpPr>
            <a:spLocks xmlns:a="http://schemas.openxmlformats.org/drawingml/2006/main" noGrp="1"/>
          </p:cNvSpPr>
          <p:nvPr/>
        </p:nvSpPr>
        <p:spPr>
          <a:xfrm xmlns:a="http://schemas.openxmlformats.org/drawingml/2006/main">
            <a:off x="2629242" y="11277600"/>
            <a:ext cx="276261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0344D"/>
                </a:solidFill>
                <a:latin typeface="맑은 고딕"/>
                <a:ea typeface="맑은 고딕"/>
                <a:cs typeface="맑은 고딕"/>
              </a:defRPr>
            </a:pPr>
            <a:r>
              <a:rPr sz="3000" b="1">
                <a:solidFill>
                  <a:srgbClr val="10344D"/>
                </a:solidFill>
                <a:latin typeface="맑은 고딕"/>
                <a:ea typeface="맑은 고딕"/>
                <a:cs typeface="맑은 고딕"/>
              </a:rPr>
              <a:t>운영 전 과제</a:t>
            </a:r>
          </a:p>
        </p:txBody>
      </p:sp>
      <p:sp>
        <p:nvSpPr>
          <p:cNvPr id="8" name="v3-text-18">
            <a:extLst xmlns:a="http://schemas.openxmlformats.org/drawingml/2006/main">
              <a:ext uri="{FF2B5EF4-FFF2-40B4-BE49-F238E27FC236}">
                <a16:creationId xmlns:a16="http://schemas.microsoft.com/office/drawing/2014/main" id="{44E93A1C-C955-4FCD-B52C-5701C2E2C350}"/>
              </a:ext>
            </a:extLst>
          </p:cNvPr>
          <p:cNvSpPr>
            <a:spLocks xmlns:a="http://schemas.openxmlformats.org/drawingml/2006/main" noGrp="1"/>
          </p:cNvSpPr>
          <p:nvPr/>
        </p:nvSpPr>
        <p:spPr>
          <a:xfrm xmlns:a="http://schemas.openxmlformats.org/drawingml/2006/main">
            <a:off x="5620482" y="11277600"/>
            <a:ext cx="17147232"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0">
                <a:solidFill>
                  <a:srgbClr val="10344D"/>
                </a:solidFill>
                <a:latin typeface="맑은 고딕"/>
                <a:ea typeface="맑은 고딕"/>
                <a:cs typeface="맑은 고딕"/>
              </a:defRPr>
            </a:pPr>
            <a:r>
              <a:rPr sz="3000" b="0">
                <a:solidFill>
                  <a:srgbClr val="10344D"/>
                </a:solidFill>
                <a:latin typeface="맑은 고딕"/>
                <a:ea typeface="맑은 고딕"/>
                <a:cs typeface="맑은 고딕"/>
              </a:rPr>
              <a:t>최종 승인, 사내 인증, 실제 메일 발송·신청 시스템 연계</a:t>
            </a:r>
          </a:p>
        </p:txBody>
      </p:sp>
      <p:sp>
        <p:nvSpPr>
          <p:cNvPr id="9" name="v3-text-19">
            <a:extLst xmlns:a="http://schemas.openxmlformats.org/drawingml/2006/main">
              <a:ext uri="{FF2B5EF4-FFF2-40B4-BE49-F238E27FC236}">
                <a16:creationId xmlns:a16="http://schemas.microsoft.com/office/drawing/2014/main" id="{F1F3CC0E-F98B-49FE-AA68-BA64DFF40A0B}"/>
              </a:ext>
            </a:extLst>
          </p:cNvPr>
          <p:cNvSpPr>
            <a:spLocks xmlns:a="http://schemas.openxmlformats.org/drawingml/2006/main" noGrp="1"/>
          </p:cNvSpPr>
          <p:nvPr/>
        </p:nvSpPr>
        <p:spPr>
          <a:xfrm xmlns:a="http://schemas.openxmlformats.org/drawingml/2006/main">
            <a:off x="2629242" y="11925300"/>
            <a:ext cx="20195629"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26573"/>
                </a:solidFill>
                <a:latin typeface="맑은 고딕"/>
                <a:ea typeface="맑은 고딕"/>
                <a:cs typeface="맑은 고딕"/>
              </a:defRPr>
            </a:pPr>
            <a:r>
              <a:rPr sz="1950" b="0">
                <a:solidFill>
                  <a:srgbClr val="526573"/>
                </a:solidFill>
                <a:latin typeface="맑은 고딕"/>
                <a:ea typeface="맑은 고딕"/>
                <a:cs typeface="맑은 고딕"/>
              </a:rPr>
              <a:t>효과 검증: 같은 질문의 기준 확인 시간과 담당자 재문의 비율을 파일럿에서 비교</a:t>
            </a:r>
          </a:p>
        </p:txBody>
      </p:sp>
    </p:spTree>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5" name="v3-text-20">
            <a:extLst xmlns:a="http://schemas.openxmlformats.org/drawingml/2006/main">
              <a:ext uri="{FF2B5EF4-FFF2-40B4-BE49-F238E27FC236}">
                <a16:creationId xmlns:a16="http://schemas.microsoft.com/office/drawing/2014/main" id="{19E0CC40-7769-4974-9384-2BF90AAFE36A}"/>
              </a:ext>
            </a:extLst>
          </p:cNvPr>
          <p:cNvSpPr>
            <a:spLocks xmlns:a="http://schemas.openxmlformats.org/drawingml/2006/main" noGrp="1"/>
          </p:cNvSpPr>
          <p:nvPr/>
        </p:nvSpPr>
        <p:spPr>
          <a:xfrm xmlns:a="http://schemas.openxmlformats.org/drawingml/2006/main">
            <a:off x="2629242" y="2324100"/>
            <a:ext cx="20386154"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1">
                <a:solidFill>
                  <a:srgbClr val="10344D"/>
                </a:solidFill>
                <a:latin typeface="맑은 고딕"/>
                <a:ea typeface="맑은 고딕"/>
                <a:cs typeface="맑은 고딕"/>
              </a:defRPr>
            </a:pPr>
            <a:r>
              <a:rPr sz="4350" b="1">
                <a:solidFill>
                  <a:srgbClr val="10344D"/>
                </a:solidFill>
                <a:latin typeface="맑은 고딕"/>
                <a:ea typeface="맑은 고딕"/>
                <a:cs typeface="맑은 고딕"/>
              </a:rPr>
              <a:t>시스템 구성과 데이터 흐름</a:t>
            </a:r>
          </a:p>
        </p:txBody>
      </p:sp>
      <p:sp>
        <p:nvSpPr>
          <p:cNvPr id="2" name="v3-text-21">
            <a:extLst xmlns:a="http://schemas.openxmlformats.org/drawingml/2006/main">
              <a:ext uri="{FF2B5EF4-FFF2-40B4-BE49-F238E27FC236}">
                <a16:creationId xmlns:a16="http://schemas.microsoft.com/office/drawing/2014/main" id="{1B00AA5D-07D8-4144-8ECA-3AD8951CB91C}"/>
              </a:ext>
            </a:extLst>
          </p:cNvPr>
          <p:cNvSpPr>
            <a:spLocks xmlns:a="http://schemas.openxmlformats.org/drawingml/2006/main" noGrp="1"/>
          </p:cNvSpPr>
          <p:nvPr/>
        </p:nvSpPr>
        <p:spPr>
          <a:xfrm xmlns:a="http://schemas.openxmlformats.org/drawingml/2006/main">
            <a:off x="2629242" y="3390900"/>
            <a:ext cx="20005104"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526573"/>
                </a:solidFill>
                <a:latin typeface="맑은 고딕"/>
                <a:ea typeface="맑은 고딕"/>
                <a:cs typeface="맑은 고딕"/>
              </a:defRPr>
            </a:pPr>
            <a:r>
              <a:rPr sz="2550" b="0">
                <a:solidFill>
                  <a:srgbClr val="526573"/>
                </a:solidFill>
                <a:latin typeface="맑은 고딕"/>
                <a:ea typeface="맑은 고딕"/>
                <a:cs typeface="맑은 고딕"/>
              </a:rPr>
              <a:t>규정 준비와 질문 처리를 나누고, LangGraph로 상담의 네 단계를 연결했습니다</a:t>
            </a:r>
          </a:p>
        </p:txBody>
      </p:sp>
      <p:sp>
        <p:nvSpPr>
          <p:cNvPr id="3" name="v3-text-22">
            <a:extLst xmlns:a="http://schemas.openxmlformats.org/drawingml/2006/main">
              <a:ext uri="{FF2B5EF4-FFF2-40B4-BE49-F238E27FC236}">
                <a16:creationId xmlns:a16="http://schemas.microsoft.com/office/drawing/2014/main" id="{DAA2BEF8-14B6-43FA-BB7B-7972847BDC0B}"/>
              </a:ext>
            </a:extLst>
          </p:cNvPr>
          <p:cNvSpPr>
            <a:spLocks xmlns:a="http://schemas.openxmlformats.org/drawingml/2006/main" noGrp="1"/>
          </p:cNvSpPr>
          <p:nvPr/>
        </p:nvSpPr>
        <p:spPr>
          <a:xfrm xmlns:a="http://schemas.openxmlformats.org/drawingml/2006/main">
            <a:off x="22386665" y="12649200"/>
            <a:ext cx="914519"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800" b="0">
                <a:solidFill>
                  <a:srgbClr val="526573"/>
                </a:solidFill>
                <a:latin typeface="맑은 고딕"/>
                <a:ea typeface="맑은 고딕"/>
                <a:cs typeface="맑은 고딕"/>
              </a:defRPr>
            </a:pPr>
            <a:r>
              <a:rPr sz="1800" b="0">
                <a:solidFill>
                  <a:srgbClr val="526573"/>
                </a:solidFill>
                <a:latin typeface="맑은 고딕"/>
                <a:ea typeface="맑은 고딕"/>
                <a:cs typeface="맑은 고딕"/>
              </a:rPr>
              <a:t>05</a:t>
            </a:r>
          </a:p>
        </p:txBody>
      </p:sp>
      <p:sp>
        <p:nvSpPr>
          <p:cNvPr id="4" name="v3-flow-23">
            <a:extLst xmlns:a="http://schemas.openxmlformats.org/drawingml/2006/main">
              <a:ext uri="{FF2B5EF4-FFF2-40B4-BE49-F238E27FC236}">
                <a16:creationId xmlns:a16="http://schemas.microsoft.com/office/drawing/2014/main" id="{D8AAD111-E633-4A79-A94B-C0D8C7293FA9}"/>
              </a:ext>
            </a:extLst>
          </p:cNvPr>
          <p:cNvSpPr>
            <a:spLocks xmlns:a="http://schemas.openxmlformats.org/drawingml/2006/main" noGrp="1"/>
          </p:cNvSpPr>
          <p:nvPr/>
        </p:nvSpPr>
        <p:spPr>
          <a:xfrm xmlns:a="http://schemas.openxmlformats.org/drawingml/2006/main">
            <a:off x="2629242" y="4514850"/>
            <a:ext cx="3905758" cy="1162050"/>
          </a:xfrm>
          <a:prstGeom xmlns:a="http://schemas.openxmlformats.org/drawingml/2006/main" prst="rect">
            <a:avLst/>
          </a:prstGeom>
          <a:solidFill xmlns:a="http://schemas.openxmlformats.org/drawingml/2006/main">
            <a:srgbClr val="E8EFF3"/>
          </a:solidFill>
          <a:ln xmlns:a="http://schemas.openxmlformats.org/drawingml/2006/main" w="9525">
            <a:solidFill>
              <a:srgbClr val="C9D6DF"/>
            </a:solidFill>
          </a:ln>
        </p:spPr>
        <p:txBody>
          <a:bodyPr xmlns:a="http://schemas.openxmlformats.org/drawingml/2006/main" lIns="190500" tIns="114300" rIns="190500" bIns="114300" anchor="ctr">
            <a:noAutofit/>
          </a:bodyPr>
          <a:lstStyle xmlns:a="http://schemas.openxmlformats.org/drawingml/2006/main"/>
          <a:p xmlns:a="http://schemas.openxmlformats.org/drawingml/2006/main">
            <a:pPr algn="ctr">
              <a:defRPr sz="2850" b="1">
                <a:solidFill>
                  <a:srgbClr val="10344D"/>
                </a:solidFill>
                <a:latin typeface="맑은 고딕"/>
                <a:ea typeface="맑은 고딕"/>
                <a:cs typeface="맑은 고딕"/>
              </a:defRPr>
            </a:pPr>
            <a:r>
              <a:rPr sz="2850" b="1">
                <a:solidFill>
                  <a:srgbClr val="10344D"/>
                </a:solidFill>
                <a:latin typeface="맑은 고딕"/>
                <a:ea typeface="맑은 고딕"/>
                <a:cs typeface="맑은 고딕"/>
              </a:rPr>
              <a:t>규정 6개 문서</a:t>
            </a:r>
          </a:p>
        </p:txBody>
      </p:sp>
      <p:sp>
        <p:nvSpPr>
          <p:cNvPr id="5" name="v3-flow-24">
            <a:extLst xmlns:a="http://schemas.openxmlformats.org/drawingml/2006/main">
              <a:ext uri="{FF2B5EF4-FFF2-40B4-BE49-F238E27FC236}">
                <a16:creationId xmlns:a16="http://schemas.microsoft.com/office/drawing/2014/main" id="{4E2C4B7A-9A15-4AE5-8C34-0E806D12EB38}"/>
              </a:ext>
            </a:extLst>
          </p:cNvPr>
          <p:cNvSpPr>
            <a:spLocks xmlns:a="http://schemas.openxmlformats.org/drawingml/2006/main" noGrp="1"/>
          </p:cNvSpPr>
          <p:nvPr/>
        </p:nvSpPr>
        <p:spPr>
          <a:xfrm xmlns:a="http://schemas.openxmlformats.org/drawingml/2006/main">
            <a:off x="7582887" y="4381500"/>
            <a:ext cx="5239432" cy="1447800"/>
          </a:xfrm>
          <a:prstGeom xmlns:a="http://schemas.openxmlformats.org/drawingml/2006/main" prst="rect">
            <a:avLst/>
          </a:prstGeom>
          <a:solidFill xmlns:a="http://schemas.openxmlformats.org/drawingml/2006/main">
            <a:srgbClr val="E8EFF3"/>
          </a:solidFill>
          <a:ln xmlns:a="http://schemas.openxmlformats.org/drawingml/2006/main" w="9525">
            <a:solidFill>
              <a:srgbClr val="C9D6DF"/>
            </a:solidFill>
          </a:ln>
        </p:spPr>
        <p:txBody>
          <a:bodyPr xmlns:a="http://schemas.openxmlformats.org/drawingml/2006/main" lIns="190500" tIns="114300" rIns="190500" bIns="114300" anchor="ctr">
            <a:noAutofit/>
          </a:bodyPr>
          <a:lstStyle xmlns:a="http://schemas.openxmlformats.org/drawingml/2006/main"/>
          <a:p xmlns:a="http://schemas.openxmlformats.org/drawingml/2006/main">
            <a:pPr algn="ctr">
              <a:defRPr sz="2850" b="1">
                <a:solidFill>
                  <a:srgbClr val="10344D"/>
                </a:solidFill>
                <a:latin typeface="맑은 고딕"/>
                <a:ea typeface="맑은 고딕"/>
                <a:cs typeface="맑은 고딕"/>
              </a:defRPr>
            </a:pPr>
            <a:r>
              <a:rPr sz="2850" b="1">
                <a:solidFill>
                  <a:srgbClr val="10344D"/>
                </a:solidFill>
                <a:latin typeface="맑은 고딕"/>
                <a:ea typeface="맑은 고딕"/>
                <a:cs typeface="맑은 고딕"/>
              </a:rPr>
              <a:t>135개 청크</a:t>
            </a:r>
          </a:p>
          <a:p xmlns:a="http://schemas.openxmlformats.org/drawingml/2006/main">
            <a:pPr algn="ctr">
              <a:defRPr sz="2850" b="1">
                <a:solidFill>
                  <a:srgbClr val="10344D"/>
                </a:solidFill>
                <a:latin typeface="맑은 고딕"/>
                <a:ea typeface="맑은 고딕"/>
                <a:cs typeface="맑은 고딕"/>
              </a:defRPr>
            </a:pPr>
            <a:r>
              <a:rPr sz="2850" b="1">
                <a:solidFill>
                  <a:srgbClr val="10344D"/>
                </a:solidFill>
                <a:latin typeface="맑은 고딕"/>
                <a:ea typeface="맑은 고딕"/>
                <a:cs typeface="맑은 고딕"/>
              </a:rPr>
              <a:t>제목 경로 + 본문</a:t>
            </a:r>
          </a:p>
        </p:txBody>
      </p:sp>
      <p:sp>
        <p:nvSpPr>
          <p:cNvPr id="6" name="v3-flow-25">
            <a:extLst xmlns:a="http://schemas.openxmlformats.org/drawingml/2006/main">
              <a:ext uri="{FF2B5EF4-FFF2-40B4-BE49-F238E27FC236}">
                <a16:creationId xmlns:a16="http://schemas.microsoft.com/office/drawing/2014/main" id="{B67F4814-2517-41B6-8E80-F828E7F06814}"/>
              </a:ext>
            </a:extLst>
          </p:cNvPr>
          <p:cNvSpPr>
            <a:spLocks xmlns:a="http://schemas.openxmlformats.org/drawingml/2006/main" noGrp="1"/>
          </p:cNvSpPr>
          <p:nvPr/>
        </p:nvSpPr>
        <p:spPr>
          <a:xfrm xmlns:a="http://schemas.openxmlformats.org/drawingml/2006/main">
            <a:off x="13870206" y="4381500"/>
            <a:ext cx="8954666" cy="1447800"/>
          </a:xfrm>
          <a:prstGeom xmlns:a="http://schemas.openxmlformats.org/drawingml/2006/main" prst="rect">
            <a:avLst/>
          </a:prstGeom>
          <a:solidFill xmlns:a="http://schemas.openxmlformats.org/drawingml/2006/main">
            <a:srgbClr val="E8EFF3"/>
          </a:solidFill>
          <a:ln xmlns:a="http://schemas.openxmlformats.org/drawingml/2006/main" w="9525">
            <a:solidFill>
              <a:srgbClr val="C9D6DF"/>
            </a:solidFill>
          </a:ln>
        </p:spPr>
        <p:txBody>
          <a:bodyPr xmlns:a="http://schemas.openxmlformats.org/drawingml/2006/main" lIns="190500" tIns="114300" rIns="190500" bIns="114300" anchor="ctr">
            <a:noAutofit/>
          </a:bodyPr>
          <a:lstStyle xmlns:a="http://schemas.openxmlformats.org/drawingml/2006/main"/>
          <a:p xmlns:a="http://schemas.openxmlformats.org/drawingml/2006/main">
            <a:pPr algn="ctr">
              <a:defRPr sz="2850" b="1">
                <a:solidFill>
                  <a:srgbClr val="10344D"/>
                </a:solidFill>
                <a:latin typeface="맑은 고딕"/>
                <a:ea typeface="맑은 고딕"/>
                <a:cs typeface="맑은 고딕"/>
              </a:defRPr>
            </a:pPr>
            <a:r>
              <a:rPr sz="2850" b="1">
                <a:solidFill>
                  <a:srgbClr val="10344D"/>
                </a:solidFill>
                <a:latin typeface="맑은 고딕"/>
                <a:ea typeface="맑은 고딕"/>
                <a:cs typeface="맑은 고딕"/>
              </a:rPr>
              <a:t>키워드 색인 + 임베딩</a:t>
            </a:r>
          </a:p>
          <a:p xmlns:a="http://schemas.openxmlformats.org/drawingml/2006/main">
            <a:pPr algn="ctr">
              <a:defRPr sz="2850" b="1">
                <a:solidFill>
                  <a:srgbClr val="10344D"/>
                </a:solidFill>
                <a:latin typeface="맑은 고딕"/>
                <a:ea typeface="맑은 고딕"/>
                <a:cs typeface="맑은 고딕"/>
              </a:defRPr>
            </a:pPr>
            <a:r>
              <a:rPr sz="2850" b="1">
                <a:solidFill>
                  <a:srgbClr val="10344D"/>
                </a:solidFill>
                <a:latin typeface="맑은 고딕"/>
                <a:ea typeface="맑은 고딕"/>
                <a:cs typeface="맑은 고딕"/>
              </a:rPr>
              <a:t>검색용 데이터 준비</a:t>
            </a:r>
          </a:p>
        </p:txBody>
      </p:sp>
      <p:cxnSp>
        <p:nvCxnSpPr>
          <p:cNvPr id="31" name=""/>
          <p:cNvCxnSpPr>
            <a:stCxn xmlns:a="http://schemas.openxmlformats.org/drawingml/2006/main" id="4" idx="3"/>
            <a:endCxn xmlns:a="http://schemas.openxmlformats.org/drawingml/2006/main" id="5" idx="1"/>
          </p:cNvCxnSpPr>
          <p:nvPr/>
        </p:nvCxnSpPr>
        <p:spPr>
          <a:xfrm xmlns:a="http://schemas.openxmlformats.org/drawingml/2006/main">
            <a:off x="6535000" y="5095875"/>
            <a:ext cx="1047887" cy="9525"/>
          </a:xfrm>
          <a:prstGeom xmlns:a="http://schemas.openxmlformats.org/drawingml/2006/main" prst="straightConnector1">
            <a:avLst/>
          </a:prstGeom>
          <a:ln xmlns:a="http://schemas.openxmlformats.org/drawingml/2006/main" w="38100">
            <a:solidFill>
              <a:srgbClr val="12667B"/>
            </a:solidFill>
            <a:tailEnd type="triangle" w="lg" len="lg"/>
          </a:ln>
        </p:spPr>
      </p:cxnSp>
      <p:cxnSp>
        <p:nvCxnSpPr>
          <p:cNvPr id="32" name=""/>
          <p:cNvCxnSpPr>
            <a:stCxn xmlns:a="http://schemas.openxmlformats.org/drawingml/2006/main" id="5" idx="3"/>
            <a:endCxn xmlns:a="http://schemas.openxmlformats.org/drawingml/2006/main" id="6" idx="1"/>
          </p:cNvCxnSpPr>
          <p:nvPr/>
        </p:nvCxnSpPr>
        <p:spPr>
          <a:xfrm xmlns:a="http://schemas.openxmlformats.org/drawingml/2006/main">
            <a:off x="12822319" y="5105400"/>
            <a:ext cx="1047887" cy="0"/>
          </a:xfrm>
          <a:prstGeom xmlns:a="http://schemas.openxmlformats.org/drawingml/2006/main" prst="straightConnector1">
            <a:avLst/>
          </a:prstGeom>
          <a:ln xmlns:a="http://schemas.openxmlformats.org/drawingml/2006/main" w="38100">
            <a:solidFill>
              <a:srgbClr val="12667B"/>
            </a:solidFill>
            <a:tailEnd type="triangle" w="lg" len="lg"/>
          </a:ln>
        </p:spPr>
      </p:cxnSp>
      <p:sp>
        <p:nvSpPr>
          <p:cNvPr id="9" name="v3-text-26">
            <a:extLst xmlns:a="http://schemas.openxmlformats.org/drawingml/2006/main">
              <a:ext uri="{FF2B5EF4-FFF2-40B4-BE49-F238E27FC236}">
                <a16:creationId xmlns:a16="http://schemas.microsoft.com/office/drawing/2014/main" id="{6C04E6A1-9E79-47BF-B0FE-75EF17DDD1F4}"/>
              </a:ext>
            </a:extLst>
          </p:cNvPr>
          <p:cNvSpPr>
            <a:spLocks xmlns:a="http://schemas.openxmlformats.org/drawingml/2006/main" noGrp="1"/>
          </p:cNvSpPr>
          <p:nvPr/>
        </p:nvSpPr>
        <p:spPr>
          <a:xfrm xmlns:a="http://schemas.openxmlformats.org/drawingml/2006/main">
            <a:off x="2629242" y="6343650"/>
            <a:ext cx="6096794"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0">
                <a:solidFill>
                  <a:srgbClr val="526573"/>
                </a:solidFill>
                <a:latin typeface="맑은 고딕"/>
                <a:ea typeface="맑은 고딕"/>
                <a:cs typeface="맑은 고딕"/>
              </a:defRPr>
            </a:pPr>
            <a:r>
              <a:rPr sz="2700" b="0">
                <a:solidFill>
                  <a:srgbClr val="526573"/>
                </a:solidFill>
                <a:latin typeface="맑은 고딕"/>
                <a:ea typeface="맑은 고딕"/>
                <a:cs typeface="맑은 고딕"/>
              </a:rPr>
              <a:t>질문과 대화 이력 전달</a:t>
            </a:r>
          </a:p>
        </p:txBody>
      </p:sp>
      <p:sp>
        <p:nvSpPr>
          <p:cNvPr id="10" name="v3-flow-27">
            <a:extLst xmlns:a="http://schemas.openxmlformats.org/drawingml/2006/main">
              <a:ext uri="{FF2B5EF4-FFF2-40B4-BE49-F238E27FC236}">
                <a16:creationId xmlns:a16="http://schemas.microsoft.com/office/drawing/2014/main" id="{F2AB1C40-144B-4735-95C9-358D253A0CE6}"/>
              </a:ext>
            </a:extLst>
          </p:cNvPr>
          <p:cNvSpPr>
            <a:spLocks xmlns:a="http://schemas.openxmlformats.org/drawingml/2006/main" noGrp="1"/>
          </p:cNvSpPr>
          <p:nvPr/>
        </p:nvSpPr>
        <p:spPr>
          <a:xfrm xmlns:a="http://schemas.openxmlformats.org/drawingml/2006/main">
            <a:off x="2629242" y="7239000"/>
            <a:ext cx="4477333" cy="2876550"/>
          </a:xfrm>
          <a:prstGeom xmlns:a="http://schemas.openxmlformats.org/drawingml/2006/main" prst="rect">
            <a:avLst/>
          </a:prstGeom>
          <a:solidFill xmlns:a="http://schemas.openxmlformats.org/drawingml/2006/main">
            <a:srgbClr val="FFFFFF"/>
          </a:solidFill>
          <a:ln xmlns:a="http://schemas.openxmlformats.org/drawingml/2006/main" w="9525">
            <a:solidFill>
              <a:srgbClr val="C9D6DF"/>
            </a:solidFill>
          </a:ln>
        </p:spPr>
        <p:txBody>
          <a:bodyPr xmlns:a="http://schemas.openxmlformats.org/drawingml/2006/main" lIns="190500" tIns="114300" rIns="190500" bIns="114300" anchor="ctr">
            <a:noAutofit/>
          </a:bodyPr>
          <a:lstStyle xmlns:a="http://schemas.openxmlformats.org/drawingml/2006/main"/>
          <a:p xmlns:a="http://schemas.openxmlformats.org/drawingml/2006/main">
            <a:pPr algn="ctr">
              <a:defRPr sz="2700" b="1">
                <a:solidFill>
                  <a:srgbClr val="10344D"/>
                </a:solidFill>
                <a:latin typeface="맑은 고딕"/>
                <a:ea typeface="맑은 고딕"/>
                <a:cs typeface="맑은 고딕"/>
              </a:defRPr>
            </a:pPr>
            <a:r>
              <a:rPr sz="2700" b="1">
                <a:solidFill>
                  <a:srgbClr val="10344D"/>
                </a:solidFill>
                <a:latin typeface="맑은 고딕"/>
                <a:ea typeface="맑은 고딕"/>
                <a:cs typeface="맑은 고딕"/>
              </a:rPr>
              <a:t>1. 질문 정리</a:t>
            </a:r>
          </a:p>
          <a:p xmlns:a="http://schemas.openxmlformats.org/drawingml/2006/main">
            <a:r>
              <a:t/>
            </a:r>
          </a:p>
          <a:p xmlns:a="http://schemas.openxmlformats.org/drawingml/2006/main">
            <a:pPr algn="ctr">
              <a:defRPr sz="2700" b="1">
                <a:solidFill>
                  <a:srgbClr val="10344D"/>
                </a:solidFill>
                <a:latin typeface="맑은 고딕"/>
                <a:ea typeface="맑은 고딕"/>
                <a:cs typeface="맑은 고딕"/>
              </a:defRPr>
            </a:pPr>
            <a:r>
              <a:rPr sz="2700" b="1">
                <a:solidFill>
                  <a:srgbClr val="10344D"/>
                </a:solidFill>
                <a:latin typeface="맑은 고딕"/>
                <a:ea typeface="맑은 고딕"/>
                <a:cs typeface="맑은 고딕"/>
              </a:rPr>
              <a:t>앞 대화를 반영해</a:t>
            </a:r>
          </a:p>
          <a:p xmlns:a="http://schemas.openxmlformats.org/drawingml/2006/main">
            <a:pPr algn="ctr">
              <a:defRPr sz="2700" b="1">
                <a:solidFill>
                  <a:srgbClr val="10344D"/>
                </a:solidFill>
                <a:latin typeface="맑은 고딕"/>
                <a:ea typeface="맑은 고딕"/>
                <a:cs typeface="맑은 고딕"/>
              </a:defRPr>
            </a:pPr>
            <a:r>
              <a:rPr sz="2700" b="1">
                <a:solidFill>
                  <a:srgbClr val="10344D"/>
                </a:solidFill>
                <a:latin typeface="맑은 고딕"/>
                <a:ea typeface="맑은 고딕"/>
                <a:cs typeface="맑은 고딕"/>
              </a:rPr>
              <a:t>현재 질문 재작성</a:t>
            </a:r>
          </a:p>
        </p:txBody>
      </p:sp>
      <p:sp>
        <p:nvSpPr>
          <p:cNvPr id="11" name="v3-flow-28">
            <a:extLst xmlns:a="http://schemas.openxmlformats.org/drawingml/2006/main">
              <a:ext uri="{FF2B5EF4-FFF2-40B4-BE49-F238E27FC236}">
                <a16:creationId xmlns:a16="http://schemas.microsoft.com/office/drawing/2014/main" id="{1FE5B079-72C0-4E61-88B9-59A647D8611E}"/>
              </a:ext>
            </a:extLst>
          </p:cNvPr>
          <p:cNvSpPr>
            <a:spLocks xmlns:a="http://schemas.openxmlformats.org/drawingml/2006/main" noGrp="1"/>
          </p:cNvSpPr>
          <p:nvPr/>
        </p:nvSpPr>
        <p:spPr>
          <a:xfrm xmlns:a="http://schemas.openxmlformats.org/drawingml/2006/main">
            <a:off x="7868674" y="7239000"/>
            <a:ext cx="4477333" cy="2876550"/>
          </a:xfrm>
          <a:prstGeom xmlns:a="http://schemas.openxmlformats.org/drawingml/2006/main" prst="rect">
            <a:avLst/>
          </a:prstGeom>
          <a:solidFill xmlns:a="http://schemas.openxmlformats.org/drawingml/2006/main">
            <a:srgbClr val="FFFFFF"/>
          </a:solidFill>
          <a:ln xmlns:a="http://schemas.openxmlformats.org/drawingml/2006/main" w="9525">
            <a:solidFill>
              <a:srgbClr val="C9D6DF"/>
            </a:solidFill>
          </a:ln>
        </p:spPr>
        <p:txBody>
          <a:bodyPr xmlns:a="http://schemas.openxmlformats.org/drawingml/2006/main" lIns="190500" tIns="114300" rIns="190500" bIns="114300" anchor="ctr">
            <a:noAutofit/>
          </a:bodyPr>
          <a:lstStyle xmlns:a="http://schemas.openxmlformats.org/drawingml/2006/main"/>
          <a:p xmlns:a="http://schemas.openxmlformats.org/drawingml/2006/main">
            <a:pPr algn="ctr">
              <a:defRPr sz="2700" b="1">
                <a:solidFill>
                  <a:srgbClr val="10344D"/>
                </a:solidFill>
                <a:latin typeface="맑은 고딕"/>
                <a:ea typeface="맑은 고딕"/>
                <a:cs typeface="맑은 고딕"/>
              </a:defRPr>
            </a:pPr>
            <a:r>
              <a:rPr sz="2700" b="1">
                <a:solidFill>
                  <a:srgbClr val="10344D"/>
                </a:solidFill>
                <a:latin typeface="맑은 고딕"/>
                <a:ea typeface="맑은 고딕"/>
                <a:cs typeface="맑은 고딕"/>
              </a:rPr>
              <a:t>2. 규정 검색</a:t>
            </a:r>
          </a:p>
          <a:p xmlns:a="http://schemas.openxmlformats.org/drawingml/2006/main">
            <a:r>
              <a:t/>
            </a:r>
          </a:p>
          <a:p xmlns:a="http://schemas.openxmlformats.org/drawingml/2006/main">
            <a:pPr algn="ctr">
              <a:defRPr sz="2700" b="1">
                <a:solidFill>
                  <a:srgbClr val="10344D"/>
                </a:solidFill>
                <a:latin typeface="맑은 고딕"/>
                <a:ea typeface="맑은 고딕"/>
                <a:cs typeface="맑은 고딕"/>
              </a:defRPr>
            </a:pPr>
            <a:r>
              <a:rPr sz="2700" b="1">
                <a:solidFill>
                  <a:srgbClr val="10344D"/>
                </a:solidFill>
                <a:latin typeface="맑은 고딕"/>
                <a:ea typeface="맑은 고딕"/>
                <a:cs typeface="맑은 고딕"/>
              </a:rPr>
              <a:t>단어·의미 검색을</a:t>
            </a:r>
          </a:p>
          <a:p xmlns:a="http://schemas.openxmlformats.org/drawingml/2006/main">
            <a:pPr algn="ctr">
              <a:defRPr sz="2700" b="1">
                <a:solidFill>
                  <a:srgbClr val="10344D"/>
                </a:solidFill>
                <a:latin typeface="맑은 고딕"/>
                <a:ea typeface="맑은 고딕"/>
                <a:cs typeface="맑은 고딕"/>
              </a:defRPr>
            </a:pPr>
            <a:r>
              <a:rPr sz="2700" b="1">
                <a:solidFill>
                  <a:srgbClr val="10344D"/>
                </a:solidFill>
                <a:latin typeface="맑은 고딕"/>
                <a:ea typeface="맑은 고딕"/>
                <a:cs typeface="맑은 고딕"/>
              </a:rPr>
              <a:t>결합해 근거 후보 선정</a:t>
            </a:r>
          </a:p>
        </p:txBody>
      </p:sp>
      <p:sp>
        <p:nvSpPr>
          <p:cNvPr id="12" name="v3-flow-29">
            <a:extLst xmlns:a="http://schemas.openxmlformats.org/drawingml/2006/main">
              <a:ext uri="{FF2B5EF4-FFF2-40B4-BE49-F238E27FC236}">
                <a16:creationId xmlns:a16="http://schemas.microsoft.com/office/drawing/2014/main" id="{B5505713-2DE5-4068-8B5A-5CFBB417401A}"/>
              </a:ext>
            </a:extLst>
          </p:cNvPr>
          <p:cNvSpPr>
            <a:spLocks xmlns:a="http://schemas.openxmlformats.org/drawingml/2006/main" noGrp="1"/>
          </p:cNvSpPr>
          <p:nvPr/>
        </p:nvSpPr>
        <p:spPr>
          <a:xfrm xmlns:a="http://schemas.openxmlformats.org/drawingml/2006/main">
            <a:off x="13108107" y="7239000"/>
            <a:ext cx="4477333" cy="2876550"/>
          </a:xfrm>
          <a:prstGeom xmlns:a="http://schemas.openxmlformats.org/drawingml/2006/main" prst="rect">
            <a:avLst/>
          </a:prstGeom>
          <a:solidFill xmlns:a="http://schemas.openxmlformats.org/drawingml/2006/main">
            <a:srgbClr val="FFFFFF"/>
          </a:solidFill>
          <a:ln xmlns:a="http://schemas.openxmlformats.org/drawingml/2006/main" w="9525">
            <a:solidFill>
              <a:srgbClr val="C9D6DF"/>
            </a:solidFill>
          </a:ln>
        </p:spPr>
        <p:txBody>
          <a:bodyPr xmlns:a="http://schemas.openxmlformats.org/drawingml/2006/main" lIns="190500" tIns="114300" rIns="190500" bIns="114300" anchor="ctr">
            <a:noAutofit/>
          </a:bodyPr>
          <a:lstStyle xmlns:a="http://schemas.openxmlformats.org/drawingml/2006/main"/>
          <a:p xmlns:a="http://schemas.openxmlformats.org/drawingml/2006/main">
            <a:pPr algn="ctr">
              <a:defRPr sz="2700" b="1">
                <a:solidFill>
                  <a:srgbClr val="10344D"/>
                </a:solidFill>
                <a:latin typeface="맑은 고딕"/>
                <a:ea typeface="맑은 고딕"/>
                <a:cs typeface="맑은 고딕"/>
              </a:defRPr>
            </a:pPr>
            <a:r>
              <a:rPr sz="2700" b="1">
                <a:solidFill>
                  <a:srgbClr val="10344D"/>
                </a:solidFill>
                <a:latin typeface="맑은 고딕"/>
                <a:ea typeface="맑은 고딕"/>
                <a:cs typeface="맑은 고딕"/>
              </a:rPr>
              <a:t>3. 답변 가능성 판정</a:t>
            </a:r>
          </a:p>
          <a:p xmlns:a="http://schemas.openxmlformats.org/drawingml/2006/main">
            <a:r>
              <a:t/>
            </a:r>
          </a:p>
          <a:p xmlns:a="http://schemas.openxmlformats.org/drawingml/2006/main">
            <a:pPr algn="ctr">
              <a:defRPr sz="2700" b="1">
                <a:solidFill>
                  <a:srgbClr val="10344D"/>
                </a:solidFill>
                <a:latin typeface="맑은 고딕"/>
                <a:ea typeface="맑은 고딕"/>
                <a:cs typeface="맑은 고딕"/>
              </a:defRPr>
            </a:pPr>
            <a:r>
              <a:rPr sz="2700" b="1">
                <a:solidFill>
                  <a:srgbClr val="10344D"/>
                </a:solidFill>
                <a:latin typeface="맑은 고딕"/>
                <a:ea typeface="맑은 고딕"/>
                <a:cs typeface="맑은 고딕"/>
              </a:rPr>
              <a:t>답변 / 추가 확인 /</a:t>
            </a:r>
          </a:p>
          <a:p xmlns:a="http://schemas.openxmlformats.org/drawingml/2006/main">
            <a:pPr algn="ctr">
              <a:defRPr sz="2700" b="1">
                <a:solidFill>
                  <a:srgbClr val="10344D"/>
                </a:solidFill>
                <a:latin typeface="맑은 고딕"/>
                <a:ea typeface="맑은 고딕"/>
                <a:cs typeface="맑은 고딕"/>
              </a:defRPr>
            </a:pPr>
            <a:r>
              <a:rPr sz="2700" b="1">
                <a:solidFill>
                  <a:srgbClr val="10344D"/>
                </a:solidFill>
                <a:latin typeface="맑은 고딕"/>
                <a:ea typeface="맑은 고딕"/>
                <a:cs typeface="맑은 고딕"/>
              </a:rPr>
              <a:t>담당자 확인 구분</a:t>
            </a:r>
          </a:p>
        </p:txBody>
      </p:sp>
      <p:sp>
        <p:nvSpPr>
          <p:cNvPr id="13" name="v3-flow-30">
            <a:extLst xmlns:a="http://schemas.openxmlformats.org/drawingml/2006/main">
              <a:ext uri="{FF2B5EF4-FFF2-40B4-BE49-F238E27FC236}">
                <a16:creationId xmlns:a16="http://schemas.microsoft.com/office/drawing/2014/main" id="{21A3B367-8691-4E45-B33B-0AB0AAD2C305}"/>
              </a:ext>
            </a:extLst>
          </p:cNvPr>
          <p:cNvSpPr>
            <a:spLocks xmlns:a="http://schemas.openxmlformats.org/drawingml/2006/main" noGrp="1"/>
          </p:cNvSpPr>
          <p:nvPr/>
        </p:nvSpPr>
        <p:spPr>
          <a:xfrm xmlns:a="http://schemas.openxmlformats.org/drawingml/2006/main">
            <a:off x="18347539" y="7239000"/>
            <a:ext cx="4477333" cy="2876550"/>
          </a:xfrm>
          <a:prstGeom xmlns:a="http://schemas.openxmlformats.org/drawingml/2006/main" prst="rect">
            <a:avLst/>
          </a:prstGeom>
          <a:solidFill xmlns:a="http://schemas.openxmlformats.org/drawingml/2006/main">
            <a:srgbClr val="DCEBF0"/>
          </a:solidFill>
          <a:ln xmlns:a="http://schemas.openxmlformats.org/drawingml/2006/main" w="9525">
            <a:solidFill>
              <a:srgbClr val="C9D6DF"/>
            </a:solidFill>
          </a:ln>
        </p:spPr>
        <p:txBody>
          <a:bodyPr xmlns:a="http://schemas.openxmlformats.org/drawingml/2006/main" lIns="190500" tIns="114300" rIns="190500" bIns="114300" anchor="ctr">
            <a:noAutofit/>
          </a:bodyPr>
          <a:lstStyle xmlns:a="http://schemas.openxmlformats.org/drawingml/2006/main"/>
          <a:p xmlns:a="http://schemas.openxmlformats.org/drawingml/2006/main">
            <a:pPr algn="ctr">
              <a:defRPr sz="2700" b="1">
                <a:solidFill>
                  <a:srgbClr val="10344D"/>
                </a:solidFill>
                <a:latin typeface="맑은 고딕"/>
                <a:ea typeface="맑은 고딕"/>
                <a:cs typeface="맑은 고딕"/>
              </a:defRPr>
            </a:pPr>
            <a:r>
              <a:rPr sz="2700" b="1">
                <a:solidFill>
                  <a:srgbClr val="10344D"/>
                </a:solidFill>
                <a:latin typeface="맑은 고딕"/>
                <a:ea typeface="맑은 고딕"/>
                <a:cs typeface="맑은 고딕"/>
              </a:rPr>
              <a:t>4. 답변 생성</a:t>
            </a:r>
          </a:p>
          <a:p xmlns:a="http://schemas.openxmlformats.org/drawingml/2006/main">
            <a:r>
              <a:t/>
            </a:r>
          </a:p>
          <a:p xmlns:a="http://schemas.openxmlformats.org/drawingml/2006/main">
            <a:pPr algn="ctr">
              <a:defRPr sz="2700" b="1">
                <a:solidFill>
                  <a:srgbClr val="10344D"/>
                </a:solidFill>
                <a:latin typeface="맑은 고딕"/>
                <a:ea typeface="맑은 고딕"/>
                <a:cs typeface="맑은 고딕"/>
              </a:defRPr>
            </a:pPr>
            <a:r>
              <a:rPr sz="2700" b="1">
                <a:solidFill>
                  <a:srgbClr val="10344D"/>
                </a:solidFill>
                <a:latin typeface="맑은 고딕"/>
                <a:ea typeface="맑은 고딕"/>
                <a:cs typeface="맑은 고딕"/>
              </a:rPr>
              <a:t>사용한 근거와</a:t>
            </a:r>
          </a:p>
          <a:p xmlns:a="http://schemas.openxmlformats.org/drawingml/2006/main">
            <a:pPr algn="ctr">
              <a:defRPr sz="2700" b="1">
                <a:solidFill>
                  <a:srgbClr val="10344D"/>
                </a:solidFill>
                <a:latin typeface="맑은 고딕"/>
                <a:ea typeface="맑은 고딕"/>
                <a:cs typeface="맑은 고딕"/>
              </a:defRPr>
            </a:pPr>
            <a:r>
              <a:rPr sz="2700" b="1">
                <a:solidFill>
                  <a:srgbClr val="10344D"/>
                </a:solidFill>
                <a:latin typeface="맑은 고딕"/>
                <a:ea typeface="맑은 고딕"/>
                <a:cs typeface="맑은 고딕"/>
              </a:rPr>
              <a:t>다음 행동을 표시</a:t>
            </a:r>
          </a:p>
        </p:txBody>
      </p:sp>
      <p:cxnSp>
        <p:nvCxnSpPr>
          <p:cNvPr id="38" name=""/>
          <p:cNvCxnSpPr>
            <a:stCxn xmlns:a="http://schemas.openxmlformats.org/drawingml/2006/main" id="10" idx="3"/>
            <a:endCxn xmlns:a="http://schemas.openxmlformats.org/drawingml/2006/main" id="11" idx="1"/>
          </p:cNvCxnSpPr>
          <p:nvPr/>
        </p:nvCxnSpPr>
        <p:spPr>
          <a:xfrm xmlns:a="http://schemas.openxmlformats.org/drawingml/2006/main">
            <a:off x="7106575" y="8677275"/>
            <a:ext cx="762099" cy="0"/>
          </a:xfrm>
          <a:prstGeom xmlns:a="http://schemas.openxmlformats.org/drawingml/2006/main" prst="straightConnector1">
            <a:avLst/>
          </a:prstGeom>
          <a:ln xmlns:a="http://schemas.openxmlformats.org/drawingml/2006/main" w="38100">
            <a:solidFill>
              <a:srgbClr val="12667B"/>
            </a:solidFill>
            <a:tailEnd type="triangle" w="lg" len="lg"/>
          </a:ln>
        </p:spPr>
      </p:cxnSp>
      <p:cxnSp>
        <p:nvCxnSpPr>
          <p:cNvPr id="39" name=""/>
          <p:cNvCxnSpPr>
            <a:stCxn xmlns:a="http://schemas.openxmlformats.org/drawingml/2006/main" id="11" idx="3"/>
            <a:endCxn xmlns:a="http://schemas.openxmlformats.org/drawingml/2006/main" id="12" idx="1"/>
          </p:cNvCxnSpPr>
          <p:nvPr/>
        </p:nvCxnSpPr>
        <p:spPr>
          <a:xfrm xmlns:a="http://schemas.openxmlformats.org/drawingml/2006/main">
            <a:off x="12346007" y="8677275"/>
            <a:ext cx="762100" cy="0"/>
          </a:xfrm>
          <a:prstGeom xmlns:a="http://schemas.openxmlformats.org/drawingml/2006/main" prst="straightConnector1">
            <a:avLst/>
          </a:prstGeom>
          <a:ln xmlns:a="http://schemas.openxmlformats.org/drawingml/2006/main" w="38100">
            <a:solidFill>
              <a:srgbClr val="12667B"/>
            </a:solidFill>
            <a:tailEnd type="triangle" w="lg" len="lg"/>
          </a:ln>
        </p:spPr>
      </p:cxnSp>
      <p:cxnSp>
        <p:nvCxnSpPr>
          <p:cNvPr id="40" name=""/>
          <p:cNvCxnSpPr>
            <a:stCxn xmlns:a="http://schemas.openxmlformats.org/drawingml/2006/main" id="12" idx="3"/>
            <a:endCxn xmlns:a="http://schemas.openxmlformats.org/drawingml/2006/main" id="13" idx="1"/>
          </p:cNvCxnSpPr>
          <p:nvPr/>
        </p:nvCxnSpPr>
        <p:spPr>
          <a:xfrm xmlns:a="http://schemas.openxmlformats.org/drawingml/2006/main">
            <a:off x="17585440" y="8677275"/>
            <a:ext cx="762099" cy="0"/>
          </a:xfrm>
          <a:prstGeom xmlns:a="http://schemas.openxmlformats.org/drawingml/2006/main" prst="straightConnector1">
            <a:avLst/>
          </a:prstGeom>
          <a:ln xmlns:a="http://schemas.openxmlformats.org/drawingml/2006/main" w="38100">
            <a:solidFill>
              <a:srgbClr val="12667B"/>
            </a:solidFill>
            <a:tailEnd type="triangle" w="lg" len="lg"/>
          </a:ln>
        </p:spPr>
      </p:cxnSp>
      <p:cxnSp>
        <p:nvCxnSpPr>
          <p:cNvPr id="41" name=""/>
          <p:cNvCxnSpPr>
            <a:stCxn xmlns:a="http://schemas.openxmlformats.org/drawingml/2006/main" id="6" idx="2"/>
            <a:endCxn xmlns:a="http://schemas.openxmlformats.org/drawingml/2006/main" id="11" idx="0"/>
          </p:cNvCxnSpPr>
          <p:nvPr/>
        </p:nvCxnSpPr>
        <p:spPr>
          <a:xfrm xmlns:a="http://schemas.openxmlformats.org/drawingml/2006/main" flipH="1">
            <a:off x="10107341" y="5829300"/>
            <a:ext cx="8240199" cy="1409700"/>
          </a:xfrm>
          <a:prstGeom xmlns:a="http://schemas.openxmlformats.org/drawingml/2006/main" prst="straightConnector1">
            <a:avLst/>
          </a:prstGeom>
          <a:ln xmlns:a="http://schemas.openxmlformats.org/drawingml/2006/main" w="38100">
            <a:solidFill>
              <a:srgbClr val="12667B"/>
            </a:solidFill>
            <a:tailEnd type="triangle" w="lg" len="lg"/>
          </a:ln>
        </p:spPr>
      </p:cxnSp>
      <p:sp>
        <p:nvSpPr>
          <p:cNvPr id="18" name="v3-text-31">
            <a:extLst xmlns:a="http://schemas.openxmlformats.org/drawingml/2006/main">
              <a:ext uri="{FF2B5EF4-FFF2-40B4-BE49-F238E27FC236}">
                <a16:creationId xmlns:a16="http://schemas.microsoft.com/office/drawing/2014/main" id="{AFFD1C6D-65AD-4A49-BCD5-7398D5A6EBC3}"/>
              </a:ext>
            </a:extLst>
          </p:cNvPr>
          <p:cNvSpPr>
            <a:spLocks xmlns:a="http://schemas.openxmlformats.org/drawingml/2006/main" noGrp="1"/>
          </p:cNvSpPr>
          <p:nvPr/>
        </p:nvSpPr>
        <p:spPr>
          <a:xfrm xmlns:a="http://schemas.openxmlformats.org/drawingml/2006/main">
            <a:off x="2629242" y="10763250"/>
            <a:ext cx="1238411"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344D"/>
                </a:solidFill>
                <a:latin typeface="맑은 고딕"/>
                <a:ea typeface="맑은 고딕"/>
                <a:cs typeface="맑은 고딕"/>
              </a:defRPr>
            </a:pPr>
            <a:r>
              <a:rPr sz="2700" b="1">
                <a:solidFill>
                  <a:srgbClr val="10344D"/>
                </a:solidFill>
                <a:latin typeface="맑은 고딕"/>
                <a:ea typeface="맑은 고딕"/>
                <a:cs typeface="맑은 고딕"/>
              </a:rPr>
              <a:t>화면</a:t>
            </a:r>
          </a:p>
        </p:txBody>
      </p:sp>
      <p:sp>
        <p:nvSpPr>
          <p:cNvPr id="19" name="v3-text-32">
            <a:extLst xmlns:a="http://schemas.openxmlformats.org/drawingml/2006/main">
              <a:ext uri="{FF2B5EF4-FFF2-40B4-BE49-F238E27FC236}">
                <a16:creationId xmlns:a16="http://schemas.microsoft.com/office/drawing/2014/main" id="{B60AFA65-7975-4E52-B7EC-980428B8F9C8}"/>
              </a:ext>
            </a:extLst>
          </p:cNvPr>
          <p:cNvSpPr>
            <a:spLocks xmlns:a="http://schemas.openxmlformats.org/drawingml/2006/main" noGrp="1"/>
          </p:cNvSpPr>
          <p:nvPr/>
        </p:nvSpPr>
        <p:spPr>
          <a:xfrm xmlns:a="http://schemas.openxmlformats.org/drawingml/2006/main">
            <a:off x="4001021" y="10763250"/>
            <a:ext cx="476312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10344D"/>
                </a:solidFill>
                <a:latin typeface="맑은 고딕"/>
                <a:ea typeface="맑은 고딕"/>
                <a:cs typeface="맑은 고딕"/>
              </a:defRPr>
            </a:pPr>
            <a:r>
              <a:rPr sz="2850" b="0">
                <a:solidFill>
                  <a:srgbClr val="10344D"/>
                </a:solidFill>
                <a:latin typeface="맑은 고딕"/>
                <a:ea typeface="맑은 고딕"/>
                <a:cs typeface="맑은 고딕"/>
              </a:rPr>
              <a:t>HTML·JavaScript</a:t>
            </a:r>
          </a:p>
        </p:txBody>
      </p:sp>
      <p:sp>
        <p:nvSpPr>
          <p:cNvPr id="20" name="v3-text-33">
            <a:extLst xmlns:a="http://schemas.openxmlformats.org/drawingml/2006/main">
              <a:ext uri="{FF2B5EF4-FFF2-40B4-BE49-F238E27FC236}">
                <a16:creationId xmlns:a16="http://schemas.microsoft.com/office/drawing/2014/main" id="{B132B2EA-B30E-4160-BFD1-353428F6C73F}"/>
              </a:ext>
            </a:extLst>
          </p:cNvPr>
          <p:cNvSpPr>
            <a:spLocks xmlns:a="http://schemas.openxmlformats.org/drawingml/2006/main" noGrp="1"/>
          </p:cNvSpPr>
          <p:nvPr/>
        </p:nvSpPr>
        <p:spPr>
          <a:xfrm xmlns:a="http://schemas.openxmlformats.org/drawingml/2006/main">
            <a:off x="9526240" y="10763250"/>
            <a:ext cx="1238411"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344D"/>
                </a:solidFill>
                <a:latin typeface="맑은 고딕"/>
                <a:ea typeface="맑은 고딕"/>
                <a:cs typeface="맑은 고딕"/>
              </a:defRPr>
            </a:pPr>
            <a:r>
              <a:rPr sz="2700" b="1">
                <a:solidFill>
                  <a:srgbClr val="10344D"/>
                </a:solidFill>
                <a:latin typeface="맑은 고딕"/>
                <a:ea typeface="맑은 고딕"/>
                <a:cs typeface="맑은 고딕"/>
              </a:rPr>
              <a:t>서버</a:t>
            </a:r>
          </a:p>
        </p:txBody>
      </p:sp>
      <p:sp>
        <p:nvSpPr>
          <p:cNvPr id="21" name="v3-text-34">
            <a:extLst xmlns:a="http://schemas.openxmlformats.org/drawingml/2006/main">
              <a:ext uri="{FF2B5EF4-FFF2-40B4-BE49-F238E27FC236}">
                <a16:creationId xmlns:a16="http://schemas.microsoft.com/office/drawing/2014/main" id="{605CA297-7DC8-4279-A39F-292299F4B4C6}"/>
              </a:ext>
            </a:extLst>
          </p:cNvPr>
          <p:cNvSpPr>
            <a:spLocks xmlns:a="http://schemas.openxmlformats.org/drawingml/2006/main" noGrp="1"/>
          </p:cNvSpPr>
          <p:nvPr/>
        </p:nvSpPr>
        <p:spPr>
          <a:xfrm xmlns:a="http://schemas.openxmlformats.org/drawingml/2006/main">
            <a:off x="10955176" y="10763250"/>
            <a:ext cx="5429957"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10344D"/>
                </a:solidFill>
                <a:latin typeface="맑은 고딕"/>
                <a:ea typeface="맑은 고딕"/>
                <a:cs typeface="맑은 고딕"/>
              </a:defRPr>
            </a:pPr>
            <a:r>
              <a:rPr sz="2850" b="0">
                <a:solidFill>
                  <a:srgbClr val="10344D"/>
                </a:solidFill>
                <a:latin typeface="맑은 고딕"/>
                <a:ea typeface="맑은 고딕"/>
                <a:cs typeface="맑은 고딕"/>
              </a:rPr>
              <a:t>Python HTTP 서버</a:t>
            </a:r>
          </a:p>
        </p:txBody>
      </p:sp>
      <p:sp>
        <p:nvSpPr>
          <p:cNvPr id="22" name="v3-text-35">
            <a:extLst xmlns:a="http://schemas.openxmlformats.org/drawingml/2006/main">
              <a:ext uri="{FF2B5EF4-FFF2-40B4-BE49-F238E27FC236}">
                <a16:creationId xmlns:a16="http://schemas.microsoft.com/office/drawing/2014/main" id="{897519F9-AE28-4396-8D0F-7259EFE51F10}"/>
              </a:ext>
            </a:extLst>
          </p:cNvPr>
          <p:cNvSpPr>
            <a:spLocks xmlns:a="http://schemas.openxmlformats.org/drawingml/2006/main" noGrp="1"/>
          </p:cNvSpPr>
          <p:nvPr/>
        </p:nvSpPr>
        <p:spPr>
          <a:xfrm xmlns:a="http://schemas.openxmlformats.org/drawingml/2006/main">
            <a:off x="17147232" y="10763250"/>
            <a:ext cx="1238411"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344D"/>
                </a:solidFill>
                <a:latin typeface="맑은 고딕"/>
                <a:ea typeface="맑은 고딕"/>
                <a:cs typeface="맑은 고딕"/>
              </a:defRPr>
            </a:pPr>
            <a:r>
              <a:rPr sz="2700" b="1">
                <a:solidFill>
                  <a:srgbClr val="10344D"/>
                </a:solidFill>
                <a:latin typeface="맑은 고딕"/>
                <a:ea typeface="맑은 고딕"/>
                <a:cs typeface="맑은 고딕"/>
              </a:rPr>
              <a:t>응답</a:t>
            </a:r>
          </a:p>
        </p:txBody>
      </p:sp>
      <p:sp>
        <p:nvSpPr>
          <p:cNvPr id="23" name="v3-text-36">
            <a:extLst xmlns:a="http://schemas.openxmlformats.org/drawingml/2006/main">
              <a:ext uri="{FF2B5EF4-FFF2-40B4-BE49-F238E27FC236}">
                <a16:creationId xmlns:a16="http://schemas.microsoft.com/office/drawing/2014/main" id="{5A5BE706-D872-4AED-98DB-B917621F118A}"/>
              </a:ext>
            </a:extLst>
          </p:cNvPr>
          <p:cNvSpPr>
            <a:spLocks xmlns:a="http://schemas.openxmlformats.org/drawingml/2006/main" noGrp="1"/>
          </p:cNvSpPr>
          <p:nvPr/>
        </p:nvSpPr>
        <p:spPr>
          <a:xfrm xmlns:a="http://schemas.openxmlformats.org/drawingml/2006/main">
            <a:off x="18576168" y="10763250"/>
            <a:ext cx="457259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0">
                <a:solidFill>
                  <a:srgbClr val="10344D"/>
                </a:solidFill>
                <a:latin typeface="맑은 고딕"/>
                <a:ea typeface="맑은 고딕"/>
                <a:cs typeface="맑은 고딕"/>
              </a:defRPr>
            </a:pPr>
            <a:r>
              <a:rPr sz="2700" b="0">
                <a:solidFill>
                  <a:srgbClr val="10344D"/>
                </a:solidFill>
                <a:latin typeface="맑은 고딕"/>
                <a:ea typeface="맑은 고딕"/>
                <a:cs typeface="맑은 고딕"/>
              </a:rPr>
              <a:t>답변·근거·확인 항목</a:t>
            </a:r>
          </a:p>
        </p:txBody>
      </p:sp>
      <p:sp>
        <p:nvSpPr>
          <p:cNvPr id="24" name="v3-text-37">
            <a:extLst xmlns:a="http://schemas.openxmlformats.org/drawingml/2006/main">
              <a:ext uri="{FF2B5EF4-FFF2-40B4-BE49-F238E27FC236}">
                <a16:creationId xmlns:a16="http://schemas.microsoft.com/office/drawing/2014/main" id="{BDF03535-4353-49D8-835B-3B7BAB12F716}"/>
              </a:ext>
            </a:extLst>
          </p:cNvPr>
          <p:cNvSpPr>
            <a:spLocks xmlns:a="http://schemas.openxmlformats.org/drawingml/2006/main" noGrp="1"/>
          </p:cNvSpPr>
          <p:nvPr/>
        </p:nvSpPr>
        <p:spPr>
          <a:xfrm xmlns:a="http://schemas.openxmlformats.org/drawingml/2006/main">
            <a:off x="2629242" y="11925300"/>
            <a:ext cx="20195629"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26573"/>
                </a:solidFill>
                <a:latin typeface="맑은 고딕"/>
                <a:ea typeface="맑은 고딕"/>
                <a:cs typeface="맑은 고딕"/>
              </a:defRPr>
            </a:pPr>
            <a:r>
              <a:rPr sz="1950" b="0">
                <a:solidFill>
                  <a:srgbClr val="526573"/>
                </a:solidFill>
                <a:latin typeface="맑은 고딕"/>
                <a:ea typeface="맑은 고딕"/>
                <a:cs typeface="맑은 고딕"/>
              </a:rPr>
              <a:t>현재 파일 기준(2026.09.13). 청크는 검색을 위해 나눈 문서 구간이며 법적 조항 수와 동일하지 않음</a:t>
            </a:r>
          </a:p>
        </p:txBody>
      </p:sp>
    </p:spTree>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v3-text-38">
            <a:extLst xmlns:a="http://schemas.openxmlformats.org/drawingml/2006/main">
              <a:ext uri="{FF2B5EF4-FFF2-40B4-BE49-F238E27FC236}">
                <a16:creationId xmlns:a16="http://schemas.microsoft.com/office/drawing/2014/main" id="{332A403F-E427-4383-950B-E5D429022940}"/>
              </a:ext>
            </a:extLst>
          </p:cNvPr>
          <p:cNvSpPr>
            <a:spLocks xmlns:a="http://schemas.openxmlformats.org/drawingml/2006/main" noGrp="1"/>
          </p:cNvSpPr>
          <p:nvPr/>
        </p:nvSpPr>
        <p:spPr>
          <a:xfrm xmlns:a="http://schemas.openxmlformats.org/drawingml/2006/main">
            <a:off x="2629242" y="2324100"/>
            <a:ext cx="20386154"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1">
                <a:solidFill>
                  <a:srgbClr val="10344D"/>
                </a:solidFill>
                <a:latin typeface="맑은 고딕"/>
                <a:ea typeface="맑은 고딕"/>
                <a:cs typeface="맑은 고딕"/>
              </a:defRPr>
            </a:pPr>
            <a:r>
              <a:rPr sz="4350" b="1">
                <a:solidFill>
                  <a:srgbClr val="10344D"/>
                </a:solidFill>
                <a:latin typeface="맑은 고딕"/>
                <a:ea typeface="맑은 고딕"/>
                <a:cs typeface="맑은 고딕"/>
              </a:rPr>
              <a:t>사용 기술과 선택 근거</a:t>
            </a:r>
          </a:p>
        </p:txBody>
      </p:sp>
      <p:sp>
        <p:nvSpPr>
          <p:cNvPr id="2" name="v3-text-39">
            <a:extLst xmlns:a="http://schemas.openxmlformats.org/drawingml/2006/main">
              <a:ext uri="{FF2B5EF4-FFF2-40B4-BE49-F238E27FC236}">
                <a16:creationId xmlns:a16="http://schemas.microsoft.com/office/drawing/2014/main" id="{0120E8D4-73F6-4067-9B6F-60B40C66DB2B}"/>
              </a:ext>
            </a:extLst>
          </p:cNvPr>
          <p:cNvSpPr>
            <a:spLocks xmlns:a="http://schemas.openxmlformats.org/drawingml/2006/main" noGrp="1"/>
          </p:cNvSpPr>
          <p:nvPr/>
        </p:nvSpPr>
        <p:spPr>
          <a:xfrm xmlns:a="http://schemas.openxmlformats.org/drawingml/2006/main">
            <a:off x="2629242" y="3390900"/>
            <a:ext cx="20005104"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526573"/>
                </a:solidFill>
                <a:latin typeface="맑은 고딕"/>
                <a:ea typeface="맑은 고딕"/>
                <a:cs typeface="맑은 고딕"/>
              </a:defRPr>
            </a:pPr>
            <a:r>
              <a:rPr sz="2550" b="0">
                <a:solidFill>
                  <a:srgbClr val="526573"/>
                </a:solidFill>
                <a:latin typeface="맑은 고딕"/>
                <a:ea typeface="맑은 고딕"/>
                <a:cs typeface="맑은 고딕"/>
              </a:rPr>
              <a:t>각 기술이 해결하는 문제와, 단순한 대안의 한계를 함께 정리했습니다</a:t>
            </a:r>
          </a:p>
        </p:txBody>
      </p:sp>
      <p:sp>
        <p:nvSpPr>
          <p:cNvPr id="3" name="v3-text-40">
            <a:extLst xmlns:a="http://schemas.openxmlformats.org/drawingml/2006/main">
              <a:ext uri="{FF2B5EF4-FFF2-40B4-BE49-F238E27FC236}">
                <a16:creationId xmlns:a16="http://schemas.microsoft.com/office/drawing/2014/main" id="{2AE09B3C-A830-4FB3-912C-F2C9A74A529A}"/>
              </a:ext>
            </a:extLst>
          </p:cNvPr>
          <p:cNvSpPr>
            <a:spLocks xmlns:a="http://schemas.openxmlformats.org/drawingml/2006/main" noGrp="1"/>
          </p:cNvSpPr>
          <p:nvPr/>
        </p:nvSpPr>
        <p:spPr>
          <a:xfrm xmlns:a="http://schemas.openxmlformats.org/drawingml/2006/main">
            <a:off x="22386665" y="12649200"/>
            <a:ext cx="914519"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800" b="0">
                <a:solidFill>
                  <a:srgbClr val="526573"/>
                </a:solidFill>
                <a:latin typeface="맑은 고딕"/>
                <a:ea typeface="맑은 고딕"/>
                <a:cs typeface="맑은 고딕"/>
              </a:defRPr>
            </a:pPr>
            <a:r>
              <a:rPr sz="1800" b="0">
                <a:solidFill>
                  <a:srgbClr val="526573"/>
                </a:solidFill>
                <a:latin typeface="맑은 고딕"/>
                <a:ea typeface="맑은 고딕"/>
                <a:cs typeface="맑은 고딕"/>
              </a:rPr>
              <a:t>06</a:t>
            </a:r>
          </a:p>
        </p:txBody>
      </p:sp>
      <p:graphicFrame>
        <p:nvGraphicFramePr>
          <p:cNvPr id="9" name=""/>
          <p:cNvGraphicFramePr/>
          <p:nvPr/>
        </p:nvGraphicFramePr>
        <p:xfrm>
          <a:off xmlns:a="http://schemas.openxmlformats.org/drawingml/2006/main" x="2629242" y="4381500"/>
          <a:ext xmlns:a="http://schemas.openxmlformats.org/drawingml/2006/main" cx="20195629" cy="7048500"/>
        </p:xfrm>
        <a:graphic xmlns:a="http://schemas.openxmlformats.org/drawingml/2006/main">
          <a:graphicData uri="http://schemas.openxmlformats.org/drawingml/2006/table">
            <a:tbl>
              <a:tblPr/>
              <a:tblGrid>
                <a:gridCol w="4572595"/>
                <a:gridCol w="6954155"/>
                <a:gridCol w="8668879"/>
              </a:tblGrid>
              <a:tr h="1174750">
                <a:tc>
                  <a:txBody>
                    <a:bodyPr/>
                    <a:lstStyle/>
                    <a:p>
                      <a:r>
                        <a:rPr sz="2400" b="1">
                          <a:solidFill>
                            <a:srgbClr val="FFFFFF"/>
                          </a:solidFill>
                          <a:latin typeface="맑은 고딕"/>
                          <a:ea typeface="맑은 고딕"/>
                          <a:cs typeface="맑은 고딕"/>
                        </a:rPr>
                        <a:t>기술</a:t>
                      </a:r>
                    </a:p>
                  </a:txBody>
                  <a:tcPr marL="190500" marR="190500" marT="133350" marB="114300" anchor="ctr">
                    <a:solidFill>
                      <a:srgbClr val="082D65"/>
                    </a:solidFill>
                  </a:tcPr>
                </a:tc>
                <a:tc>
                  <a:txBody>
                    <a:bodyPr/>
                    <a:lstStyle/>
                    <a:p>
                      <a:r>
                        <a:rPr sz="2400" b="1">
                          <a:solidFill>
                            <a:srgbClr val="FFFFFF"/>
                          </a:solidFill>
                          <a:latin typeface="맑은 고딕"/>
                          <a:ea typeface="맑은 고딕"/>
                          <a:cs typeface="맑은 고딕"/>
                        </a:rPr>
                        <a:t>구현 역할</a:t>
                      </a:r>
                    </a:p>
                  </a:txBody>
                  <a:tcPr marL="190500" marR="190500" marT="133350" marB="114300" anchor="ctr">
                    <a:solidFill>
                      <a:srgbClr val="082D65"/>
                    </a:solidFill>
                  </a:tcPr>
                </a:tc>
                <a:tc>
                  <a:txBody>
                    <a:bodyPr/>
                    <a:lstStyle/>
                    <a:p>
                      <a:r>
                        <a:rPr sz="2400" b="1">
                          <a:solidFill>
                            <a:srgbClr val="FFFFFF"/>
                          </a:solidFill>
                          <a:latin typeface="맑은 고딕"/>
                          <a:ea typeface="맑은 고딕"/>
                          <a:cs typeface="맑은 고딕"/>
                        </a:rPr>
                        <a:t>선택 근거와 대안의 한계</a:t>
                      </a:r>
                    </a:p>
                  </a:txBody>
                  <a:tcPr marL="190500" marR="190500" marT="133350" marB="114300" anchor="ctr">
                    <a:solidFill>
                      <a:srgbClr val="082D65"/>
                    </a:solidFill>
                  </a:tcPr>
                </a:tc>
              </a:tr>
              <a:tr h="1174750">
                <a:tc>
                  <a:txBody>
                    <a:bodyPr/>
                    <a:lstStyle/>
                    <a:p>
                      <a:r>
                        <a:rPr sz="2550" b="1">
                          <a:solidFill>
                            <a:srgbClr val="10344D"/>
                          </a:solidFill>
                          <a:latin typeface="맑은 고딕"/>
                          <a:ea typeface="맑은 고딕"/>
                          <a:cs typeface="맑은 고딕"/>
                        </a:rPr>
                        <a:t>RAG</a:t>
                      </a:r>
                    </a:p>
                  </a:txBody>
                  <a:tcPr marL="190500" marR="190500" marT="133350" marB="114300" anchor="ctr">
                    <a:solidFill>
                      <a:srgbClr val="FFFFFF"/>
                    </a:solidFill>
                  </a:tcPr>
                </a:tc>
                <a:tc>
                  <a:txBody>
                    <a:bodyPr/>
                    <a:lstStyle/>
                    <a:p>
                      <a:r>
                        <a:rPr sz="2550" b="0">
                          <a:solidFill>
                            <a:srgbClr val="10344D"/>
                          </a:solidFill>
                          <a:latin typeface="맑은 고딕"/>
                          <a:ea typeface="맑은 고딕"/>
                          <a:cs typeface="맑은 고딕"/>
                        </a:rPr>
                        <a:t>회사 규정을 검색한 뒤</a:t>
                      </a:r>
                    </a:p>
                    <a:p>
                      <a:r>
                        <a:rPr sz="2550" b="0">
                          <a:solidFill>
                            <a:srgbClr val="10344D"/>
                          </a:solidFill>
                          <a:latin typeface="맑은 고딕"/>
                          <a:ea typeface="맑은 고딕"/>
                          <a:cs typeface="맑은 고딕"/>
                        </a:rPr>
                        <a:t>그 근거로 답변 생성</a:t>
                      </a:r>
                    </a:p>
                  </a:txBody>
                  <a:tcPr marL="190500" marR="190500" marT="133350" marB="114300" anchor="ctr">
                    <a:solidFill>
                      <a:srgbClr val="FFFFFF"/>
                    </a:solidFill>
                  </a:tcPr>
                </a:tc>
                <a:tc>
                  <a:txBody>
                    <a:bodyPr/>
                    <a:lstStyle/>
                    <a:p>
                      <a:r>
                        <a:rPr sz="2550" b="0">
                          <a:solidFill>
                            <a:srgbClr val="10344D"/>
                          </a:solidFill>
                          <a:latin typeface="맑은 고딕"/>
                          <a:ea typeface="맑은 고딕"/>
                          <a:cs typeface="맑은 고딕"/>
                        </a:rPr>
                        <a:t>모델 지식만으로 답하면 사내 규정과</a:t>
                      </a:r>
                    </a:p>
                    <a:p>
                      <a:r>
                        <a:rPr sz="2550" b="0">
                          <a:solidFill>
                            <a:srgbClr val="10344D"/>
                          </a:solidFill>
                          <a:latin typeface="맑은 고딕"/>
                          <a:ea typeface="맑은 고딕"/>
                          <a:cs typeface="맑은 고딕"/>
                        </a:rPr>
                        <a:t>예외 조건을 확인하기 어려움</a:t>
                      </a:r>
                    </a:p>
                  </a:txBody>
                  <a:tcPr marL="190500" marR="190500" marT="133350" marB="114300" anchor="ctr">
                    <a:solidFill>
                      <a:srgbClr val="FFFFFF"/>
                    </a:solidFill>
                  </a:tcPr>
                </a:tc>
              </a:tr>
              <a:tr h="1174750">
                <a:tc>
                  <a:txBody>
                    <a:bodyPr/>
                    <a:lstStyle/>
                    <a:p>
                      <a:r>
                        <a:rPr sz="2550" b="1">
                          <a:solidFill>
                            <a:srgbClr val="10344D"/>
                          </a:solidFill>
                          <a:latin typeface="맑은 고딕"/>
                          <a:ea typeface="맑은 고딕"/>
                          <a:cs typeface="맑은 고딕"/>
                        </a:rPr>
                        <a:t>키워드 + 의미 검색</a:t>
                      </a:r>
                    </a:p>
                  </a:txBody>
                  <a:tcPr marL="190500" marR="190500" marT="133350" marB="114300" anchor="ctr">
                    <a:solidFill>
                      <a:srgbClr val="E8EFF3"/>
                    </a:solidFill>
                  </a:tcPr>
                </a:tc>
                <a:tc>
                  <a:txBody>
                    <a:bodyPr/>
                    <a:lstStyle/>
                    <a:p>
                      <a:r>
                        <a:rPr sz="2550" b="0">
                          <a:solidFill>
                            <a:srgbClr val="10344D"/>
                          </a:solidFill>
                          <a:latin typeface="맑은 고딕"/>
                          <a:ea typeface="맑은 고딕"/>
                          <a:cs typeface="맑은 고딕"/>
                        </a:rPr>
                        <a:t>BM25 방식 점수 + 임베딩</a:t>
                      </a:r>
                    </a:p>
                    <a:p>
                      <a:r>
                        <a:rPr sz="2550" b="0">
                          <a:solidFill>
                            <a:srgbClr val="10344D"/>
                          </a:solidFill>
                          <a:latin typeface="맑은 고딕"/>
                          <a:ea typeface="맑은 고딕"/>
                          <a:cs typeface="맑은 고딕"/>
                        </a:rPr>
                        <a:t>text-embedding-3-small</a:t>
                      </a:r>
                    </a:p>
                  </a:txBody>
                  <a:tcPr marL="190500" marR="190500" marT="133350" marB="114300" anchor="ctr">
                    <a:solidFill>
                      <a:srgbClr val="E8EFF3"/>
                    </a:solidFill>
                  </a:tcPr>
                </a:tc>
                <a:tc>
                  <a:txBody>
                    <a:bodyPr/>
                    <a:lstStyle/>
                    <a:p>
                      <a:r>
                        <a:rPr sz="2550" b="0">
                          <a:solidFill>
                            <a:srgbClr val="10344D"/>
                          </a:solidFill>
                          <a:latin typeface="맑은 고딕"/>
                          <a:ea typeface="맑은 고딕"/>
                          <a:cs typeface="맑은 고딕"/>
                        </a:rPr>
                        <a:t>키워드가 놓치는 일상 표현을 의미 검색이 보완</a:t>
                      </a:r>
                    </a:p>
                    <a:p>
                      <a:r>
                        <a:rPr sz="2550" b="0">
                          <a:solidFill>
                            <a:srgbClr val="10344D"/>
                          </a:solidFill>
                          <a:latin typeface="맑은 고딕"/>
                          <a:ea typeface="맑은 고딕"/>
                          <a:cs typeface="맑은 고딕"/>
                        </a:rPr>
                        <a:t>의미 검색만 쓰면 정확한 용어·조건이 약해질 수 있음</a:t>
                      </a:r>
                    </a:p>
                  </a:txBody>
                  <a:tcPr marL="190500" marR="190500" marT="133350" marB="114300" anchor="ctr">
                    <a:solidFill>
                      <a:srgbClr val="E8EFF3"/>
                    </a:solidFill>
                  </a:tcPr>
                </a:tc>
              </a:tr>
              <a:tr h="1174750">
                <a:tc>
                  <a:txBody>
                    <a:bodyPr/>
                    <a:lstStyle/>
                    <a:p>
                      <a:r>
                        <a:rPr sz="2550" b="1">
                          <a:solidFill>
                            <a:srgbClr val="10344D"/>
                          </a:solidFill>
                          <a:latin typeface="맑은 고딕"/>
                          <a:ea typeface="맑은 고딕"/>
                          <a:cs typeface="맑은 고딕"/>
                        </a:rPr>
                        <a:t>LangGraph</a:t>
                      </a:r>
                    </a:p>
                  </a:txBody>
                  <a:tcPr marL="190500" marR="190500" marT="133350" marB="114300" anchor="ctr">
                    <a:solidFill>
                      <a:srgbClr val="FFFFFF"/>
                    </a:solidFill>
                  </a:tcPr>
                </a:tc>
                <a:tc>
                  <a:txBody>
                    <a:bodyPr/>
                    <a:lstStyle/>
                    <a:p>
                      <a:r>
                        <a:rPr sz="2550" b="0">
                          <a:solidFill>
                            <a:srgbClr val="10344D"/>
                          </a:solidFill>
                          <a:latin typeface="맑은 고딕"/>
                          <a:ea typeface="맑은 고딕"/>
                          <a:cs typeface="맑은 고딕"/>
                        </a:rPr>
                        <a:t>질문 정리·검색·판정·생성을</a:t>
                      </a:r>
                    </a:p>
                    <a:p>
                      <a:r>
                        <a:rPr sz="2550" b="0">
                          <a:solidFill>
                            <a:srgbClr val="10344D"/>
                          </a:solidFill>
                          <a:latin typeface="맑은 고딕"/>
                          <a:ea typeface="맑은 고딕"/>
                          <a:cs typeface="맑은 고딕"/>
                        </a:rPr>
                        <a:t>상태를 공유하는 4개 노드로 구성</a:t>
                      </a:r>
                    </a:p>
                  </a:txBody>
                  <a:tcPr marL="190500" marR="190500" marT="133350" marB="114300" anchor="ctr">
                    <a:solidFill>
                      <a:srgbClr val="FFFFFF"/>
                    </a:solidFill>
                  </a:tcPr>
                </a:tc>
                <a:tc>
                  <a:txBody>
                    <a:bodyPr/>
                    <a:lstStyle/>
                    <a:p>
                      <a:r>
                        <a:rPr sz="2550" b="0">
                          <a:solidFill>
                            <a:srgbClr val="10344D"/>
                          </a:solidFill>
                          <a:latin typeface="맑은 고딕"/>
                          <a:ea typeface="맑은 고딕"/>
                          <a:cs typeface="맑은 고딕"/>
                        </a:rPr>
                        <a:t>하나의 긴 프롬프트에 몰아넣지 않고</a:t>
                      </a:r>
                    </a:p>
                    <a:p>
                      <a:r>
                        <a:rPr sz="2550" b="0">
                          <a:solidFill>
                            <a:srgbClr val="10344D"/>
                          </a:solidFill>
                          <a:latin typeface="맑은 고딕"/>
                          <a:ea typeface="맑은 고딕"/>
                          <a:cs typeface="맑은 고딕"/>
                        </a:rPr>
                        <a:t>오류가 난 단계를 구분해 수정·검증</a:t>
                      </a:r>
                    </a:p>
                  </a:txBody>
                  <a:tcPr marL="190500" marR="190500" marT="133350" marB="114300" anchor="ctr">
                    <a:solidFill>
                      <a:srgbClr val="FFFFFF"/>
                    </a:solidFill>
                  </a:tcPr>
                </a:tc>
              </a:tr>
              <a:tr h="1174750">
                <a:tc>
                  <a:txBody>
                    <a:bodyPr/>
                    <a:lstStyle/>
                    <a:p>
                      <a:r>
                        <a:rPr sz="2550" b="1">
                          <a:solidFill>
                            <a:srgbClr val="10344D"/>
                          </a:solidFill>
                          <a:latin typeface="맑은 고딕"/>
                          <a:ea typeface="맑은 고딕"/>
                          <a:cs typeface="맑은 고딕"/>
                        </a:rPr>
                        <a:t>OpenAI API</a:t>
                      </a:r>
                    </a:p>
                  </a:txBody>
                  <a:tcPr marL="190500" marR="190500" marT="133350" marB="114300" anchor="ctr">
                    <a:solidFill>
                      <a:srgbClr val="E8EFF3"/>
                    </a:solidFill>
                  </a:tcPr>
                </a:tc>
                <a:tc>
                  <a:txBody>
                    <a:bodyPr/>
                    <a:lstStyle/>
                    <a:p>
                      <a:r>
                        <a:rPr sz="2550" b="0">
                          <a:solidFill>
                            <a:srgbClr val="10344D"/>
                          </a:solidFill>
                          <a:latin typeface="맑은 고딕"/>
                          <a:ea typeface="맑은 고딕"/>
                          <a:cs typeface="맑은 고딕"/>
                        </a:rPr>
                        <a:t>gpt-5.6-luna로</a:t>
                      </a:r>
                    </a:p>
                    <a:p>
                      <a:r>
                        <a:rPr sz="2550" b="0">
                          <a:solidFill>
                            <a:srgbClr val="10344D"/>
                          </a:solidFill>
                          <a:latin typeface="맑은 고딕"/>
                          <a:ea typeface="맑은 고딕"/>
                          <a:cs typeface="맑은 고딕"/>
                        </a:rPr>
                        <a:t>질문 재작성·판정·답변 작성</a:t>
                      </a:r>
                    </a:p>
                  </a:txBody>
                  <a:tcPr marL="190500" marR="190500" marT="133350" marB="114300" anchor="ctr">
                    <a:solidFill>
                      <a:srgbClr val="E8EFF3"/>
                    </a:solidFill>
                  </a:tcPr>
                </a:tc>
                <a:tc>
                  <a:txBody>
                    <a:bodyPr/>
                    <a:lstStyle/>
                    <a:p>
                      <a:r>
                        <a:rPr sz="2550" b="0">
                          <a:solidFill>
                            <a:srgbClr val="10344D"/>
                          </a:solidFill>
                          <a:latin typeface="맑은 고딕"/>
                          <a:ea typeface="맑은 고딕"/>
                          <a:cs typeface="맑은 고딕"/>
                        </a:rPr>
                        <a:t>생성 모델과 사내 규정 데이터를 분리</a:t>
                      </a:r>
                    </a:p>
                    <a:p>
                      <a:r>
                        <a:rPr sz="2550" b="0">
                          <a:solidFill>
                            <a:srgbClr val="10344D"/>
                          </a:solidFill>
                          <a:latin typeface="맑은 고딕"/>
                          <a:ea typeface="맑은 고딕"/>
                          <a:cs typeface="맑은 고딕"/>
                        </a:rPr>
                        <a:t>모델 간 성능·비용 비교 실험은 미수행</a:t>
                      </a:r>
                    </a:p>
                  </a:txBody>
                  <a:tcPr marL="190500" marR="190500" marT="133350" marB="114300" anchor="ctr">
                    <a:solidFill>
                      <a:srgbClr val="E8EFF3"/>
                    </a:solidFill>
                  </a:tcPr>
                </a:tc>
              </a:tr>
              <a:tr h="1174750">
                <a:tc>
                  <a:txBody>
                    <a:bodyPr/>
                    <a:lstStyle/>
                    <a:p>
                      <a:r>
                        <a:rPr sz="2550" b="1">
                          <a:solidFill>
                            <a:srgbClr val="10344D"/>
                          </a:solidFill>
                          <a:latin typeface="맑은 고딕"/>
                          <a:ea typeface="맑은 고딕"/>
                          <a:cs typeface="맑은 고딕"/>
                        </a:rPr>
                        <a:t>Python + HTML/JS</a:t>
                      </a:r>
                    </a:p>
                  </a:txBody>
                  <a:tcPr marL="190500" marR="190500" marT="133350" marB="114300" anchor="ctr">
                    <a:solidFill>
                      <a:srgbClr val="FFFFFF"/>
                    </a:solidFill>
                  </a:tcPr>
                </a:tc>
                <a:tc>
                  <a:txBody>
                    <a:bodyPr/>
                    <a:lstStyle/>
                    <a:p>
                      <a:r>
                        <a:rPr sz="2550" b="0">
                          <a:solidFill>
                            <a:srgbClr val="10344D"/>
                          </a:solidFill>
                          <a:latin typeface="맑은 고딕"/>
                          <a:ea typeface="맑은 고딕"/>
                          <a:cs typeface="맑은 고딕"/>
                        </a:rPr>
                        <a:t>표준 HTTP 서버와 웹 상담 화면</a:t>
                      </a:r>
                    </a:p>
                    <a:p>
                      <a:r>
                        <a:rPr sz="2550" b="0">
                          <a:solidFill>
                            <a:srgbClr val="10344D"/>
                          </a:solidFill>
                          <a:latin typeface="맑은 고딕"/>
                          <a:ea typeface="맑은 고딕"/>
                          <a:cs typeface="맑은 고딕"/>
                        </a:rPr>
                        <a:t>API 키는 .env에서 로드</a:t>
                      </a:r>
                    </a:p>
                  </a:txBody>
                  <a:tcPr marL="190500" marR="190500" marT="133350" marB="114300" anchor="ctr">
                    <a:solidFill>
                      <a:srgbClr val="FFFFFF"/>
                    </a:solidFill>
                  </a:tcPr>
                </a:tc>
                <a:tc>
                  <a:txBody>
                    <a:bodyPr/>
                    <a:lstStyle/>
                    <a:p>
                      <a:r>
                        <a:rPr sz="2550" b="0">
                          <a:solidFill>
                            <a:srgbClr val="10344D"/>
                          </a:solidFill>
                          <a:latin typeface="맑은 고딕"/>
                          <a:ea typeface="맑은 고딕"/>
                          <a:cs typeface="맑은 고딕"/>
                        </a:rPr>
                        <a:t>기존 프로젝트 구조로 상담 흐름을 연결</a:t>
                      </a:r>
                    </a:p>
                    <a:p>
                      <a:r>
                        <a:rPr sz="2550" b="0">
                          <a:solidFill>
                            <a:srgbClr val="10344D"/>
                          </a:solidFill>
                          <a:latin typeface="맑은 고딕"/>
                          <a:ea typeface="맑은 고딕"/>
                          <a:cs typeface="맑은 고딕"/>
                        </a:rPr>
                        <a:t>사내 인증·운영 인프라는 후속 구축</a:t>
                      </a:r>
                    </a:p>
                  </a:txBody>
                  <a:tcPr marL="190500" marR="190500" marT="133350" marB="114300" anchor="ctr">
                    <a:solidFill>
                      <a:srgbClr val="FFFFFF"/>
                    </a:solidFill>
                  </a:tcPr>
                </a:tc>
              </a:tr>
            </a:tbl>
          </a:graphicData>
        </a:graphic>
      </p:graphicFrame>
      <p:sp>
        <p:nvSpPr>
          <p:cNvPr id="5" name="v3-text-41">
            <a:extLst xmlns:a="http://schemas.openxmlformats.org/drawingml/2006/main">
              <a:ext uri="{FF2B5EF4-FFF2-40B4-BE49-F238E27FC236}">
                <a16:creationId xmlns:a16="http://schemas.microsoft.com/office/drawing/2014/main" id="{4CD74839-B500-445C-8859-1B9528159731}"/>
              </a:ext>
            </a:extLst>
          </p:cNvPr>
          <p:cNvSpPr>
            <a:spLocks xmlns:a="http://schemas.openxmlformats.org/drawingml/2006/main" noGrp="1"/>
          </p:cNvSpPr>
          <p:nvPr/>
        </p:nvSpPr>
        <p:spPr>
          <a:xfrm xmlns:a="http://schemas.openxmlformats.org/drawingml/2006/main">
            <a:off x="2629242" y="11925300"/>
            <a:ext cx="20195629"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26573"/>
                </a:solidFill>
                <a:latin typeface="맑은 고딕"/>
                <a:ea typeface="맑은 고딕"/>
                <a:cs typeface="맑은 고딕"/>
              </a:defRPr>
            </a:pPr>
            <a:r>
              <a:rPr sz="1950" b="0">
                <a:solidFill>
                  <a:srgbClr val="526573"/>
                </a:solidFill>
                <a:latin typeface="맑은 고딕"/>
                <a:ea typeface="맑은 고딕"/>
                <a:cs typeface="맑은 고딕"/>
              </a:rPr>
              <a:t>모델·구성은 현재 코드 기준. 대안 비교는 구현 구조에 대한 설명이며, 미수행 벤치마크를 실험 결과로 제시하지 않음</a:t>
            </a:r>
          </a:p>
        </p:txBody>
      </p:sp>
    </p:spTree>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7" name="v3-text-42">
            <a:extLst xmlns:a="http://schemas.openxmlformats.org/drawingml/2006/main">
              <a:ext uri="{FF2B5EF4-FFF2-40B4-BE49-F238E27FC236}">
                <a16:creationId xmlns:a16="http://schemas.microsoft.com/office/drawing/2014/main" id="{8FBEE132-D3F4-4506-A559-8E67F0B9D84B}"/>
              </a:ext>
            </a:extLst>
          </p:cNvPr>
          <p:cNvSpPr>
            <a:spLocks xmlns:a="http://schemas.openxmlformats.org/drawingml/2006/main" noGrp="1"/>
          </p:cNvSpPr>
          <p:nvPr/>
        </p:nvSpPr>
        <p:spPr>
          <a:xfrm xmlns:a="http://schemas.openxmlformats.org/drawingml/2006/main">
            <a:off x="2629242" y="2324100"/>
            <a:ext cx="20386154"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1">
                <a:solidFill>
                  <a:srgbClr val="10344D"/>
                </a:solidFill>
                <a:latin typeface="맑은 고딕"/>
                <a:ea typeface="맑은 고딕"/>
                <a:cs typeface="맑은 고딕"/>
              </a:defRPr>
            </a:pPr>
            <a:r>
              <a:rPr sz="4350" b="1">
                <a:solidFill>
                  <a:srgbClr val="10344D"/>
                </a:solidFill>
                <a:latin typeface="맑은 고딕"/>
                <a:ea typeface="맑은 고딕"/>
                <a:cs typeface="맑은 고딕"/>
              </a:rPr>
              <a:t>교육 내용과 실제 구현의 연결</a:t>
            </a:r>
          </a:p>
        </p:txBody>
      </p:sp>
      <p:sp>
        <p:nvSpPr>
          <p:cNvPr id="2" name="v3-text-43">
            <a:extLst xmlns:a="http://schemas.openxmlformats.org/drawingml/2006/main">
              <a:ext uri="{FF2B5EF4-FFF2-40B4-BE49-F238E27FC236}">
                <a16:creationId xmlns:a16="http://schemas.microsoft.com/office/drawing/2014/main" id="{91DFC791-FB42-4433-9719-437C94799080}"/>
              </a:ext>
            </a:extLst>
          </p:cNvPr>
          <p:cNvSpPr>
            <a:spLocks xmlns:a="http://schemas.openxmlformats.org/drawingml/2006/main" noGrp="1"/>
          </p:cNvSpPr>
          <p:nvPr/>
        </p:nvSpPr>
        <p:spPr>
          <a:xfrm xmlns:a="http://schemas.openxmlformats.org/drawingml/2006/main">
            <a:off x="2629242" y="3390900"/>
            <a:ext cx="20005104"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526573"/>
                </a:solidFill>
                <a:latin typeface="맑은 고딕"/>
                <a:ea typeface="맑은 고딕"/>
                <a:cs typeface="맑은 고딕"/>
              </a:defRPr>
            </a:pPr>
            <a:r>
              <a:rPr sz="2550" b="0">
                <a:solidFill>
                  <a:srgbClr val="526573"/>
                </a:solidFill>
                <a:latin typeface="맑은 고딕"/>
                <a:ea typeface="맑은 고딕"/>
                <a:cs typeface="맑은 고딕"/>
              </a:rPr>
              <a:t>배운 개념을 코드와 화면에 적용하고, 평가 결과를 다시 개선에 사용했습니다</a:t>
            </a:r>
          </a:p>
        </p:txBody>
      </p:sp>
      <p:sp>
        <p:nvSpPr>
          <p:cNvPr id="3" name="v3-text-44">
            <a:extLst xmlns:a="http://schemas.openxmlformats.org/drawingml/2006/main">
              <a:ext uri="{FF2B5EF4-FFF2-40B4-BE49-F238E27FC236}">
                <a16:creationId xmlns:a16="http://schemas.microsoft.com/office/drawing/2014/main" id="{B8D0659B-D9B3-495E-89F4-2CE0AE78256A}"/>
              </a:ext>
            </a:extLst>
          </p:cNvPr>
          <p:cNvSpPr>
            <a:spLocks xmlns:a="http://schemas.openxmlformats.org/drawingml/2006/main" noGrp="1"/>
          </p:cNvSpPr>
          <p:nvPr/>
        </p:nvSpPr>
        <p:spPr>
          <a:xfrm xmlns:a="http://schemas.openxmlformats.org/drawingml/2006/main">
            <a:off x="22386665" y="12649200"/>
            <a:ext cx="914519"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800" b="0">
                <a:solidFill>
                  <a:srgbClr val="526573"/>
                </a:solidFill>
                <a:latin typeface="맑은 고딕"/>
                <a:ea typeface="맑은 고딕"/>
                <a:cs typeface="맑은 고딕"/>
              </a:defRPr>
            </a:pPr>
            <a:r>
              <a:rPr sz="1800" b="0">
                <a:solidFill>
                  <a:srgbClr val="526573"/>
                </a:solidFill>
                <a:latin typeface="맑은 고딕"/>
                <a:ea typeface="맑은 고딕"/>
                <a:cs typeface="맑은 고딕"/>
              </a:rPr>
              <a:t>07</a:t>
            </a:r>
          </a:p>
        </p:txBody>
      </p:sp>
      <p:graphicFrame>
        <p:nvGraphicFramePr>
          <p:cNvPr id="10" name=""/>
          <p:cNvGraphicFramePr/>
          <p:nvPr/>
        </p:nvGraphicFramePr>
        <p:xfrm>
          <a:off xmlns:a="http://schemas.openxmlformats.org/drawingml/2006/main" x="2629242" y="4476750"/>
          <a:ext xmlns:a="http://schemas.openxmlformats.org/drawingml/2006/main" cx="20195629" cy="6134100"/>
        </p:xfrm>
        <a:graphic xmlns:a="http://schemas.openxmlformats.org/drawingml/2006/main">
          <a:graphicData uri="http://schemas.openxmlformats.org/drawingml/2006/table">
            <a:tbl>
              <a:tblPr/>
              <a:tblGrid>
                <a:gridCol w="5334695"/>
                <a:gridCol w="8383091"/>
                <a:gridCol w="6477843"/>
              </a:tblGrid>
              <a:tr h="1226820">
                <a:tc>
                  <a:txBody>
                    <a:bodyPr/>
                    <a:lstStyle/>
                    <a:p>
                      <a:r>
                        <a:rPr sz="2550" b="1">
                          <a:solidFill>
                            <a:srgbClr val="FFFFFF"/>
                          </a:solidFill>
                          <a:latin typeface="맑은 고딕"/>
                          <a:ea typeface="맑은 고딕"/>
                          <a:cs typeface="맑은 고딕"/>
                        </a:rPr>
                        <a:t>주차·학습 내용</a:t>
                      </a:r>
                    </a:p>
                  </a:txBody>
                  <a:tcPr marL="190500" marR="190500" marT="133350" marB="114300" anchor="ctr">
                    <a:solidFill>
                      <a:srgbClr val="082D65"/>
                    </a:solidFill>
                  </a:tcPr>
                </a:tc>
                <a:tc>
                  <a:txBody>
                    <a:bodyPr/>
                    <a:lstStyle/>
                    <a:p>
                      <a:r>
                        <a:rPr sz="2550" b="1">
                          <a:solidFill>
                            <a:srgbClr val="FFFFFF"/>
                          </a:solidFill>
                          <a:latin typeface="맑은 고딕"/>
                          <a:ea typeface="맑은 고딕"/>
                          <a:cs typeface="맑은 고딕"/>
                        </a:rPr>
                        <a:t>프로젝트 적용</a:t>
                      </a:r>
                    </a:p>
                  </a:txBody>
                  <a:tcPr marL="190500" marR="190500" marT="133350" marB="114300" anchor="ctr">
                    <a:solidFill>
                      <a:srgbClr val="082D65"/>
                    </a:solidFill>
                  </a:tcPr>
                </a:tc>
                <a:tc>
                  <a:txBody>
                    <a:bodyPr/>
                    <a:lstStyle/>
                    <a:p>
                      <a:r>
                        <a:rPr sz="2550" b="1">
                          <a:solidFill>
                            <a:srgbClr val="FFFFFF"/>
                          </a:solidFill>
                          <a:latin typeface="맑은 고딕"/>
                          <a:ea typeface="맑은 고딕"/>
                          <a:cs typeface="맑은 고딕"/>
                        </a:rPr>
                        <a:t>확인 가능한 결과물</a:t>
                      </a:r>
                    </a:p>
                  </a:txBody>
                  <a:tcPr marL="190500" marR="190500" marT="133350" marB="114300" anchor="ctr">
                    <a:solidFill>
                      <a:srgbClr val="082D65"/>
                    </a:solidFill>
                  </a:tcPr>
                </a:tc>
              </a:tr>
              <a:tr h="1226820">
                <a:tc>
                  <a:txBody>
                    <a:bodyPr/>
                    <a:lstStyle/>
                    <a:p>
                      <a:r>
                        <a:rPr sz="2700" b="1">
                          <a:solidFill>
                            <a:srgbClr val="10344D"/>
                          </a:solidFill>
                          <a:latin typeface="맑은 고딕"/>
                          <a:ea typeface="맑은 고딕"/>
                          <a:cs typeface="맑은 고딕"/>
                        </a:rPr>
                        <a:t>1주차</a:t>
                      </a:r>
                    </a:p>
                    <a:p>
                      <a:r>
                        <a:rPr sz="2700" b="1">
                          <a:solidFill>
                            <a:srgbClr val="10344D"/>
                          </a:solidFill>
                          <a:latin typeface="맑은 고딕"/>
                          <a:ea typeface="맑은 고딕"/>
                          <a:cs typeface="맑은 고딕"/>
                        </a:rPr>
                        <a:t>Python · API · 환경변수</a:t>
                      </a:r>
                    </a:p>
                  </a:txBody>
                  <a:tcPr marL="190500" marR="190500" marT="133350" marB="114300" anchor="ctr">
                    <a:solidFill>
                      <a:srgbClr val="FFFFFF"/>
                    </a:solidFill>
                  </a:tcPr>
                </a:tc>
                <a:tc>
                  <a:txBody>
                    <a:bodyPr/>
                    <a:lstStyle/>
                    <a:p>
                      <a:r>
                        <a:rPr sz="2700" b="0">
                          <a:solidFill>
                            <a:srgbClr val="10344D"/>
                          </a:solidFill>
                          <a:latin typeface="맑은 고딕"/>
                          <a:ea typeface="맑은 고딕"/>
                          <a:cs typeface="맑은 고딕"/>
                        </a:rPr>
                        <a:t>API 요청·응답 처리와 환경변수 로드</a:t>
                      </a:r>
                    </a:p>
                    <a:p>
                      <a:r>
                        <a:rPr sz="2700" b="0">
                          <a:solidFill>
                            <a:srgbClr val="10344D"/>
                          </a:solidFill>
                          <a:latin typeface="맑은 고딕"/>
                          <a:ea typeface="맑은 고딕"/>
                          <a:cs typeface="맑은 고딕"/>
                        </a:rPr>
                        <a:t>Python으로 상담 서버 구현</a:t>
                      </a:r>
                    </a:p>
                  </a:txBody>
                  <a:tcPr marL="190500" marR="190500" marT="133350" marB="114300" anchor="ctr">
                    <a:solidFill>
                      <a:srgbClr val="FFFFFF"/>
                    </a:solidFill>
                  </a:tcPr>
                </a:tc>
                <a:tc>
                  <a:txBody>
                    <a:bodyPr/>
                    <a:lstStyle/>
                    <a:p>
                      <a:r>
                        <a:rPr sz="2700" b="0">
                          <a:solidFill>
                            <a:srgbClr val="10344D"/>
                          </a:solidFill>
                          <a:latin typeface="맑은 고딕"/>
                          <a:ea typeface="맑은 고딕"/>
                          <a:cs typeface="맑은 고딕"/>
                        </a:rPr>
                        <a:t>app.py의 API 호출·.env 로드</a:t>
                      </a:r>
                    </a:p>
                  </a:txBody>
                  <a:tcPr marL="190500" marR="190500" marT="133350" marB="114300" anchor="ctr">
                    <a:solidFill>
                      <a:srgbClr val="FFFFFF"/>
                    </a:solidFill>
                  </a:tcPr>
                </a:tc>
              </a:tr>
              <a:tr h="1226820">
                <a:tc>
                  <a:txBody>
                    <a:bodyPr/>
                    <a:lstStyle/>
                    <a:p>
                      <a:r>
                        <a:rPr sz="2700" b="1">
                          <a:solidFill>
                            <a:srgbClr val="10344D"/>
                          </a:solidFill>
                          <a:latin typeface="맑은 고딕"/>
                          <a:ea typeface="맑은 고딕"/>
                          <a:cs typeface="맑은 고딕"/>
                        </a:rPr>
                        <a:t>2주차</a:t>
                      </a:r>
                    </a:p>
                    <a:p>
                      <a:r>
                        <a:rPr sz="2700" b="1">
                          <a:solidFill>
                            <a:srgbClr val="10344D"/>
                          </a:solidFill>
                          <a:latin typeface="맑은 고딕"/>
                          <a:ea typeface="맑은 고딕"/>
                          <a:cs typeface="맑은 고딕"/>
                        </a:rPr>
                        <a:t>RAG · LangGraph · 웹 구성</a:t>
                      </a:r>
                    </a:p>
                  </a:txBody>
                  <a:tcPr marL="190500" marR="190500" marT="133350" marB="114300" anchor="ctr">
                    <a:solidFill>
                      <a:srgbClr val="E8EFF3"/>
                    </a:solidFill>
                  </a:tcPr>
                </a:tc>
                <a:tc>
                  <a:txBody>
                    <a:bodyPr/>
                    <a:lstStyle/>
                    <a:p>
                      <a:r>
                        <a:rPr sz="2700" b="0">
                          <a:solidFill>
                            <a:srgbClr val="10344D"/>
                          </a:solidFill>
                          <a:latin typeface="맑은 고딕"/>
                          <a:ea typeface="맑은 고딕"/>
                          <a:cs typeface="맑은 고딕"/>
                        </a:rPr>
                        <a:t>규정을 검색 구간으로 나누고</a:t>
                      </a:r>
                    </a:p>
                    <a:p>
                      <a:r>
                        <a:rPr sz="2700" b="0">
                          <a:solidFill>
                            <a:srgbClr val="10344D"/>
                          </a:solidFill>
                          <a:latin typeface="맑은 고딕"/>
                          <a:ea typeface="맑은 고딕"/>
                          <a:cs typeface="맑은 고딕"/>
                        </a:rPr>
                        <a:t>검색·판정·생성 흐름과 화면 연결</a:t>
                      </a:r>
                    </a:p>
                  </a:txBody>
                  <a:tcPr marL="190500" marR="190500" marT="133350" marB="114300" anchor="ctr">
                    <a:solidFill>
                      <a:srgbClr val="E8EFF3"/>
                    </a:solidFill>
                  </a:tcPr>
                </a:tc>
                <a:tc>
                  <a:txBody>
                    <a:bodyPr/>
                    <a:lstStyle/>
                    <a:p>
                      <a:r>
                        <a:rPr sz="2700" b="0">
                          <a:solidFill>
                            <a:srgbClr val="10344D"/>
                          </a:solidFill>
                          <a:latin typeface="맑은 고딕"/>
                          <a:ea typeface="맑은 고딕"/>
                          <a:cs typeface="맑은 고딕"/>
                        </a:rPr>
                        <a:t>문서 색인 · 4단계 그래프</a:t>
                      </a:r>
                    </a:p>
                    <a:p>
                      <a:r>
                        <a:rPr sz="2700" b="0">
                          <a:solidFill>
                            <a:srgbClr val="10344D"/>
                          </a:solidFill>
                          <a:latin typeface="맑은 고딕"/>
                          <a:ea typeface="맑은 고딕"/>
                          <a:cs typeface="맑은 고딕"/>
                        </a:rPr>
                        <a:t>웹 상담 UI</a:t>
                      </a:r>
                    </a:p>
                  </a:txBody>
                  <a:tcPr marL="190500" marR="190500" marT="133350" marB="114300" anchor="ctr">
                    <a:solidFill>
                      <a:srgbClr val="E8EFF3"/>
                    </a:solidFill>
                  </a:tcPr>
                </a:tc>
              </a:tr>
              <a:tr h="1226820">
                <a:tc>
                  <a:txBody>
                    <a:bodyPr/>
                    <a:lstStyle/>
                    <a:p>
                      <a:r>
                        <a:rPr sz="2700" b="1">
                          <a:solidFill>
                            <a:srgbClr val="10344D"/>
                          </a:solidFill>
                          <a:latin typeface="맑은 고딕"/>
                          <a:ea typeface="맑은 고딕"/>
                          <a:cs typeface="맑은 고딕"/>
                        </a:rPr>
                        <a:t>3주차</a:t>
                      </a:r>
                    </a:p>
                    <a:p>
                      <a:r>
                        <a:rPr sz="2700" b="1">
                          <a:solidFill>
                            <a:srgbClr val="10344D"/>
                          </a:solidFill>
                          <a:latin typeface="맑은 고딕"/>
                          <a:ea typeface="맑은 고딕"/>
                          <a:cs typeface="맑은 고딕"/>
                        </a:rPr>
                        <a:t>RAG 개선 · AI Agent</a:t>
                      </a:r>
                    </a:p>
                  </a:txBody>
                  <a:tcPr marL="190500" marR="190500" marT="133350" marB="114300" anchor="ctr">
                    <a:solidFill>
                      <a:srgbClr val="FFFFFF"/>
                    </a:solidFill>
                  </a:tcPr>
                </a:tc>
                <a:tc>
                  <a:txBody>
                    <a:bodyPr/>
                    <a:lstStyle/>
                    <a:p>
                      <a:r>
                        <a:rPr sz="2700" b="0">
                          <a:solidFill>
                            <a:srgbClr val="10344D"/>
                          </a:solidFill>
                          <a:latin typeface="맑은 고딕"/>
                          <a:ea typeface="맑은 고딕"/>
                          <a:cs typeface="맑은 고딕"/>
                        </a:rPr>
                        <a:t>검색 가중치와 파일 선택 개선</a:t>
                      </a:r>
                    </a:p>
                    <a:p>
                      <a:r>
                        <a:rPr sz="2700" b="0">
                          <a:solidFill>
                            <a:srgbClr val="10344D"/>
                          </a:solidFill>
                          <a:latin typeface="맑은 고딕"/>
                          <a:ea typeface="맑은 고딕"/>
                          <a:cs typeface="맑은 고딕"/>
                        </a:rPr>
                        <a:t>대화 맥락을 질문 재작성으로 통합</a:t>
                      </a:r>
                    </a:p>
                  </a:txBody>
                  <a:tcPr marL="190500" marR="190500" marT="133350" marB="114300" anchor="ctr">
                    <a:solidFill>
                      <a:srgbClr val="FFFFFF"/>
                    </a:solidFill>
                  </a:tcPr>
                </a:tc>
                <a:tc>
                  <a:txBody>
                    <a:bodyPr/>
                    <a:lstStyle/>
                    <a:p>
                      <a:r>
                        <a:rPr sz="2700" b="0">
                          <a:solidFill>
                            <a:srgbClr val="10344D"/>
                          </a:solidFill>
                          <a:latin typeface="맑은 고딕"/>
                          <a:ea typeface="맑은 고딕"/>
                          <a:cs typeface="맑은 고딕"/>
                        </a:rPr>
                        <a:t>검색 오류·대화 단절 사례 개선</a:t>
                      </a:r>
                    </a:p>
                  </a:txBody>
                  <a:tcPr marL="190500" marR="190500" marT="133350" marB="114300" anchor="ctr">
                    <a:solidFill>
                      <a:srgbClr val="FFFFFF"/>
                    </a:solidFill>
                  </a:tcPr>
                </a:tc>
              </a:tr>
              <a:tr h="1226820">
                <a:tc>
                  <a:txBody>
                    <a:bodyPr/>
                    <a:lstStyle/>
                    <a:p>
                      <a:r>
                        <a:rPr sz="2700" b="1">
                          <a:solidFill>
                            <a:srgbClr val="10344D"/>
                          </a:solidFill>
                          <a:latin typeface="맑은 고딕"/>
                          <a:ea typeface="맑은 고딕"/>
                          <a:cs typeface="맑은 고딕"/>
                        </a:rPr>
                        <a:t>4주차</a:t>
                      </a:r>
                    </a:p>
                    <a:p>
                      <a:r>
                        <a:rPr sz="2700" b="1">
                          <a:solidFill>
                            <a:srgbClr val="10344D"/>
                          </a:solidFill>
                          <a:latin typeface="맑은 고딕"/>
                          <a:ea typeface="맑은 고딕"/>
                          <a:cs typeface="맑은 고딕"/>
                        </a:rPr>
                        <a:t>품질 확인 · 서비스 구성</a:t>
                      </a:r>
                    </a:p>
                  </a:txBody>
                  <a:tcPr marL="190500" marR="190500" marT="133350" marB="114300" anchor="ctr">
                    <a:solidFill>
                      <a:srgbClr val="E8EFF3"/>
                    </a:solidFill>
                  </a:tcPr>
                </a:tc>
                <a:tc>
                  <a:txBody>
                    <a:bodyPr/>
                    <a:lstStyle/>
                    <a:p>
                      <a:r>
                        <a:rPr sz="2700" b="0">
                          <a:solidFill>
                            <a:srgbClr val="10344D"/>
                          </a:solidFill>
                          <a:latin typeface="맑은 고딕"/>
                          <a:ea typeface="맑은 고딕"/>
                          <a:cs typeface="맑은 고딕"/>
                        </a:rPr>
                        <a:t>검색 평가와 동작 회귀 검증 분리</a:t>
                      </a:r>
                    </a:p>
                    <a:p>
                      <a:r>
                        <a:rPr sz="2700" b="0">
                          <a:solidFill>
                            <a:srgbClr val="10344D"/>
                          </a:solidFill>
                          <a:latin typeface="맑은 고딕"/>
                          <a:ea typeface="맑은 고딕"/>
                          <a:cs typeface="맑은 고딕"/>
                        </a:rPr>
                        <a:t>근거 링크·추가 확인·문의 초안 정리</a:t>
                      </a:r>
                    </a:p>
                  </a:txBody>
                  <a:tcPr marL="190500" marR="190500" marT="133350" marB="114300" anchor="ctr">
                    <a:solidFill>
                      <a:srgbClr val="E8EFF3"/>
                    </a:solidFill>
                  </a:tcPr>
                </a:tc>
                <a:tc>
                  <a:txBody>
                    <a:bodyPr/>
                    <a:lstStyle/>
                    <a:p>
                      <a:r>
                        <a:rPr sz="2700" b="0">
                          <a:solidFill>
                            <a:srgbClr val="10344D"/>
                          </a:solidFill>
                          <a:latin typeface="맑은 고딕"/>
                          <a:ea typeface="맑은 고딕"/>
                          <a:cs typeface="맑은 고딕"/>
                        </a:rPr>
                        <a:t>eval_retrieval.py · test_rules.py</a:t>
                      </a:r>
                    </a:p>
                    <a:p>
                      <a:r>
                        <a:rPr sz="2700" b="0">
                          <a:solidFill>
                            <a:srgbClr val="10344D"/>
                          </a:solidFill>
                          <a:latin typeface="맑은 고딕"/>
                          <a:ea typeface="맑은 고딕"/>
                          <a:cs typeface="맑은 고딕"/>
                        </a:rPr>
                        <a:t>직원이 사용할 상담 흐름</a:t>
                      </a:r>
                    </a:p>
                  </a:txBody>
                  <a:tcPr marL="190500" marR="190500" marT="133350" marB="114300" anchor="ctr">
                    <a:solidFill>
                      <a:srgbClr val="E8EFF3"/>
                    </a:solidFill>
                  </a:tcPr>
                </a:tc>
              </a:tr>
            </a:tbl>
          </a:graphicData>
        </a:graphic>
      </p:graphicFrame>
      <p:sp>
        <p:nvSpPr>
          <p:cNvPr id="5" name="v3-text-45">
            <a:extLst xmlns:a="http://schemas.openxmlformats.org/drawingml/2006/main">
              <a:ext uri="{FF2B5EF4-FFF2-40B4-BE49-F238E27FC236}">
                <a16:creationId xmlns:a16="http://schemas.microsoft.com/office/drawing/2014/main" id="{FB2D747A-04DB-4FFD-8565-60458FEBA3DD}"/>
              </a:ext>
            </a:extLst>
          </p:cNvPr>
          <p:cNvSpPr>
            <a:spLocks xmlns:a="http://schemas.openxmlformats.org/drawingml/2006/main" noGrp="1"/>
          </p:cNvSpPr>
          <p:nvPr/>
        </p:nvSpPr>
        <p:spPr>
          <a:xfrm xmlns:a="http://schemas.openxmlformats.org/drawingml/2006/main">
            <a:off x="2629242" y="11106150"/>
            <a:ext cx="3238922"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0344D"/>
                </a:solidFill>
                <a:latin typeface="맑은 고딕"/>
                <a:ea typeface="맑은 고딕"/>
                <a:cs typeface="맑은 고딕"/>
              </a:defRPr>
            </a:pPr>
            <a:r>
              <a:rPr sz="3150" b="1">
                <a:solidFill>
                  <a:srgbClr val="10344D"/>
                </a:solidFill>
                <a:latin typeface="맑은 고딕"/>
                <a:ea typeface="맑은 고딕"/>
                <a:cs typeface="맑은 고딕"/>
              </a:rPr>
              <a:t>학습의 연결</a:t>
            </a:r>
          </a:p>
        </p:txBody>
      </p:sp>
      <p:sp>
        <p:nvSpPr>
          <p:cNvPr id="6" name="v3-text-46">
            <a:extLst xmlns:a="http://schemas.openxmlformats.org/drawingml/2006/main">
              <a:ext uri="{FF2B5EF4-FFF2-40B4-BE49-F238E27FC236}">
                <a16:creationId xmlns:a16="http://schemas.microsoft.com/office/drawing/2014/main" id="{C2CF6CF3-C125-4DE3-B8CF-0945172B50CB}"/>
              </a:ext>
            </a:extLst>
          </p:cNvPr>
          <p:cNvSpPr>
            <a:spLocks xmlns:a="http://schemas.openxmlformats.org/drawingml/2006/main" noGrp="1"/>
          </p:cNvSpPr>
          <p:nvPr/>
        </p:nvSpPr>
        <p:spPr>
          <a:xfrm xmlns:a="http://schemas.openxmlformats.org/drawingml/2006/main">
            <a:off x="6192056" y="11106150"/>
            <a:ext cx="16575658"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0">
                <a:solidFill>
                  <a:srgbClr val="10344D"/>
                </a:solidFill>
                <a:latin typeface="맑은 고딕"/>
                <a:ea typeface="맑은 고딕"/>
                <a:cs typeface="맑은 고딕"/>
              </a:defRPr>
            </a:pPr>
            <a:r>
              <a:rPr sz="3000" b="0">
                <a:solidFill>
                  <a:srgbClr val="10344D"/>
                </a:solidFill>
                <a:latin typeface="맑은 고딕"/>
                <a:ea typeface="맑은 고딕"/>
                <a:cs typeface="맑은 고딕"/>
              </a:rPr>
              <a:t>API 연결에서 시작해, 근거 검색과 상태 관리, 실패 사례 검증까지 확장</a:t>
            </a:r>
          </a:p>
        </p:txBody>
      </p:sp>
    </p:spTree>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v3-text-47">
            <a:extLst xmlns:a="http://schemas.openxmlformats.org/drawingml/2006/main">
              <a:ext uri="{FF2B5EF4-FFF2-40B4-BE49-F238E27FC236}">
                <a16:creationId xmlns:a16="http://schemas.microsoft.com/office/drawing/2014/main" id="{9CE0C48A-08FE-4D86-9753-9FFA89C039B8}"/>
              </a:ext>
            </a:extLst>
          </p:cNvPr>
          <p:cNvSpPr>
            <a:spLocks xmlns:a="http://schemas.openxmlformats.org/drawingml/2006/main" noGrp="1"/>
          </p:cNvSpPr>
          <p:nvPr/>
        </p:nvSpPr>
        <p:spPr>
          <a:xfrm xmlns:a="http://schemas.openxmlformats.org/drawingml/2006/main">
            <a:off x="2629242" y="2324100"/>
            <a:ext cx="20386154"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1">
                <a:solidFill>
                  <a:srgbClr val="10344D"/>
                </a:solidFill>
                <a:latin typeface="맑은 고딕"/>
                <a:ea typeface="맑은 고딕"/>
                <a:cs typeface="맑은 고딕"/>
              </a:defRPr>
            </a:pPr>
            <a:r>
              <a:rPr sz="4350" b="1">
                <a:solidFill>
                  <a:srgbClr val="10344D"/>
                </a:solidFill>
                <a:latin typeface="맑은 고딕"/>
                <a:ea typeface="맑은 고딕"/>
                <a:cs typeface="맑은 고딕"/>
              </a:rPr>
              <a:t>핵심 기능과 안내 예시</a:t>
            </a:r>
          </a:p>
        </p:txBody>
      </p:sp>
      <p:sp>
        <p:nvSpPr>
          <p:cNvPr id="2" name="v3-text-48">
            <a:extLst xmlns:a="http://schemas.openxmlformats.org/drawingml/2006/main">
              <a:ext uri="{FF2B5EF4-FFF2-40B4-BE49-F238E27FC236}">
                <a16:creationId xmlns:a16="http://schemas.microsoft.com/office/drawing/2014/main" id="{5E44CAF3-8A49-4DCC-8901-6226C1B7FE78}"/>
              </a:ext>
            </a:extLst>
          </p:cNvPr>
          <p:cNvSpPr>
            <a:spLocks xmlns:a="http://schemas.openxmlformats.org/drawingml/2006/main" noGrp="1"/>
          </p:cNvSpPr>
          <p:nvPr/>
        </p:nvSpPr>
        <p:spPr>
          <a:xfrm xmlns:a="http://schemas.openxmlformats.org/drawingml/2006/main">
            <a:off x="2629242" y="3390900"/>
            <a:ext cx="20005104"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526573"/>
                </a:solidFill>
                <a:latin typeface="맑은 고딕"/>
                <a:ea typeface="맑은 고딕"/>
                <a:cs typeface="맑은 고딕"/>
              </a:defRPr>
            </a:pPr>
            <a:r>
              <a:rPr sz="2550" b="0">
                <a:solidFill>
                  <a:srgbClr val="526573"/>
                </a:solidFill>
                <a:latin typeface="맑은 고딕"/>
                <a:ea typeface="맑은 고딕"/>
                <a:cs typeface="맑은 고딕"/>
              </a:rPr>
              <a:t>질문의 성격에 따라 기준 안내, 추가 확인, 담당자 확인을 구분합니다</a:t>
            </a:r>
          </a:p>
        </p:txBody>
      </p:sp>
      <p:sp>
        <p:nvSpPr>
          <p:cNvPr id="3" name="v3-text-49">
            <a:extLst xmlns:a="http://schemas.openxmlformats.org/drawingml/2006/main">
              <a:ext uri="{FF2B5EF4-FFF2-40B4-BE49-F238E27FC236}">
                <a16:creationId xmlns:a16="http://schemas.microsoft.com/office/drawing/2014/main" id="{C4CE0F6D-2B18-4DE8-B1BB-5DAA59747654}"/>
              </a:ext>
            </a:extLst>
          </p:cNvPr>
          <p:cNvSpPr>
            <a:spLocks xmlns:a="http://schemas.openxmlformats.org/drawingml/2006/main" noGrp="1"/>
          </p:cNvSpPr>
          <p:nvPr/>
        </p:nvSpPr>
        <p:spPr>
          <a:xfrm xmlns:a="http://schemas.openxmlformats.org/drawingml/2006/main">
            <a:off x="22386665" y="12649200"/>
            <a:ext cx="914519"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800" b="0">
                <a:solidFill>
                  <a:srgbClr val="526573"/>
                </a:solidFill>
                <a:latin typeface="맑은 고딕"/>
                <a:ea typeface="맑은 고딕"/>
                <a:cs typeface="맑은 고딕"/>
              </a:defRPr>
            </a:pPr>
            <a:r>
              <a:rPr sz="1800" b="0">
                <a:solidFill>
                  <a:srgbClr val="526573"/>
                </a:solidFill>
                <a:latin typeface="맑은 고딕"/>
                <a:ea typeface="맑은 고딕"/>
                <a:cs typeface="맑은 고딕"/>
              </a:rPr>
              <a:t>08</a:t>
            </a:r>
          </a:p>
        </p:txBody>
      </p:sp>
      <p:graphicFrame>
        <p:nvGraphicFramePr>
          <p:cNvPr id="9" name=""/>
          <p:cNvGraphicFramePr/>
          <p:nvPr/>
        </p:nvGraphicFramePr>
        <p:xfrm>
          <a:off xmlns:a="http://schemas.openxmlformats.org/drawingml/2006/main" x="2629242" y="4476750"/>
          <a:ext xmlns:a="http://schemas.openxmlformats.org/drawingml/2006/main" cx="20195629" cy="6305550"/>
        </p:xfrm>
        <a:graphic xmlns:a="http://schemas.openxmlformats.org/drawingml/2006/main">
          <a:graphicData uri="http://schemas.openxmlformats.org/drawingml/2006/table">
            <a:tbl>
              <a:tblPr/>
              <a:tblGrid>
                <a:gridCol w="4001021"/>
                <a:gridCol w="6858893"/>
                <a:gridCol w="9335715"/>
              </a:tblGrid>
              <a:tr h="1261110">
                <a:tc>
                  <a:txBody>
                    <a:bodyPr/>
                    <a:lstStyle/>
                    <a:p>
                      <a:r>
                        <a:rPr sz="2550" b="1">
                          <a:solidFill>
                            <a:srgbClr val="FFFFFF"/>
                          </a:solidFill>
                          <a:latin typeface="맑은 고딕"/>
                          <a:ea typeface="맑은 고딕"/>
                          <a:cs typeface="맑은 고딕"/>
                        </a:rPr>
                        <a:t>질문 유형</a:t>
                      </a:r>
                    </a:p>
                  </a:txBody>
                  <a:tcPr marL="190500" marR="190500" marT="133350" marB="114300" anchor="ctr">
                    <a:solidFill>
                      <a:srgbClr val="082D65"/>
                    </a:solidFill>
                  </a:tcPr>
                </a:tc>
                <a:tc>
                  <a:txBody>
                    <a:bodyPr/>
                    <a:lstStyle/>
                    <a:p>
                      <a:r>
                        <a:rPr sz="2550" b="1">
                          <a:solidFill>
                            <a:srgbClr val="FFFFFF"/>
                          </a:solidFill>
                          <a:latin typeface="맑은 고딕"/>
                          <a:ea typeface="맑은 고딕"/>
                          <a:cs typeface="맑은 고딕"/>
                        </a:rPr>
                        <a:t>질문 예시</a:t>
                      </a:r>
                    </a:p>
                  </a:txBody>
                  <a:tcPr marL="190500" marR="190500" marT="133350" marB="114300" anchor="ctr">
                    <a:solidFill>
                      <a:srgbClr val="082D65"/>
                    </a:solidFill>
                  </a:tcPr>
                </a:tc>
                <a:tc>
                  <a:txBody>
                    <a:bodyPr/>
                    <a:lstStyle/>
                    <a:p>
                      <a:r>
                        <a:rPr sz="2550" b="1">
                          <a:solidFill>
                            <a:srgbClr val="FFFFFF"/>
                          </a:solidFill>
                          <a:latin typeface="맑은 고딕"/>
                          <a:ea typeface="맑은 고딕"/>
                          <a:cs typeface="맑은 고딕"/>
                        </a:rPr>
                        <a:t>제공하는 정보와 다음 행동</a:t>
                      </a:r>
                    </a:p>
                  </a:txBody>
                  <a:tcPr marL="190500" marR="190500" marT="133350" marB="114300" anchor="ctr">
                    <a:solidFill>
                      <a:srgbClr val="082D65"/>
                    </a:solidFill>
                  </a:tcPr>
                </a:tc>
              </a:tr>
              <a:tr h="1261110">
                <a:tc>
                  <a:txBody>
                    <a:bodyPr/>
                    <a:lstStyle/>
                    <a:p>
                      <a:r>
                        <a:rPr sz="2700" b="1">
                          <a:solidFill>
                            <a:srgbClr val="10344D"/>
                          </a:solidFill>
                          <a:latin typeface="맑은 고딕"/>
                          <a:ea typeface="맑은 고딕"/>
                          <a:cs typeface="맑은 고딕"/>
                        </a:rPr>
                        <a:t>기준 안내</a:t>
                      </a:r>
                    </a:p>
                  </a:txBody>
                  <a:tcPr marL="190500" marR="190500" marT="133350" marB="114300" anchor="ctr">
                    <a:solidFill>
                      <a:srgbClr val="FFFFFF"/>
                    </a:solidFill>
                  </a:tcPr>
                </a:tc>
                <a:tc>
                  <a:txBody>
                    <a:bodyPr/>
                    <a:lstStyle/>
                    <a:p>
                      <a:r>
                        <a:rPr sz="2700" b="0">
                          <a:solidFill>
                            <a:srgbClr val="10344D"/>
                          </a:solidFill>
                          <a:latin typeface="맑은 고딕"/>
                          <a:ea typeface="맑은 고딕"/>
                          <a:cs typeface="맑은 고딕"/>
                        </a:rPr>
                        <a:t>“형제가 결혼하는데</a:t>
                      </a:r>
                    </a:p>
                    <a:p>
                      <a:r>
                        <a:rPr sz="2700" b="0">
                          <a:solidFill>
                            <a:srgbClr val="10344D"/>
                          </a:solidFill>
                          <a:latin typeface="맑은 고딕"/>
                          <a:ea typeface="맑은 고딕"/>
                          <a:cs typeface="맑은 고딕"/>
                        </a:rPr>
                        <a:t>무슨 서류를 내나요?”</a:t>
                      </a:r>
                    </a:p>
                  </a:txBody>
                  <a:tcPr marL="190500" marR="190500" marT="133350" marB="114300" anchor="ctr">
                    <a:solidFill>
                      <a:srgbClr val="FFFFFF"/>
                    </a:solidFill>
                  </a:tcPr>
                </a:tc>
                <a:tc>
                  <a:txBody>
                    <a:bodyPr/>
                    <a:lstStyle/>
                    <a:p>
                      <a:r>
                        <a:rPr sz="2700" b="0">
                          <a:solidFill>
                            <a:srgbClr val="10344D"/>
                          </a:solidFill>
                          <a:latin typeface="맑은 고딕"/>
                          <a:ea typeface="맑은 고딕"/>
                          <a:cs typeface="맑은 고딕"/>
                        </a:rPr>
                        <a:t>부모 기준 가족관계증명서와 청첩장 안내</a:t>
                      </a:r>
                    </a:p>
                    <a:p>
                      <a:r>
                        <a:rPr sz="2700" b="0">
                          <a:solidFill>
                            <a:srgbClr val="10344D"/>
                          </a:solidFill>
                          <a:latin typeface="맑은 고딕"/>
                          <a:ea typeface="맑은 고딕"/>
                          <a:cs typeface="맑은 고딕"/>
                        </a:rPr>
                        <a:t>근거: 경조금 지급기준 5.3.1</a:t>
                      </a:r>
                    </a:p>
                  </a:txBody>
                  <a:tcPr marL="190500" marR="190500" marT="133350" marB="114300" anchor="ctr">
                    <a:solidFill>
                      <a:srgbClr val="FFFFFF"/>
                    </a:solidFill>
                  </a:tcPr>
                </a:tc>
              </a:tr>
              <a:tr h="1261110">
                <a:tc>
                  <a:txBody>
                    <a:bodyPr/>
                    <a:lstStyle/>
                    <a:p>
                      <a:r>
                        <a:rPr sz="2700" b="1">
                          <a:solidFill>
                            <a:srgbClr val="10344D"/>
                          </a:solidFill>
                          <a:latin typeface="맑은 고딕"/>
                          <a:ea typeface="맑은 고딕"/>
                          <a:cs typeface="맑은 고딕"/>
                        </a:rPr>
                        <a:t>추가 확인</a:t>
                      </a:r>
                    </a:p>
                  </a:txBody>
                  <a:tcPr marL="190500" marR="190500" marT="133350" marB="114300" anchor="ctr">
                    <a:solidFill>
                      <a:srgbClr val="E8EFF3"/>
                    </a:solidFill>
                  </a:tcPr>
                </a:tc>
                <a:tc>
                  <a:txBody>
                    <a:bodyPr/>
                    <a:lstStyle/>
                    <a:p>
                      <a:r>
                        <a:rPr sz="2700" b="0">
                          <a:solidFill>
                            <a:srgbClr val="10344D"/>
                          </a:solidFill>
                          <a:latin typeface="맑은 고딕"/>
                          <a:ea typeface="맑은 고딕"/>
                          <a:cs typeface="맑은 고딕"/>
                        </a:rPr>
                        <a:t>“타지역으로 발령받으면</a:t>
                      </a:r>
                    </a:p>
                    <a:p>
                      <a:r>
                        <a:rPr sz="2700" b="0">
                          <a:solidFill>
                            <a:srgbClr val="10344D"/>
                          </a:solidFill>
                          <a:latin typeface="맑은 고딕"/>
                          <a:ea typeface="맑은 고딕"/>
                          <a:cs typeface="맑은 고딕"/>
                        </a:rPr>
                        <a:t>숙소지원금을 받나요?”</a:t>
                      </a:r>
                    </a:p>
                  </a:txBody>
                  <a:tcPr marL="190500" marR="190500" marT="133350" marB="114300" anchor="ctr">
                    <a:solidFill>
                      <a:srgbClr val="E8EFF3"/>
                    </a:solidFill>
                  </a:tcPr>
                </a:tc>
                <a:tc>
                  <a:txBody>
                    <a:bodyPr/>
                    <a:lstStyle/>
                    <a:p>
                      <a:r>
                        <a:rPr sz="2700" b="0">
                          <a:solidFill>
                            <a:srgbClr val="10344D"/>
                          </a:solidFill>
                          <a:latin typeface="맑은 고딕"/>
                          <a:ea typeface="맑은 고딕"/>
                          <a:cs typeface="맑은 고딕"/>
                        </a:rPr>
                        <a:t>발령·거주 등 판단에 필요한 조건 확인</a:t>
                      </a:r>
                    </a:p>
                    <a:p>
                      <a:r>
                        <a:rPr sz="2700" b="0">
                          <a:solidFill>
                            <a:srgbClr val="10344D"/>
                          </a:solidFill>
                          <a:latin typeface="맑은 고딕"/>
                          <a:ea typeface="맑은 고딕"/>
                          <a:cs typeface="맑은 고딕"/>
                        </a:rPr>
                        <a:t>빠진 정보를 보완한 뒤 안내</a:t>
                      </a:r>
                    </a:p>
                  </a:txBody>
                  <a:tcPr marL="190500" marR="190500" marT="133350" marB="114300" anchor="ctr">
                    <a:solidFill>
                      <a:srgbClr val="E8EFF3"/>
                    </a:solidFill>
                  </a:tcPr>
                </a:tc>
              </a:tr>
              <a:tr h="1261110">
                <a:tc>
                  <a:txBody>
                    <a:bodyPr/>
                    <a:lstStyle/>
                    <a:p>
                      <a:r>
                        <a:rPr sz="2700" b="1">
                          <a:solidFill>
                            <a:srgbClr val="10344D"/>
                          </a:solidFill>
                          <a:latin typeface="맑은 고딕"/>
                          <a:ea typeface="맑은 고딕"/>
                          <a:cs typeface="맑은 고딕"/>
                        </a:rPr>
                        <a:t>절차 안내</a:t>
                      </a:r>
                    </a:p>
                  </a:txBody>
                  <a:tcPr marL="190500" marR="190500" marT="133350" marB="114300" anchor="ctr">
                    <a:solidFill>
                      <a:srgbClr val="FFFFFF"/>
                    </a:solidFill>
                  </a:tcPr>
                </a:tc>
                <a:tc>
                  <a:txBody>
                    <a:bodyPr/>
                    <a:lstStyle/>
                    <a:p>
                      <a:r>
                        <a:rPr sz="2700" b="0">
                          <a:solidFill>
                            <a:srgbClr val="10344D"/>
                          </a:solidFill>
                          <a:latin typeface="맑은 고딕"/>
                          <a:ea typeface="맑은 고딕"/>
                          <a:cs typeface="맑은 고딕"/>
                        </a:rPr>
                        <a:t>“낚시 동호회를</a:t>
                      </a:r>
                    </a:p>
                    <a:p>
                      <a:r>
                        <a:rPr sz="2700" b="0">
                          <a:solidFill>
                            <a:srgbClr val="10344D"/>
                          </a:solidFill>
                          <a:latin typeface="맑은 고딕"/>
                          <a:ea typeface="맑은 고딕"/>
                          <a:cs typeface="맑은 고딕"/>
                        </a:rPr>
                        <a:t>새로 만들 수 있나요?”</a:t>
                      </a:r>
                    </a:p>
                  </a:txBody>
                  <a:tcPr marL="190500" marR="190500" marT="133350" marB="114300" anchor="ctr">
                    <a:solidFill>
                      <a:srgbClr val="FFFFFF"/>
                    </a:solidFill>
                  </a:tcPr>
                </a:tc>
                <a:tc>
                  <a:txBody>
                    <a:bodyPr/>
                    <a:lstStyle/>
                    <a:p>
                      <a:r>
                        <a:rPr sz="2700" b="0">
                          <a:solidFill>
                            <a:srgbClr val="10344D"/>
                          </a:solidFill>
                          <a:latin typeface="맑은 고딕"/>
                          <a:ea typeface="맑은 고딕"/>
                          <a:cs typeface="맑은 고딕"/>
                        </a:rPr>
                        <a:t>최소 인원 5명, 구비서류·사전 협의 안내</a:t>
                      </a:r>
                    </a:p>
                    <a:p>
                      <a:r>
                        <a:rPr sz="2700" b="0">
                          <a:solidFill>
                            <a:srgbClr val="10344D"/>
                          </a:solidFill>
                          <a:latin typeface="맑은 고딕"/>
                          <a:ea typeface="맑은 고딕"/>
                          <a:cs typeface="맑은 고딕"/>
                        </a:rPr>
                        <a:t>신규 신청에 필요한 초안 작성 지원</a:t>
                      </a:r>
                    </a:p>
                  </a:txBody>
                  <a:tcPr marL="190500" marR="190500" marT="133350" marB="114300" anchor="ctr">
                    <a:solidFill>
                      <a:srgbClr val="FFFFFF"/>
                    </a:solidFill>
                  </a:tcPr>
                </a:tc>
              </a:tr>
              <a:tr h="1261110">
                <a:tc>
                  <a:txBody>
                    <a:bodyPr/>
                    <a:lstStyle/>
                    <a:p>
                      <a:r>
                        <a:rPr sz="2700" b="1">
                          <a:solidFill>
                            <a:srgbClr val="10344D"/>
                          </a:solidFill>
                          <a:latin typeface="맑은 고딕"/>
                          <a:ea typeface="맑은 고딕"/>
                          <a:cs typeface="맑은 고딕"/>
                        </a:rPr>
                        <a:t>예외 확인</a:t>
                      </a:r>
                    </a:p>
                  </a:txBody>
                  <a:tcPr marL="190500" marR="190500" marT="133350" marB="114300" anchor="ctr">
                    <a:solidFill>
                      <a:srgbClr val="E8EFF3"/>
                    </a:solidFill>
                  </a:tcPr>
                </a:tc>
                <a:tc>
                  <a:txBody>
                    <a:bodyPr/>
                    <a:lstStyle/>
                    <a:p>
                      <a:r>
                        <a:rPr sz="2700" b="0">
                          <a:solidFill>
                            <a:srgbClr val="10344D"/>
                          </a:solidFill>
                          <a:latin typeface="맑은 고딕"/>
                          <a:ea typeface="맑은 고딕"/>
                          <a:cs typeface="맑은 고딕"/>
                        </a:rPr>
                        <a:t>“해외출장 전날 이동한</a:t>
                      </a:r>
                    </a:p>
                    <a:p>
                      <a:r>
                        <a:rPr sz="2700" b="0">
                          <a:solidFill>
                            <a:srgbClr val="10344D"/>
                          </a:solidFill>
                          <a:latin typeface="맑은 고딕"/>
                          <a:ea typeface="맑은 고딕"/>
                          <a:cs typeface="맑은 고딕"/>
                        </a:rPr>
                        <a:t>교통비를 받을 수 있나요?”</a:t>
                      </a:r>
                    </a:p>
                  </a:txBody>
                  <a:tcPr marL="190500" marR="190500" marT="133350" marB="114300" anchor="ctr">
                    <a:solidFill>
                      <a:srgbClr val="E8EFF3"/>
                    </a:solidFill>
                  </a:tcPr>
                </a:tc>
                <a:tc>
                  <a:txBody>
                    <a:bodyPr/>
                    <a:lstStyle/>
                    <a:p>
                      <a:r>
                        <a:rPr sz="2700" b="0">
                          <a:solidFill>
                            <a:srgbClr val="10344D"/>
                          </a:solidFill>
                          <a:latin typeface="맑은 고딕"/>
                          <a:ea typeface="맑은 고딕"/>
                          <a:cs typeface="맑은 고딕"/>
                        </a:rPr>
                        <a:t>이동 사유·개인 일정 여부를 확인</a:t>
                      </a:r>
                    </a:p>
                    <a:p>
                      <a:r>
                        <a:rPr sz="2700" b="0">
                          <a:solidFill>
                            <a:srgbClr val="10344D"/>
                          </a:solidFill>
                          <a:latin typeface="맑은 고딕"/>
                          <a:ea typeface="맑은 고딕"/>
                          <a:cs typeface="맑은 고딕"/>
                        </a:rPr>
                        <a:t>예외 판단은 담당 부서가 최종 확인</a:t>
                      </a:r>
                    </a:p>
                  </a:txBody>
                  <a:tcPr marL="190500" marR="190500" marT="133350" marB="114300" anchor="ctr">
                    <a:solidFill>
                      <a:srgbClr val="E8EFF3"/>
                    </a:solidFill>
                  </a:tcPr>
                </a:tc>
              </a:tr>
            </a:tbl>
          </a:graphicData>
        </a:graphic>
      </p:graphicFrame>
      <p:sp>
        <p:nvSpPr>
          <p:cNvPr id="5" name="v3-text-50">
            <a:extLst xmlns:a="http://schemas.openxmlformats.org/drawingml/2006/main">
              <a:ext uri="{FF2B5EF4-FFF2-40B4-BE49-F238E27FC236}">
                <a16:creationId xmlns:a16="http://schemas.microsoft.com/office/drawing/2014/main" id="{C13A7631-2FFC-4308-AFF5-088EE89FA6F3}"/>
              </a:ext>
            </a:extLst>
          </p:cNvPr>
          <p:cNvSpPr>
            <a:spLocks xmlns:a="http://schemas.openxmlformats.org/drawingml/2006/main" noGrp="1"/>
          </p:cNvSpPr>
          <p:nvPr/>
        </p:nvSpPr>
        <p:spPr>
          <a:xfrm xmlns:a="http://schemas.openxmlformats.org/drawingml/2006/main">
            <a:off x="2629242" y="11925300"/>
            <a:ext cx="20195629"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26573"/>
                </a:solidFill>
                <a:latin typeface="맑은 고딕"/>
                <a:ea typeface="맑은 고딕"/>
                <a:cs typeface="맑은 고딕"/>
              </a:defRPr>
            </a:pPr>
            <a:r>
              <a:rPr sz="1950" b="0">
                <a:solidFill>
                  <a:srgbClr val="526573"/>
                </a:solidFill>
                <a:latin typeface="맑은 고딕"/>
                <a:ea typeface="맑은 고딕"/>
                <a:cs typeface="맑은 고딕"/>
              </a:rPr>
              <a:t>프로젝트 규정과 구현을 바탕으로 재구성한 안내 예시. 실제 동작 화면은 다음 시연 장표에서 제시</a:t>
            </a:r>
          </a:p>
        </p:txBody>
      </p:sp>
    </p:spTree>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6" name="v3-text-51">
            <a:extLst xmlns:a="http://schemas.openxmlformats.org/drawingml/2006/main">
              <a:ext uri="{FF2B5EF4-FFF2-40B4-BE49-F238E27FC236}">
                <a16:creationId xmlns:a16="http://schemas.microsoft.com/office/drawing/2014/main" id="{F44589FB-13EA-44F2-B611-FFBEFA17750B}"/>
              </a:ext>
            </a:extLst>
          </p:cNvPr>
          <p:cNvSpPr>
            <a:spLocks xmlns:a="http://schemas.openxmlformats.org/drawingml/2006/main" noGrp="1"/>
          </p:cNvSpPr>
          <p:nvPr/>
        </p:nvSpPr>
        <p:spPr>
          <a:xfrm xmlns:a="http://schemas.openxmlformats.org/drawingml/2006/main">
            <a:off x="2629242" y="2324100"/>
            <a:ext cx="20386154"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1">
                <a:solidFill>
                  <a:srgbClr val="10344D"/>
                </a:solidFill>
                <a:latin typeface="맑은 고딕"/>
                <a:ea typeface="맑은 고딕"/>
                <a:cs typeface="맑은 고딕"/>
              </a:defRPr>
            </a:pPr>
            <a:r>
              <a:rPr sz="4350" b="1">
                <a:solidFill>
                  <a:srgbClr val="10344D"/>
                </a:solidFill>
                <a:latin typeface="맑은 고딕"/>
                <a:ea typeface="맑은 고딕"/>
                <a:cs typeface="맑은 고딕"/>
              </a:rPr>
              <a:t>시연: 질문부터 근거 확인까지</a:t>
            </a:r>
          </a:p>
        </p:txBody>
      </p:sp>
      <p:sp>
        <p:nvSpPr>
          <p:cNvPr id="2" name="v3-text-52">
            <a:extLst xmlns:a="http://schemas.openxmlformats.org/drawingml/2006/main">
              <a:ext uri="{FF2B5EF4-FFF2-40B4-BE49-F238E27FC236}">
                <a16:creationId xmlns:a16="http://schemas.microsoft.com/office/drawing/2014/main" id="{BA7ED05E-3904-46C4-9B34-3D42CEA9E35E}"/>
              </a:ext>
            </a:extLst>
          </p:cNvPr>
          <p:cNvSpPr>
            <a:spLocks xmlns:a="http://schemas.openxmlformats.org/drawingml/2006/main" noGrp="1"/>
          </p:cNvSpPr>
          <p:nvPr/>
        </p:nvSpPr>
        <p:spPr>
          <a:xfrm xmlns:a="http://schemas.openxmlformats.org/drawingml/2006/main">
            <a:off x="2629242" y="3390900"/>
            <a:ext cx="20005104"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526573"/>
                </a:solidFill>
                <a:latin typeface="맑은 고딕"/>
                <a:ea typeface="맑은 고딕"/>
                <a:cs typeface="맑은 고딕"/>
              </a:defRPr>
            </a:pPr>
            <a:r>
              <a:rPr sz="2550" b="0">
                <a:solidFill>
                  <a:srgbClr val="526573"/>
                </a:solidFill>
                <a:latin typeface="맑은 고딕"/>
                <a:ea typeface="맑은 고딕"/>
                <a:cs typeface="맑은 고딕"/>
              </a:rPr>
              <a:t>해외출장 전날 이동 사례로, 예외 질문을 처리하는 실제 흐름을 보여드립니다</a:t>
            </a:r>
          </a:p>
        </p:txBody>
      </p:sp>
      <p:sp>
        <p:nvSpPr>
          <p:cNvPr id="3" name="v3-text-53">
            <a:extLst xmlns:a="http://schemas.openxmlformats.org/drawingml/2006/main">
              <a:ext uri="{FF2B5EF4-FFF2-40B4-BE49-F238E27FC236}">
                <a16:creationId xmlns:a16="http://schemas.microsoft.com/office/drawing/2014/main" id="{32E4BB5B-8FA4-4FE2-A689-0E79A134C3F6}"/>
              </a:ext>
            </a:extLst>
          </p:cNvPr>
          <p:cNvSpPr>
            <a:spLocks xmlns:a="http://schemas.openxmlformats.org/drawingml/2006/main" noGrp="1"/>
          </p:cNvSpPr>
          <p:nvPr/>
        </p:nvSpPr>
        <p:spPr>
          <a:xfrm xmlns:a="http://schemas.openxmlformats.org/drawingml/2006/main">
            <a:off x="22386665" y="12649200"/>
            <a:ext cx="914519"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800" b="0">
                <a:solidFill>
                  <a:srgbClr val="526573"/>
                </a:solidFill>
                <a:latin typeface="맑은 고딕"/>
                <a:ea typeface="맑은 고딕"/>
                <a:cs typeface="맑은 고딕"/>
              </a:defRPr>
            </a:pPr>
            <a:r>
              <a:rPr sz="1800" b="0">
                <a:solidFill>
                  <a:srgbClr val="526573"/>
                </a:solidFill>
                <a:latin typeface="맑은 고딕"/>
                <a:ea typeface="맑은 고딕"/>
                <a:cs typeface="맑은 고딕"/>
              </a:rPr>
              <a:t>09</a:t>
            </a:r>
          </a:p>
        </p:txBody>
      </p:sp>
      <p:sp>
        <p:nvSpPr>
          <p:cNvPr id="4" name="시연 영상 삽입 영역 16대9">
            <a:extLst xmlns:a="http://schemas.openxmlformats.org/drawingml/2006/main">
              <a:ext uri="{FF2B5EF4-FFF2-40B4-BE49-F238E27FC236}">
                <a16:creationId xmlns:a16="http://schemas.microsoft.com/office/drawing/2014/main" id="{5421C658-A851-477A-8AFE-AD0AD0EDA652}"/>
              </a:ext>
            </a:extLst>
          </p:cNvPr>
          <p:cNvSpPr>
            <a:spLocks xmlns:a="http://schemas.openxmlformats.org/drawingml/2006/main" noGrp="1"/>
          </p:cNvSpPr>
          <p:nvPr/>
        </p:nvSpPr>
        <p:spPr>
          <a:xfrm xmlns:a="http://schemas.openxmlformats.org/drawingml/2006/main">
            <a:off x="2629242" y="4476750"/>
            <a:ext cx="13717786" cy="7715250"/>
          </a:xfrm>
          <a:prstGeom xmlns:a="http://schemas.openxmlformats.org/drawingml/2006/main" prst="rect">
            <a:avLst/>
          </a:prstGeom>
          <a:solidFill xmlns:a="http://schemas.openxmlformats.org/drawingml/2006/main">
            <a:srgbClr val="E8EFF3"/>
          </a:solidFill>
          <a:ln xmlns:a="http://schemas.openxmlformats.org/drawingml/2006/main" w="19050">
            <a:solidFill>
              <a:srgbClr val="A5BAC9"/>
            </a:solidFill>
            <a:prstDash val="dash"/>
          </a:ln>
        </p:spPr>
      </p:sp>
      <p:sp>
        <p:nvSpPr>
          <p:cNvPr id="5" name="v3-text-54">
            <a:extLst xmlns:a="http://schemas.openxmlformats.org/drawingml/2006/main">
              <a:ext uri="{FF2B5EF4-FFF2-40B4-BE49-F238E27FC236}">
                <a16:creationId xmlns:a16="http://schemas.microsoft.com/office/drawing/2014/main" id="{F54546A4-4076-49CA-AD68-CB4EDBC343D5}"/>
              </a:ext>
            </a:extLst>
          </p:cNvPr>
          <p:cNvSpPr>
            <a:spLocks xmlns:a="http://schemas.openxmlformats.org/drawingml/2006/main" noGrp="1"/>
          </p:cNvSpPr>
          <p:nvPr/>
        </p:nvSpPr>
        <p:spPr>
          <a:xfrm xmlns:a="http://schemas.openxmlformats.org/drawingml/2006/main">
            <a:off x="4439228" y="7239000"/>
            <a:ext cx="1009781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4200" b="1">
                <a:solidFill>
                  <a:srgbClr val="082D65"/>
                </a:solidFill>
                <a:latin typeface="맑은 고딕"/>
                <a:ea typeface="맑은 고딕"/>
                <a:cs typeface="맑은 고딕"/>
              </a:defRPr>
            </a:pPr>
            <a:r>
              <a:rPr sz="4200" b="1">
                <a:solidFill>
                  <a:srgbClr val="082D65"/>
                </a:solidFill>
                <a:latin typeface="맑은 고딕"/>
                <a:ea typeface="맑은 고딕"/>
                <a:cs typeface="맑은 고딕"/>
              </a:rPr>
              <a:t>시연 영상 삽입 영역</a:t>
            </a:r>
          </a:p>
        </p:txBody>
      </p:sp>
      <p:sp>
        <p:nvSpPr>
          <p:cNvPr id="6" name="v3-text-55">
            <a:extLst xmlns:a="http://schemas.openxmlformats.org/drawingml/2006/main">
              <a:ext uri="{FF2B5EF4-FFF2-40B4-BE49-F238E27FC236}">
                <a16:creationId xmlns:a16="http://schemas.microsoft.com/office/drawing/2014/main" id="{72633DC4-D4D9-4A39-87AC-8D3B62A3BBC7}"/>
              </a:ext>
            </a:extLst>
          </p:cNvPr>
          <p:cNvSpPr>
            <a:spLocks xmlns:a="http://schemas.openxmlformats.org/drawingml/2006/main" noGrp="1"/>
          </p:cNvSpPr>
          <p:nvPr/>
        </p:nvSpPr>
        <p:spPr>
          <a:xfrm xmlns:a="http://schemas.openxmlformats.org/drawingml/2006/main">
            <a:off x="4153441" y="8382000"/>
            <a:ext cx="10669389"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700" b="0">
                <a:solidFill>
                  <a:srgbClr val="526573"/>
                </a:solidFill>
                <a:latin typeface="맑은 고딕"/>
                <a:ea typeface="맑은 고딕"/>
                <a:cs typeface="맑은 고딕"/>
              </a:defRPr>
            </a:pPr>
            <a:r>
              <a:rPr sz="2700" b="0">
                <a:solidFill>
                  <a:srgbClr val="526573"/>
                </a:solidFill>
                <a:latin typeface="맑은 고딕"/>
                <a:ea typeface="맑은 고딕"/>
                <a:cs typeface="맑은 고딕"/>
              </a:rPr>
              <a:t>16:9 영상 또는 재생 링크를 넣어주세요</a:t>
            </a:r>
          </a:p>
        </p:txBody>
      </p:sp>
      <p:sp>
        <p:nvSpPr>
          <p:cNvPr id="7" name="v3-text-56">
            <a:extLst xmlns:a="http://schemas.openxmlformats.org/drawingml/2006/main">
              <a:ext uri="{FF2B5EF4-FFF2-40B4-BE49-F238E27FC236}">
                <a16:creationId xmlns:a16="http://schemas.microsoft.com/office/drawing/2014/main" id="{C1D676D4-7E32-4FC1-BC4C-AF8993CAEC9C}"/>
              </a:ext>
            </a:extLst>
          </p:cNvPr>
          <p:cNvSpPr>
            <a:spLocks xmlns:a="http://schemas.openxmlformats.org/drawingml/2006/main" noGrp="1"/>
          </p:cNvSpPr>
          <p:nvPr/>
        </p:nvSpPr>
        <p:spPr>
          <a:xfrm xmlns:a="http://schemas.openxmlformats.org/drawingml/2006/main">
            <a:off x="17223442" y="4514850"/>
            <a:ext cx="5525219"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10344D"/>
                </a:solidFill>
                <a:latin typeface="맑은 고딕"/>
                <a:ea typeface="맑은 고딕"/>
                <a:cs typeface="맑은 고딕"/>
              </a:defRPr>
            </a:pPr>
            <a:r>
              <a:rPr sz="3450" b="1">
                <a:solidFill>
                  <a:srgbClr val="10344D"/>
                </a:solidFill>
                <a:latin typeface="맑은 고딕"/>
                <a:ea typeface="맑은 고딕"/>
                <a:cs typeface="맑은 고딕"/>
              </a:rPr>
              <a:t>시연 순서</a:t>
            </a:r>
          </a:p>
        </p:txBody>
      </p:sp>
      <p:sp>
        <p:nvSpPr>
          <p:cNvPr id="8" name="v3-text-57">
            <a:extLst xmlns:a="http://schemas.openxmlformats.org/drawingml/2006/main">
              <a:ext uri="{FF2B5EF4-FFF2-40B4-BE49-F238E27FC236}">
                <a16:creationId xmlns:a16="http://schemas.microsoft.com/office/drawing/2014/main" id="{8DFF054A-76A9-46E3-9E09-D8BD54234237}"/>
              </a:ext>
            </a:extLst>
          </p:cNvPr>
          <p:cNvSpPr>
            <a:spLocks xmlns:a="http://schemas.openxmlformats.org/drawingml/2006/main" noGrp="1"/>
          </p:cNvSpPr>
          <p:nvPr/>
        </p:nvSpPr>
        <p:spPr>
          <a:xfrm xmlns:a="http://schemas.openxmlformats.org/drawingml/2006/main">
            <a:off x="17223442" y="5695950"/>
            <a:ext cx="5525219"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10344D"/>
                </a:solidFill>
                <a:latin typeface="맑은 고딕"/>
                <a:ea typeface="맑은 고딕"/>
                <a:cs typeface="맑은 고딕"/>
              </a:defRPr>
            </a:pPr>
            <a:r>
              <a:rPr sz="2850" b="1">
                <a:solidFill>
                  <a:srgbClr val="10344D"/>
                </a:solidFill>
                <a:latin typeface="맑은 고딕"/>
                <a:ea typeface="맑은 고딕"/>
                <a:cs typeface="맑은 고딕"/>
              </a:rPr>
              <a:t>01  질문 입력</a:t>
            </a:r>
          </a:p>
        </p:txBody>
      </p:sp>
      <p:sp>
        <p:nvSpPr>
          <p:cNvPr id="9" name="v3-text-58">
            <a:extLst xmlns:a="http://schemas.openxmlformats.org/drawingml/2006/main">
              <a:ext uri="{FF2B5EF4-FFF2-40B4-BE49-F238E27FC236}">
                <a16:creationId xmlns:a16="http://schemas.microsoft.com/office/drawing/2014/main" id="{0C337FF4-5300-4350-8B06-C9DF84867F51}"/>
              </a:ext>
            </a:extLst>
          </p:cNvPr>
          <p:cNvSpPr>
            <a:spLocks xmlns:a="http://schemas.openxmlformats.org/drawingml/2006/main" noGrp="1"/>
          </p:cNvSpPr>
          <p:nvPr/>
        </p:nvSpPr>
        <p:spPr>
          <a:xfrm xmlns:a="http://schemas.openxmlformats.org/drawingml/2006/main">
            <a:off x="17223442" y="6305550"/>
            <a:ext cx="5525219"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526573"/>
                </a:solidFill>
                <a:latin typeface="맑은 고딕"/>
                <a:ea typeface="맑은 고딕"/>
                <a:cs typeface="맑은 고딕"/>
              </a:defRPr>
            </a:pPr>
            <a:r>
              <a:rPr sz="2550" b="0">
                <a:solidFill>
                  <a:srgbClr val="526573"/>
                </a:solidFill>
                <a:latin typeface="맑은 고딕"/>
                <a:ea typeface="맑은 고딕"/>
                <a:cs typeface="맑은 고딕"/>
              </a:rPr>
              <a:t>해외출장 전날 이동한</a:t>
            </a:r>
          </a:p>
          <a:p xmlns:a="http://schemas.openxmlformats.org/drawingml/2006/main">
            <a:pPr algn="l">
              <a:defRPr sz="2550" b="0">
                <a:solidFill>
                  <a:srgbClr val="526573"/>
                </a:solidFill>
                <a:latin typeface="맑은 고딕"/>
                <a:ea typeface="맑은 고딕"/>
                <a:cs typeface="맑은 고딕"/>
              </a:defRPr>
            </a:pPr>
            <a:r>
              <a:rPr sz="2550" b="0">
                <a:solidFill>
                  <a:srgbClr val="526573"/>
                </a:solidFill>
                <a:latin typeface="맑은 고딕"/>
                <a:ea typeface="맑은 고딕"/>
                <a:cs typeface="맑은 고딕"/>
              </a:rPr>
              <a:t>교통비 지급 가능 여부</a:t>
            </a:r>
          </a:p>
        </p:txBody>
      </p:sp>
      <p:sp>
        <p:nvSpPr>
          <p:cNvPr id="10" name="v3-text-59">
            <a:extLst xmlns:a="http://schemas.openxmlformats.org/drawingml/2006/main">
              <a:ext uri="{FF2B5EF4-FFF2-40B4-BE49-F238E27FC236}">
                <a16:creationId xmlns:a16="http://schemas.microsoft.com/office/drawing/2014/main" id="{6A4D1228-BB77-4D82-A063-77024B11EAD4}"/>
              </a:ext>
            </a:extLst>
          </p:cNvPr>
          <p:cNvSpPr>
            <a:spLocks xmlns:a="http://schemas.openxmlformats.org/drawingml/2006/main" noGrp="1"/>
          </p:cNvSpPr>
          <p:nvPr/>
        </p:nvSpPr>
        <p:spPr>
          <a:xfrm xmlns:a="http://schemas.openxmlformats.org/drawingml/2006/main">
            <a:off x="17223442" y="7277100"/>
            <a:ext cx="5525219"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10344D"/>
                </a:solidFill>
                <a:latin typeface="맑은 고딕"/>
                <a:ea typeface="맑은 고딕"/>
                <a:cs typeface="맑은 고딕"/>
              </a:defRPr>
            </a:pPr>
            <a:r>
              <a:rPr sz="2850" b="1">
                <a:solidFill>
                  <a:srgbClr val="10344D"/>
                </a:solidFill>
                <a:latin typeface="맑은 고딕"/>
                <a:ea typeface="맑은 고딕"/>
                <a:cs typeface="맑은 고딕"/>
              </a:rPr>
              <a:t>02  답변 확인</a:t>
            </a:r>
          </a:p>
        </p:txBody>
      </p:sp>
      <p:sp>
        <p:nvSpPr>
          <p:cNvPr id="11" name="v3-text-60">
            <a:extLst xmlns:a="http://schemas.openxmlformats.org/drawingml/2006/main">
              <a:ext uri="{FF2B5EF4-FFF2-40B4-BE49-F238E27FC236}">
                <a16:creationId xmlns:a16="http://schemas.microsoft.com/office/drawing/2014/main" id="{B77B0099-0A4E-4AF5-B250-B3F5BA1D1666}"/>
              </a:ext>
            </a:extLst>
          </p:cNvPr>
          <p:cNvSpPr>
            <a:spLocks xmlns:a="http://schemas.openxmlformats.org/drawingml/2006/main" noGrp="1"/>
          </p:cNvSpPr>
          <p:nvPr/>
        </p:nvSpPr>
        <p:spPr>
          <a:xfrm xmlns:a="http://schemas.openxmlformats.org/drawingml/2006/main">
            <a:off x="17223442" y="7886700"/>
            <a:ext cx="5525219"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526573"/>
                </a:solidFill>
                <a:latin typeface="맑은 고딕"/>
                <a:ea typeface="맑은 고딕"/>
                <a:cs typeface="맑은 고딕"/>
              </a:defRPr>
            </a:pPr>
            <a:r>
              <a:rPr sz="2550" b="0">
                <a:solidFill>
                  <a:srgbClr val="526573"/>
                </a:solidFill>
                <a:latin typeface="맑은 고딕"/>
                <a:ea typeface="맑은 고딕"/>
                <a:cs typeface="맑은 고딕"/>
              </a:rPr>
              <a:t>이동 사유와 개인 일정 등</a:t>
            </a:r>
          </a:p>
          <a:p xmlns:a="http://schemas.openxmlformats.org/drawingml/2006/main">
            <a:pPr algn="l">
              <a:defRPr sz="2550" b="0">
                <a:solidFill>
                  <a:srgbClr val="526573"/>
                </a:solidFill>
                <a:latin typeface="맑은 고딕"/>
                <a:ea typeface="맑은 고딕"/>
                <a:cs typeface="맑은 고딕"/>
              </a:defRPr>
            </a:pPr>
            <a:r>
              <a:rPr sz="2550" b="0">
                <a:solidFill>
                  <a:srgbClr val="526573"/>
                </a:solidFill>
                <a:latin typeface="맑은 고딕"/>
                <a:ea typeface="맑은 고딕"/>
                <a:cs typeface="맑은 고딕"/>
              </a:rPr>
              <a:t>확인 조건을 안내하는지</a:t>
            </a:r>
          </a:p>
        </p:txBody>
      </p:sp>
      <p:sp>
        <p:nvSpPr>
          <p:cNvPr id="12" name="v3-text-61">
            <a:extLst xmlns:a="http://schemas.openxmlformats.org/drawingml/2006/main">
              <a:ext uri="{FF2B5EF4-FFF2-40B4-BE49-F238E27FC236}">
                <a16:creationId xmlns:a16="http://schemas.microsoft.com/office/drawing/2014/main" id="{373BCA8F-C337-44E8-8CFD-67FC7D593ACD}"/>
              </a:ext>
            </a:extLst>
          </p:cNvPr>
          <p:cNvSpPr>
            <a:spLocks xmlns:a="http://schemas.openxmlformats.org/drawingml/2006/main" noGrp="1"/>
          </p:cNvSpPr>
          <p:nvPr/>
        </p:nvSpPr>
        <p:spPr>
          <a:xfrm xmlns:a="http://schemas.openxmlformats.org/drawingml/2006/main">
            <a:off x="17223442" y="8858250"/>
            <a:ext cx="5525219"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10344D"/>
                </a:solidFill>
                <a:latin typeface="맑은 고딕"/>
                <a:ea typeface="맑은 고딕"/>
                <a:cs typeface="맑은 고딕"/>
              </a:defRPr>
            </a:pPr>
            <a:r>
              <a:rPr sz="2850" b="1">
                <a:solidFill>
                  <a:srgbClr val="10344D"/>
                </a:solidFill>
                <a:latin typeface="맑은 고딕"/>
                <a:ea typeface="맑은 고딕"/>
                <a:cs typeface="맑은 고딕"/>
              </a:rPr>
              <a:t>03  근거 열기</a:t>
            </a:r>
          </a:p>
        </p:txBody>
      </p:sp>
      <p:sp>
        <p:nvSpPr>
          <p:cNvPr id="13" name="v3-text-62">
            <a:extLst xmlns:a="http://schemas.openxmlformats.org/drawingml/2006/main">
              <a:ext uri="{FF2B5EF4-FFF2-40B4-BE49-F238E27FC236}">
                <a16:creationId xmlns:a16="http://schemas.microsoft.com/office/drawing/2014/main" id="{544D8B82-B260-484E-945C-4153FDFE0B2D}"/>
              </a:ext>
            </a:extLst>
          </p:cNvPr>
          <p:cNvSpPr>
            <a:spLocks xmlns:a="http://schemas.openxmlformats.org/drawingml/2006/main" noGrp="1"/>
          </p:cNvSpPr>
          <p:nvPr/>
        </p:nvSpPr>
        <p:spPr>
          <a:xfrm xmlns:a="http://schemas.openxmlformats.org/drawingml/2006/main">
            <a:off x="17223442" y="9467850"/>
            <a:ext cx="5525219"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526573"/>
                </a:solidFill>
                <a:latin typeface="맑은 고딕"/>
                <a:ea typeface="맑은 고딕"/>
                <a:cs typeface="맑은 고딕"/>
              </a:defRPr>
            </a:pPr>
            <a:r>
              <a:rPr sz="2550" b="0">
                <a:solidFill>
                  <a:srgbClr val="526573"/>
                </a:solidFill>
                <a:latin typeface="맑은 고딕"/>
                <a:ea typeface="맑은 고딕"/>
                <a:cs typeface="맑은 고딕"/>
              </a:rPr>
              <a:t>확인한 여비관리기준을</a:t>
            </a:r>
          </a:p>
          <a:p xmlns:a="http://schemas.openxmlformats.org/drawingml/2006/main">
            <a:pPr algn="l">
              <a:defRPr sz="2550" b="0">
                <a:solidFill>
                  <a:srgbClr val="526573"/>
                </a:solidFill>
                <a:latin typeface="맑은 고딕"/>
                <a:ea typeface="맑은 고딕"/>
                <a:cs typeface="맑은 고딕"/>
              </a:defRPr>
            </a:pPr>
            <a:r>
              <a:rPr sz="2550" b="0">
                <a:solidFill>
                  <a:srgbClr val="526573"/>
                </a:solidFill>
                <a:latin typeface="맑은 고딕"/>
                <a:ea typeface="맑은 고딕"/>
                <a:cs typeface="맑은 고딕"/>
              </a:rPr>
              <a:t>열어 내용을 확인</a:t>
            </a:r>
          </a:p>
        </p:txBody>
      </p:sp>
      <p:sp>
        <p:nvSpPr>
          <p:cNvPr id="14" name="v3-text-63">
            <a:extLst xmlns:a="http://schemas.openxmlformats.org/drawingml/2006/main">
              <a:ext uri="{FF2B5EF4-FFF2-40B4-BE49-F238E27FC236}">
                <a16:creationId xmlns:a16="http://schemas.microsoft.com/office/drawing/2014/main" id="{7BBDA00C-6C53-4685-8547-5C7B7A896C38}"/>
              </a:ext>
            </a:extLst>
          </p:cNvPr>
          <p:cNvSpPr>
            <a:spLocks xmlns:a="http://schemas.openxmlformats.org/drawingml/2006/main" noGrp="1"/>
          </p:cNvSpPr>
          <p:nvPr/>
        </p:nvSpPr>
        <p:spPr>
          <a:xfrm xmlns:a="http://schemas.openxmlformats.org/drawingml/2006/main">
            <a:off x="17223442" y="10439400"/>
            <a:ext cx="5525219"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10344D"/>
                </a:solidFill>
                <a:latin typeface="맑은 고딕"/>
                <a:ea typeface="맑은 고딕"/>
                <a:cs typeface="맑은 고딕"/>
              </a:defRPr>
            </a:pPr>
            <a:r>
              <a:rPr sz="2850" b="1">
                <a:solidFill>
                  <a:srgbClr val="10344D"/>
                </a:solidFill>
                <a:latin typeface="맑은 고딕"/>
                <a:ea typeface="맑은 고딕"/>
                <a:cs typeface="맑은 고딕"/>
              </a:rPr>
              <a:t>04  다음 행동</a:t>
            </a:r>
          </a:p>
        </p:txBody>
      </p:sp>
      <p:sp>
        <p:nvSpPr>
          <p:cNvPr id="15" name="v3-text-64">
            <a:extLst xmlns:a="http://schemas.openxmlformats.org/drawingml/2006/main">
              <a:ext uri="{FF2B5EF4-FFF2-40B4-BE49-F238E27FC236}">
                <a16:creationId xmlns:a16="http://schemas.microsoft.com/office/drawing/2014/main" id="{1F33F2F4-00DC-45B4-A48C-1BFC8B2D35D1}"/>
              </a:ext>
            </a:extLst>
          </p:cNvPr>
          <p:cNvSpPr>
            <a:spLocks xmlns:a="http://schemas.openxmlformats.org/drawingml/2006/main" noGrp="1"/>
          </p:cNvSpPr>
          <p:nvPr/>
        </p:nvSpPr>
        <p:spPr>
          <a:xfrm xmlns:a="http://schemas.openxmlformats.org/drawingml/2006/main">
            <a:off x="17223442" y="11049000"/>
            <a:ext cx="5525219"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526573"/>
                </a:solidFill>
                <a:latin typeface="맑은 고딕"/>
                <a:ea typeface="맑은 고딕"/>
                <a:cs typeface="맑은 고딕"/>
              </a:defRPr>
            </a:pPr>
            <a:r>
              <a:rPr sz="2550" b="0">
                <a:solidFill>
                  <a:srgbClr val="526573"/>
                </a:solidFill>
                <a:latin typeface="맑은 고딕"/>
                <a:ea typeface="맑은 고딕"/>
                <a:cs typeface="맑은 고딕"/>
              </a:rPr>
              <a:t>필요 시 담당자 문의</a:t>
            </a:r>
          </a:p>
          <a:p xmlns:a="http://schemas.openxmlformats.org/drawingml/2006/main">
            <a:pPr algn="l">
              <a:defRPr sz="2550" b="0">
                <a:solidFill>
                  <a:srgbClr val="526573"/>
                </a:solidFill>
                <a:latin typeface="맑은 고딕"/>
                <a:ea typeface="맑은 고딕"/>
                <a:cs typeface="맑은 고딕"/>
              </a:defRPr>
            </a:pPr>
            <a:r>
              <a:rPr sz="2550" b="0">
                <a:solidFill>
                  <a:srgbClr val="526573"/>
                </a:solidFill>
                <a:latin typeface="맑은 고딕"/>
                <a:ea typeface="맑은 고딕"/>
                <a:cs typeface="맑은 고딕"/>
              </a:rPr>
              <a:t>초안 작성 흐름 확인</a:t>
            </a:r>
          </a:p>
        </p:txBody>
      </p:sp>
    </p:spTree>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v3-text-65">
            <a:extLst xmlns:a="http://schemas.openxmlformats.org/drawingml/2006/main">
              <a:ext uri="{FF2B5EF4-FFF2-40B4-BE49-F238E27FC236}">
                <a16:creationId xmlns:a16="http://schemas.microsoft.com/office/drawing/2014/main" id="{910DC808-307A-4408-A558-D353EFB68622}"/>
              </a:ext>
            </a:extLst>
          </p:cNvPr>
          <p:cNvSpPr>
            <a:spLocks xmlns:a="http://schemas.openxmlformats.org/drawingml/2006/main" noGrp="1"/>
          </p:cNvSpPr>
          <p:nvPr/>
        </p:nvSpPr>
        <p:spPr>
          <a:xfrm xmlns:a="http://schemas.openxmlformats.org/drawingml/2006/main">
            <a:off x="2629242" y="2324100"/>
            <a:ext cx="20386154"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1">
                <a:solidFill>
                  <a:srgbClr val="10344D"/>
                </a:solidFill>
                <a:latin typeface="맑은 고딕"/>
                <a:ea typeface="맑은 고딕"/>
                <a:cs typeface="맑은 고딕"/>
              </a:defRPr>
            </a:pPr>
            <a:r>
              <a:rPr sz="4350" b="1">
                <a:solidFill>
                  <a:srgbClr val="10344D"/>
                </a:solidFill>
                <a:latin typeface="맑은 고딕"/>
                <a:ea typeface="맑은 고딕"/>
                <a:cs typeface="맑은 고딕"/>
              </a:rPr>
              <a:t>신뢰성을 높인 구현과 검증</a:t>
            </a:r>
          </a:p>
        </p:txBody>
      </p:sp>
      <p:sp>
        <p:nvSpPr>
          <p:cNvPr id="2" name="v3-text-66">
            <a:extLst xmlns:a="http://schemas.openxmlformats.org/drawingml/2006/main">
              <a:ext uri="{FF2B5EF4-FFF2-40B4-BE49-F238E27FC236}">
                <a16:creationId xmlns:a16="http://schemas.microsoft.com/office/drawing/2014/main" id="{4A796400-33CD-4518-A9FC-6477382F69FD}"/>
              </a:ext>
            </a:extLst>
          </p:cNvPr>
          <p:cNvSpPr>
            <a:spLocks xmlns:a="http://schemas.openxmlformats.org/drawingml/2006/main" noGrp="1"/>
          </p:cNvSpPr>
          <p:nvPr/>
        </p:nvSpPr>
        <p:spPr>
          <a:xfrm xmlns:a="http://schemas.openxmlformats.org/drawingml/2006/main">
            <a:off x="2629242" y="3390900"/>
            <a:ext cx="20005104"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526573"/>
                </a:solidFill>
                <a:latin typeface="맑은 고딕"/>
                <a:ea typeface="맑은 고딕"/>
                <a:cs typeface="맑은 고딕"/>
              </a:defRPr>
            </a:pPr>
            <a:r>
              <a:rPr sz="2550" b="0">
                <a:solidFill>
                  <a:srgbClr val="526573"/>
                </a:solidFill>
                <a:latin typeface="맑은 고딕"/>
                <a:ea typeface="맑은 고딕"/>
                <a:cs typeface="맑은 고딕"/>
              </a:rPr>
              <a:t>근거를 찾는 것부터 화면에 보여주는 것까지, 오류가 생길 지점을 나눠 확인했습니다</a:t>
            </a:r>
          </a:p>
        </p:txBody>
      </p:sp>
      <p:sp>
        <p:nvSpPr>
          <p:cNvPr id="3" name="v3-text-67">
            <a:extLst xmlns:a="http://schemas.openxmlformats.org/drawingml/2006/main">
              <a:ext uri="{FF2B5EF4-FFF2-40B4-BE49-F238E27FC236}">
                <a16:creationId xmlns:a16="http://schemas.microsoft.com/office/drawing/2014/main" id="{EE441522-98D3-494E-8AE9-CF87FE0837F3}"/>
              </a:ext>
            </a:extLst>
          </p:cNvPr>
          <p:cNvSpPr>
            <a:spLocks xmlns:a="http://schemas.openxmlformats.org/drawingml/2006/main" noGrp="1"/>
          </p:cNvSpPr>
          <p:nvPr/>
        </p:nvSpPr>
        <p:spPr>
          <a:xfrm xmlns:a="http://schemas.openxmlformats.org/drawingml/2006/main">
            <a:off x="22386665" y="12649200"/>
            <a:ext cx="914519"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800" b="0">
                <a:solidFill>
                  <a:srgbClr val="526573"/>
                </a:solidFill>
                <a:latin typeface="맑은 고딕"/>
                <a:ea typeface="맑은 고딕"/>
                <a:cs typeface="맑은 고딕"/>
              </a:defRPr>
            </a:pPr>
            <a:r>
              <a:rPr sz="1800" b="0">
                <a:solidFill>
                  <a:srgbClr val="526573"/>
                </a:solidFill>
                <a:latin typeface="맑은 고딕"/>
                <a:ea typeface="맑은 고딕"/>
                <a:cs typeface="맑은 고딕"/>
              </a:rPr>
              <a:t>10</a:t>
            </a:r>
          </a:p>
        </p:txBody>
      </p:sp>
      <p:graphicFrame>
        <p:nvGraphicFramePr>
          <p:cNvPr id="9" name=""/>
          <p:cNvGraphicFramePr/>
          <p:nvPr/>
        </p:nvGraphicFramePr>
        <p:xfrm>
          <a:off xmlns:a="http://schemas.openxmlformats.org/drawingml/2006/main" x="2629242" y="4476750"/>
          <a:ext xmlns:a="http://schemas.openxmlformats.org/drawingml/2006/main" cx="20195629" cy="6210300"/>
        </p:xfrm>
        <a:graphic xmlns:a="http://schemas.openxmlformats.org/drawingml/2006/main">
          <a:graphicData uri="http://schemas.openxmlformats.org/drawingml/2006/table">
            <a:tbl>
              <a:tblPr/>
              <a:tblGrid>
                <a:gridCol w="3715234"/>
                <a:gridCol w="9335715"/>
                <a:gridCol w="7144680"/>
              </a:tblGrid>
              <a:tr h="1242060">
                <a:tc>
                  <a:txBody>
                    <a:bodyPr/>
                    <a:lstStyle/>
                    <a:p>
                      <a:r>
                        <a:rPr sz="2550" b="1">
                          <a:solidFill>
                            <a:srgbClr val="FFFFFF"/>
                          </a:solidFill>
                          <a:latin typeface="맑은 고딕"/>
                          <a:ea typeface="맑은 고딕"/>
                          <a:cs typeface="맑은 고딕"/>
                        </a:rPr>
                        <a:t>확인 지점</a:t>
                      </a:r>
                    </a:p>
                  </a:txBody>
                  <a:tcPr marL="190500" marR="190500" marT="133350" marB="114300" anchor="ctr">
                    <a:solidFill>
                      <a:srgbClr val="082D65"/>
                    </a:solidFill>
                  </a:tcPr>
                </a:tc>
                <a:tc>
                  <a:txBody>
                    <a:bodyPr/>
                    <a:lstStyle/>
                    <a:p>
                      <a:r>
                        <a:rPr sz="2550" b="1">
                          <a:solidFill>
                            <a:srgbClr val="FFFFFF"/>
                          </a:solidFill>
                          <a:latin typeface="맑은 고딕"/>
                          <a:ea typeface="맑은 고딕"/>
                          <a:cs typeface="맑은 고딕"/>
                        </a:rPr>
                        <a:t>구현한 처리</a:t>
                      </a:r>
                    </a:p>
                  </a:txBody>
                  <a:tcPr marL="190500" marR="190500" marT="133350" marB="114300" anchor="ctr">
                    <a:solidFill>
                      <a:srgbClr val="082D65"/>
                    </a:solidFill>
                  </a:tcPr>
                </a:tc>
                <a:tc>
                  <a:txBody>
                    <a:bodyPr/>
                    <a:lstStyle/>
                    <a:p>
                      <a:r>
                        <a:rPr sz="2550" b="1">
                          <a:solidFill>
                            <a:srgbClr val="FFFFFF"/>
                          </a:solidFill>
                          <a:latin typeface="맑은 고딕"/>
                          <a:ea typeface="맑은 고딕"/>
                          <a:cs typeface="맑은 고딕"/>
                        </a:rPr>
                        <a:t>검증 사례</a:t>
                      </a:r>
                    </a:p>
                  </a:txBody>
                  <a:tcPr marL="190500" marR="190500" marT="133350" marB="114300" anchor="ctr">
                    <a:solidFill>
                      <a:srgbClr val="082D65"/>
                    </a:solidFill>
                  </a:tcPr>
                </a:tc>
              </a:tr>
              <a:tr h="1242060">
                <a:tc>
                  <a:txBody>
                    <a:bodyPr/>
                    <a:lstStyle/>
                    <a:p>
                      <a:r>
                        <a:rPr sz="2700" b="1">
                          <a:solidFill>
                            <a:srgbClr val="10344D"/>
                          </a:solidFill>
                          <a:latin typeface="맑은 고딕"/>
                          <a:ea typeface="맑은 고딕"/>
                          <a:cs typeface="맑은 고딕"/>
                        </a:rPr>
                        <a:t>질문 맥락</a:t>
                      </a:r>
                    </a:p>
                  </a:txBody>
                  <a:tcPr marL="190500" marR="190500" marT="133350" marB="114300" anchor="ctr">
                    <a:solidFill>
                      <a:srgbClr val="FFFFFF"/>
                    </a:solidFill>
                  </a:tcPr>
                </a:tc>
                <a:tc>
                  <a:txBody>
                    <a:bodyPr/>
                    <a:lstStyle/>
                    <a:p>
                      <a:r>
                        <a:rPr sz="2700" b="0">
                          <a:solidFill>
                            <a:srgbClr val="10344D"/>
                          </a:solidFill>
                          <a:latin typeface="맑은 고딕"/>
                          <a:ea typeface="맑은 고딕"/>
                          <a:cs typeface="맑은 고딕"/>
                        </a:rPr>
                        <a:t>앞 대화를 반영해 현재 질문을 재작성</a:t>
                      </a:r>
                    </a:p>
                    <a:p>
                      <a:r>
                        <a:rPr sz="2700" b="0">
                          <a:solidFill>
                            <a:srgbClr val="10344D"/>
                          </a:solidFill>
                          <a:latin typeface="맑은 고딕"/>
                          <a:ea typeface="맑은 고딕"/>
                          <a:cs typeface="맑은 고딕"/>
                        </a:rPr>
                        <a:t>새 주제로 바뀌면 이전 내용의 혼입 방지</a:t>
                      </a:r>
                    </a:p>
                  </a:txBody>
                  <a:tcPr marL="190500" marR="190500" marT="133350" marB="114300" anchor="ctr">
                    <a:solidFill>
                      <a:srgbClr val="FFFFFF"/>
                    </a:solidFill>
                  </a:tcPr>
                </a:tc>
                <a:tc>
                  <a:txBody>
                    <a:bodyPr/>
                    <a:lstStyle/>
                    <a:p>
                      <a:r>
                        <a:rPr sz="2700" b="0">
                          <a:solidFill>
                            <a:srgbClr val="10344D"/>
                          </a:solidFill>
                          <a:latin typeface="맑은 고딕"/>
                          <a:ea typeface="맑은 고딕"/>
                          <a:cs typeface="맑은 고딕"/>
                        </a:rPr>
                        <a:t>“해외출장입니다”의 대화 연속성</a:t>
                      </a:r>
                    </a:p>
                    <a:p>
                      <a:r>
                        <a:rPr sz="2700" b="0">
                          <a:solidFill>
                            <a:srgbClr val="10344D"/>
                          </a:solidFill>
                          <a:latin typeface="맑은 고딕"/>
                          <a:ea typeface="맑은 고딕"/>
                          <a:cs typeface="맑은 고딕"/>
                        </a:rPr>
                        <a:t>경조사 질문으로 바뀌는 주제 전환</a:t>
                      </a:r>
                    </a:p>
                  </a:txBody>
                  <a:tcPr marL="190500" marR="190500" marT="133350" marB="114300" anchor="ctr">
                    <a:solidFill>
                      <a:srgbClr val="FFFFFF"/>
                    </a:solidFill>
                  </a:tcPr>
                </a:tc>
              </a:tr>
              <a:tr h="1242060">
                <a:tc>
                  <a:txBody>
                    <a:bodyPr/>
                    <a:lstStyle/>
                    <a:p>
                      <a:r>
                        <a:rPr sz="2700" b="1">
                          <a:solidFill>
                            <a:srgbClr val="10344D"/>
                          </a:solidFill>
                          <a:latin typeface="맑은 고딕"/>
                          <a:ea typeface="맑은 고딕"/>
                          <a:cs typeface="맑은 고딕"/>
                        </a:rPr>
                        <a:t>근거 선택</a:t>
                      </a:r>
                    </a:p>
                  </a:txBody>
                  <a:tcPr marL="190500" marR="190500" marT="133350" marB="114300" anchor="ctr">
                    <a:solidFill>
                      <a:srgbClr val="E8EFF3"/>
                    </a:solidFill>
                  </a:tcPr>
                </a:tc>
                <a:tc>
                  <a:txBody>
                    <a:bodyPr/>
                    <a:lstStyle/>
                    <a:p>
                      <a:r>
                        <a:rPr sz="2700" b="0">
                          <a:solidFill>
                            <a:srgbClr val="10344D"/>
                          </a:solidFill>
                          <a:latin typeface="맑은 고딕"/>
                          <a:ea typeface="맑은 고딕"/>
                          <a:cs typeface="맑은 고딕"/>
                        </a:rPr>
                        <a:t>검색 후보와 실제 사용 근거를 분리</a:t>
                      </a:r>
                    </a:p>
                    <a:p>
                      <a:r>
                        <a:rPr sz="2700" b="0">
                          <a:solidFill>
                            <a:srgbClr val="10344D"/>
                          </a:solidFill>
                          <a:latin typeface="맑은 고딕"/>
                          <a:ea typeface="맑은 고딕"/>
                          <a:cs typeface="맑은 고딕"/>
                        </a:rPr>
                        <a:t>선택 번호 검증과 대체 선택 처리</a:t>
                      </a:r>
                    </a:p>
                  </a:txBody>
                  <a:tcPr marL="190500" marR="190500" marT="133350" marB="114300" anchor="ctr">
                    <a:solidFill>
                      <a:srgbClr val="E8EFF3"/>
                    </a:solidFill>
                  </a:tcPr>
                </a:tc>
                <a:tc>
                  <a:txBody>
                    <a:bodyPr/>
                    <a:lstStyle/>
                    <a:p>
                      <a:r>
                        <a:rPr sz="2700" b="0">
                          <a:solidFill>
                            <a:srgbClr val="10344D"/>
                          </a:solidFill>
                          <a:latin typeface="맑은 고딕"/>
                          <a:ea typeface="맑은 고딕"/>
                          <a:cs typeface="맑은 고딕"/>
                        </a:rPr>
                        <a:t>출장 질문에 무관한 복지 규정이</a:t>
                      </a:r>
                    </a:p>
                    <a:p>
                      <a:r>
                        <a:rPr sz="2700" b="0">
                          <a:solidFill>
                            <a:srgbClr val="10344D"/>
                          </a:solidFill>
                          <a:latin typeface="맑은 고딕"/>
                          <a:ea typeface="맑은 고딕"/>
                          <a:cs typeface="맑은 고딕"/>
                        </a:rPr>
                        <a:t>함께 표시되는지 점검</a:t>
                      </a:r>
                    </a:p>
                  </a:txBody>
                  <a:tcPr marL="190500" marR="190500" marT="133350" marB="114300" anchor="ctr">
                    <a:solidFill>
                      <a:srgbClr val="E8EFF3"/>
                    </a:solidFill>
                  </a:tcPr>
                </a:tc>
              </a:tr>
              <a:tr h="1242060">
                <a:tc>
                  <a:txBody>
                    <a:bodyPr/>
                    <a:lstStyle/>
                    <a:p>
                      <a:r>
                        <a:rPr sz="2700" b="1">
                          <a:solidFill>
                            <a:srgbClr val="10344D"/>
                          </a:solidFill>
                          <a:latin typeface="맑은 고딕"/>
                          <a:ea typeface="맑은 고딕"/>
                          <a:cs typeface="맑은 고딕"/>
                        </a:rPr>
                        <a:t>정보 부족·예외</a:t>
                      </a:r>
                    </a:p>
                  </a:txBody>
                  <a:tcPr marL="190500" marR="190500" marT="133350" marB="114300" anchor="ctr">
                    <a:solidFill>
                      <a:srgbClr val="FFFFFF"/>
                    </a:solidFill>
                  </a:tcPr>
                </a:tc>
                <a:tc>
                  <a:txBody>
                    <a:bodyPr/>
                    <a:lstStyle/>
                    <a:p>
                      <a:r>
                        <a:rPr sz="2700" b="0">
                          <a:solidFill>
                            <a:srgbClr val="10344D"/>
                          </a:solidFill>
                          <a:latin typeface="맑은 고딕"/>
                          <a:ea typeface="맑은 고딕"/>
                          <a:cs typeface="맑은 고딕"/>
                        </a:rPr>
                        <a:t>추가 확인 항목 또는 담당자 확인 안내</a:t>
                      </a:r>
                    </a:p>
                    <a:p>
                      <a:r>
                        <a:rPr sz="2700" b="0">
                          <a:solidFill>
                            <a:srgbClr val="10344D"/>
                          </a:solidFill>
                          <a:latin typeface="맑은 고딕"/>
                          <a:ea typeface="맑은 고딕"/>
                          <a:cs typeface="맑은 고딕"/>
                        </a:rPr>
                        <a:t>최종 지급·승인 확인 문구 표시</a:t>
                      </a:r>
                    </a:p>
                  </a:txBody>
                  <a:tcPr marL="190500" marR="190500" marT="133350" marB="114300" anchor="ctr">
                    <a:solidFill>
                      <a:srgbClr val="FFFFFF"/>
                    </a:solidFill>
                  </a:tcPr>
                </a:tc>
                <a:tc>
                  <a:txBody>
                    <a:bodyPr/>
                    <a:lstStyle/>
                    <a:p>
                      <a:r>
                        <a:rPr sz="2700" b="0">
                          <a:solidFill>
                            <a:srgbClr val="10344D"/>
                          </a:solidFill>
                          <a:latin typeface="맑은 고딕"/>
                          <a:ea typeface="맑은 고딕"/>
                          <a:cs typeface="맑은 고딕"/>
                        </a:rPr>
                        <a:t>발령·거주 조건 부족</a:t>
                      </a:r>
                    </a:p>
                    <a:p>
                      <a:r>
                        <a:rPr sz="2700" b="0">
                          <a:solidFill>
                            <a:srgbClr val="10344D"/>
                          </a:solidFill>
                          <a:latin typeface="맑은 고딕"/>
                          <a:ea typeface="맑은 고딕"/>
                          <a:cs typeface="맑은 고딕"/>
                        </a:rPr>
                        <a:t>개인 일정이 포함된 출장</a:t>
                      </a:r>
                    </a:p>
                  </a:txBody>
                  <a:tcPr marL="190500" marR="190500" marT="133350" marB="114300" anchor="ctr">
                    <a:solidFill>
                      <a:srgbClr val="FFFFFF"/>
                    </a:solidFill>
                  </a:tcPr>
                </a:tc>
              </a:tr>
              <a:tr h="1242060">
                <a:tc>
                  <a:txBody>
                    <a:bodyPr/>
                    <a:lstStyle/>
                    <a:p>
                      <a:r>
                        <a:rPr sz="2700" b="1">
                          <a:solidFill>
                            <a:srgbClr val="10344D"/>
                          </a:solidFill>
                          <a:latin typeface="맑은 고딕"/>
                          <a:ea typeface="맑은 고딕"/>
                          <a:cs typeface="맑은 고딕"/>
                        </a:rPr>
                        <a:t>과거 오류 재발</a:t>
                      </a:r>
                    </a:p>
                  </a:txBody>
                  <a:tcPr marL="190500" marR="190500" marT="133350" marB="114300" anchor="ctr">
                    <a:solidFill>
                      <a:srgbClr val="E8EFF3"/>
                    </a:solidFill>
                  </a:tcPr>
                </a:tc>
                <a:tc>
                  <a:txBody>
                    <a:bodyPr/>
                    <a:lstStyle/>
                    <a:p>
                      <a:r>
                        <a:rPr sz="2700" b="0">
                          <a:solidFill>
                            <a:srgbClr val="10344D"/>
                          </a:solidFill>
                          <a:latin typeface="맑은 고딕"/>
                          <a:ea typeface="맑은 고딕"/>
                          <a:cs typeface="맑은 고딕"/>
                        </a:rPr>
                        <a:t>검색 평가와 최종 동작 검증을 분리</a:t>
                      </a:r>
                    </a:p>
                    <a:p>
                      <a:r>
                        <a:rPr sz="2700" b="0">
                          <a:solidFill>
                            <a:srgbClr val="10344D"/>
                          </a:solidFill>
                          <a:latin typeface="맑은 고딕"/>
                          <a:ea typeface="맑은 고딕"/>
                          <a:cs typeface="맑은 고딕"/>
                        </a:rPr>
                        <a:t>수정한 사례를 회귀 검증에 추가</a:t>
                      </a:r>
                    </a:p>
                  </a:txBody>
                  <a:tcPr marL="190500" marR="190500" marT="133350" marB="114300" anchor="ctr">
                    <a:solidFill>
                      <a:srgbClr val="E8EFF3"/>
                    </a:solidFill>
                  </a:tcPr>
                </a:tc>
                <a:tc>
                  <a:txBody>
                    <a:bodyPr/>
                    <a:lstStyle/>
                    <a:p>
                      <a:r>
                        <a:rPr sz="2700" b="0">
                          <a:solidFill>
                            <a:srgbClr val="10344D"/>
                          </a:solidFill>
                          <a:latin typeface="맑은 고딕"/>
                          <a:ea typeface="맑은 고딕"/>
                          <a:cs typeface="맑은 고딕"/>
                        </a:rPr>
                        <a:t>대화·근거 링크·동호회 범위·</a:t>
                      </a:r>
                    </a:p>
                    <a:p>
                      <a:r>
                        <a:rPr sz="2700" b="0">
                          <a:solidFill>
                            <a:srgbClr val="10344D"/>
                          </a:solidFill>
                          <a:latin typeface="맑은 고딕"/>
                          <a:ea typeface="맑은 고딕"/>
                          <a:cs typeface="맑은 고딕"/>
                        </a:rPr>
                        <a:t>장기 파견 계산 사례</a:t>
                      </a:r>
                    </a:p>
                  </a:txBody>
                  <a:tcPr marL="190500" marR="190500" marT="133350" marB="114300" anchor="ctr">
                    <a:solidFill>
                      <a:srgbClr val="E8EFF3"/>
                    </a:solidFill>
                  </a:tcPr>
                </a:tc>
              </a:tr>
            </a:tbl>
          </a:graphicData>
        </a:graphic>
      </p:graphicFrame>
      <p:sp>
        <p:nvSpPr>
          <p:cNvPr id="5" name="v3-text-68">
            <a:extLst xmlns:a="http://schemas.openxmlformats.org/drawingml/2006/main">
              <a:ext uri="{FF2B5EF4-FFF2-40B4-BE49-F238E27FC236}">
                <a16:creationId xmlns:a16="http://schemas.microsoft.com/office/drawing/2014/main" id="{8CC56015-F12A-404C-8CB8-243771C3B489}"/>
              </a:ext>
            </a:extLst>
          </p:cNvPr>
          <p:cNvSpPr>
            <a:spLocks xmlns:a="http://schemas.openxmlformats.org/drawingml/2006/main" noGrp="1"/>
          </p:cNvSpPr>
          <p:nvPr/>
        </p:nvSpPr>
        <p:spPr>
          <a:xfrm xmlns:a="http://schemas.openxmlformats.org/drawingml/2006/main">
            <a:off x="2629242" y="11925300"/>
            <a:ext cx="20195629"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26573"/>
                </a:solidFill>
                <a:latin typeface="맑은 고딕"/>
                <a:ea typeface="맑은 고딕"/>
                <a:cs typeface="맑은 고딕"/>
              </a:defRPr>
            </a:pPr>
            <a:r>
              <a:rPr sz="1950" b="0">
                <a:solidFill>
                  <a:srgbClr val="526573"/>
                </a:solidFill>
                <a:latin typeface="맑은 고딕"/>
                <a:ea typeface="맑은 고딕"/>
                <a:cs typeface="맑은 고딕"/>
              </a:rPr>
              <a:t>구현된 통제와 테스트 범위이며, 모든 질문의 정확성이나 무오류를 보장하는 수치는 아님</a:t>
            </a:r>
          </a:p>
        </p:txBody>
      </p:sp>
    </p:spTree>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7" name="v3-text-69">
            <a:extLst xmlns:a="http://schemas.openxmlformats.org/drawingml/2006/main">
              <a:ext uri="{FF2B5EF4-FFF2-40B4-BE49-F238E27FC236}">
                <a16:creationId xmlns:a16="http://schemas.microsoft.com/office/drawing/2014/main" id="{08BD2F12-F5BD-4384-A7C5-926C892CBF60}"/>
              </a:ext>
            </a:extLst>
          </p:cNvPr>
          <p:cNvSpPr>
            <a:spLocks xmlns:a="http://schemas.openxmlformats.org/drawingml/2006/main" noGrp="1"/>
          </p:cNvSpPr>
          <p:nvPr/>
        </p:nvSpPr>
        <p:spPr>
          <a:xfrm xmlns:a="http://schemas.openxmlformats.org/drawingml/2006/main">
            <a:off x="2629242" y="2324100"/>
            <a:ext cx="20386154"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1">
                <a:solidFill>
                  <a:srgbClr val="10344D"/>
                </a:solidFill>
                <a:latin typeface="맑은 고딕"/>
                <a:ea typeface="맑은 고딕"/>
                <a:cs typeface="맑은 고딕"/>
              </a:defRPr>
            </a:pPr>
            <a:r>
              <a:rPr sz="4350" b="1">
                <a:solidFill>
                  <a:srgbClr val="10344D"/>
                </a:solidFill>
                <a:latin typeface="맑은 고딕"/>
                <a:ea typeface="맑은 고딕"/>
                <a:cs typeface="맑은 고딕"/>
              </a:rPr>
              <a:t>시행착오와 개선 과정</a:t>
            </a:r>
          </a:p>
        </p:txBody>
      </p:sp>
      <p:sp>
        <p:nvSpPr>
          <p:cNvPr id="2" name="v3-text-70">
            <a:extLst xmlns:a="http://schemas.openxmlformats.org/drawingml/2006/main">
              <a:ext uri="{FF2B5EF4-FFF2-40B4-BE49-F238E27FC236}">
                <a16:creationId xmlns:a16="http://schemas.microsoft.com/office/drawing/2014/main" id="{1051A055-E9A0-4997-A671-D31F1E2C0835}"/>
              </a:ext>
            </a:extLst>
          </p:cNvPr>
          <p:cNvSpPr>
            <a:spLocks xmlns:a="http://schemas.openxmlformats.org/drawingml/2006/main" noGrp="1"/>
          </p:cNvSpPr>
          <p:nvPr/>
        </p:nvSpPr>
        <p:spPr>
          <a:xfrm xmlns:a="http://schemas.openxmlformats.org/drawingml/2006/main">
            <a:off x="2629242" y="3390900"/>
            <a:ext cx="20005104"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526573"/>
                </a:solidFill>
                <a:latin typeface="맑은 고딕"/>
                <a:ea typeface="맑은 고딕"/>
                <a:cs typeface="맑은 고딕"/>
              </a:defRPr>
            </a:pPr>
            <a:r>
              <a:rPr sz="2550" b="0">
                <a:solidFill>
                  <a:srgbClr val="526573"/>
                </a:solidFill>
                <a:latin typeface="맑은 고딕"/>
                <a:ea typeface="맑은 고딕"/>
                <a:cs typeface="맑은 고딕"/>
              </a:rPr>
              <a:t>좋아 보이는 규칙도 실제 질문에서는 정답을 가릴 수 있었습니다</a:t>
            </a:r>
          </a:p>
        </p:txBody>
      </p:sp>
      <p:sp>
        <p:nvSpPr>
          <p:cNvPr id="3" name="v3-text-71">
            <a:extLst xmlns:a="http://schemas.openxmlformats.org/drawingml/2006/main">
              <a:ext uri="{FF2B5EF4-FFF2-40B4-BE49-F238E27FC236}">
                <a16:creationId xmlns:a16="http://schemas.microsoft.com/office/drawing/2014/main" id="{BBC82E60-664C-43E3-8F6F-D373F320FB12}"/>
              </a:ext>
            </a:extLst>
          </p:cNvPr>
          <p:cNvSpPr>
            <a:spLocks xmlns:a="http://schemas.openxmlformats.org/drawingml/2006/main" noGrp="1"/>
          </p:cNvSpPr>
          <p:nvPr/>
        </p:nvSpPr>
        <p:spPr>
          <a:xfrm xmlns:a="http://schemas.openxmlformats.org/drawingml/2006/main">
            <a:off x="22386665" y="12649200"/>
            <a:ext cx="914519"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800" b="0">
                <a:solidFill>
                  <a:srgbClr val="526573"/>
                </a:solidFill>
                <a:latin typeface="맑은 고딕"/>
                <a:ea typeface="맑은 고딕"/>
                <a:cs typeface="맑은 고딕"/>
              </a:defRPr>
            </a:pPr>
            <a:r>
              <a:rPr sz="1800" b="0">
                <a:solidFill>
                  <a:srgbClr val="526573"/>
                </a:solidFill>
                <a:latin typeface="맑은 고딕"/>
                <a:ea typeface="맑은 고딕"/>
                <a:cs typeface="맑은 고딕"/>
              </a:rPr>
              <a:t>11</a:t>
            </a:r>
          </a:p>
        </p:txBody>
      </p:sp>
      <p:graphicFrame>
        <p:nvGraphicFramePr>
          <p:cNvPr id="10" name=""/>
          <p:cNvGraphicFramePr/>
          <p:nvPr/>
        </p:nvGraphicFramePr>
        <p:xfrm>
          <a:off xmlns:a="http://schemas.openxmlformats.org/drawingml/2006/main" x="2629242" y="4476750"/>
          <a:ext xmlns:a="http://schemas.openxmlformats.org/drawingml/2006/main" cx="20195629" cy="5715000"/>
        </p:xfrm>
        <a:graphic xmlns:a="http://schemas.openxmlformats.org/drawingml/2006/main">
          <a:graphicData uri="http://schemas.openxmlformats.org/drawingml/2006/table">
            <a:tbl>
              <a:tblPr/>
              <a:tblGrid>
                <a:gridCol w="4667858"/>
                <a:gridCol w="7811517"/>
                <a:gridCol w="7716255"/>
              </a:tblGrid>
              <a:tr h="1428750">
                <a:tc>
                  <a:txBody>
                    <a:bodyPr/>
                    <a:lstStyle/>
                    <a:p>
                      <a:r>
                        <a:rPr sz="2550" b="1">
                          <a:solidFill>
                            <a:srgbClr val="FFFFFF"/>
                          </a:solidFill>
                          <a:latin typeface="맑은 고딕"/>
                          <a:ea typeface="맑은 고딕"/>
                          <a:cs typeface="맑은 고딕"/>
                        </a:rPr>
                        <a:t>시행착오</a:t>
                      </a:r>
                    </a:p>
                  </a:txBody>
                  <a:tcPr marL="190500" marR="190500" marT="133350" marB="114300" anchor="ctr">
                    <a:solidFill>
                      <a:srgbClr val="082D65"/>
                    </a:solidFill>
                  </a:tcPr>
                </a:tc>
                <a:tc>
                  <a:txBody>
                    <a:bodyPr/>
                    <a:lstStyle/>
                    <a:p>
                      <a:r>
                        <a:rPr sz="2550" b="1">
                          <a:solidFill>
                            <a:srgbClr val="FFFFFF"/>
                          </a:solidFill>
                          <a:latin typeface="맑은 고딕"/>
                          <a:ea typeface="맑은 고딕"/>
                          <a:cs typeface="맑은 고딕"/>
                        </a:rPr>
                        <a:t>발견한 문제</a:t>
                      </a:r>
                    </a:p>
                  </a:txBody>
                  <a:tcPr marL="190500" marR="190500" marT="133350" marB="114300" anchor="ctr">
                    <a:solidFill>
                      <a:srgbClr val="082D65"/>
                    </a:solidFill>
                  </a:tcPr>
                </a:tc>
                <a:tc>
                  <a:txBody>
                    <a:bodyPr/>
                    <a:lstStyle/>
                    <a:p>
                      <a:r>
                        <a:rPr sz="2550" b="1">
                          <a:solidFill>
                            <a:srgbClr val="FFFFFF"/>
                          </a:solidFill>
                          <a:latin typeface="맑은 고딕"/>
                          <a:ea typeface="맑은 고딕"/>
                          <a:cs typeface="맑은 고딕"/>
                        </a:rPr>
                        <a:t>개선과 학습</a:t>
                      </a:r>
                    </a:p>
                  </a:txBody>
                  <a:tcPr marL="190500" marR="190500" marT="133350" marB="114300" anchor="ctr">
                    <a:solidFill>
                      <a:srgbClr val="082D65"/>
                    </a:solidFill>
                  </a:tcPr>
                </a:tc>
              </a:tr>
              <a:tr h="1428750">
                <a:tc>
                  <a:txBody>
                    <a:bodyPr/>
                    <a:lstStyle/>
                    <a:p>
                      <a:r>
                        <a:rPr sz="2700" b="1">
                          <a:solidFill>
                            <a:srgbClr val="10344D"/>
                          </a:solidFill>
                          <a:latin typeface="맑은 고딕"/>
                          <a:ea typeface="맑은 고딕"/>
                          <a:cs typeface="맑은 고딕"/>
                        </a:rPr>
                        <a:t>단어로 제도 선분류</a:t>
                      </a:r>
                    </a:p>
                  </a:txBody>
                  <a:tcPr marL="190500" marR="190500" marT="133350" marB="114300" anchor="ctr">
                    <a:solidFill>
                      <a:srgbClr val="FFFFFF"/>
                    </a:solidFill>
                  </a:tcPr>
                </a:tc>
                <a:tc>
                  <a:txBody>
                    <a:bodyPr/>
                    <a:lstStyle/>
                    <a:p>
                      <a:r>
                        <a:rPr sz="2700" b="0">
                          <a:solidFill>
                            <a:srgbClr val="10344D"/>
                          </a:solidFill>
                          <a:latin typeface="맑은 고딕"/>
                          <a:ea typeface="맑은 고딕"/>
                          <a:cs typeface="맑은 고딕"/>
                        </a:rPr>
                        <a:t>출장 숙소 질문을 ‘숙소지원금’에 가둬</a:t>
                      </a:r>
                    </a:p>
                    <a:p>
                      <a:r>
                        <a:rPr sz="2700" b="0">
                          <a:solidFill>
                            <a:srgbClr val="10344D"/>
                          </a:solidFill>
                          <a:latin typeface="맑은 고딕"/>
                          <a:ea typeface="맑은 고딕"/>
                          <a:cs typeface="맑은 고딕"/>
                        </a:rPr>
                        <a:t>정답이 있는 출장 규정을 제외</a:t>
                      </a:r>
                    </a:p>
                  </a:txBody>
                  <a:tcPr marL="190500" marR="190500" marT="133350" marB="114300" anchor="ctr">
                    <a:solidFill>
                      <a:srgbClr val="FFFFFF"/>
                    </a:solidFill>
                  </a:tcPr>
                </a:tc>
                <a:tc>
                  <a:txBody>
                    <a:bodyPr/>
                    <a:lstStyle/>
                    <a:p>
                      <a:r>
                        <a:rPr sz="2700" b="0">
                          <a:solidFill>
                            <a:srgbClr val="10344D"/>
                          </a:solidFill>
                          <a:latin typeface="맑은 고딕"/>
                          <a:ea typeface="맑은 고딕"/>
                          <a:cs typeface="맑은 고딕"/>
                        </a:rPr>
                        <a:t>검색 관련도 기반으로 후보 선택</a:t>
                      </a:r>
                    </a:p>
                    <a:p>
                      <a:r>
                        <a:rPr sz="2700" b="0">
                          <a:solidFill>
                            <a:srgbClr val="10344D"/>
                          </a:solidFill>
                          <a:latin typeface="맑은 고딕"/>
                          <a:ea typeface="맑은 고딕"/>
                          <a:cs typeface="맑은 고딕"/>
                        </a:rPr>
                        <a:t>제도 경계 질문을 함께 평가</a:t>
                      </a:r>
                    </a:p>
                  </a:txBody>
                  <a:tcPr marL="190500" marR="190500" marT="133350" marB="114300" anchor="ctr">
                    <a:solidFill>
                      <a:srgbClr val="FFFFFF"/>
                    </a:solidFill>
                  </a:tcPr>
                </a:tc>
              </a:tr>
              <a:tr h="1428750">
                <a:tc>
                  <a:txBody>
                    <a:bodyPr/>
                    <a:lstStyle/>
                    <a:p>
                      <a:r>
                        <a:rPr sz="2700" b="1">
                          <a:solidFill>
                            <a:srgbClr val="10344D"/>
                          </a:solidFill>
                          <a:latin typeface="맑은 고딕"/>
                          <a:ea typeface="맑은 고딕"/>
                          <a:cs typeface="맑은 고딕"/>
                        </a:rPr>
                        <a:t>단어로 대화 연결 판단</a:t>
                      </a:r>
                    </a:p>
                  </a:txBody>
                  <a:tcPr marL="190500" marR="190500" marT="133350" marB="114300" anchor="ctr">
                    <a:solidFill>
                      <a:srgbClr val="E8EFF3"/>
                    </a:solidFill>
                  </a:tcPr>
                </a:tc>
                <a:tc>
                  <a:txBody>
                    <a:bodyPr/>
                    <a:lstStyle/>
                    <a:p>
                      <a:r>
                        <a:rPr sz="2700" b="0">
                          <a:solidFill>
                            <a:srgbClr val="10344D"/>
                          </a:solidFill>
                          <a:latin typeface="맑은 고딕"/>
                          <a:ea typeface="맑은 고딕"/>
                          <a:cs typeface="맑은 고딕"/>
                        </a:rPr>
                        <a:t>짧은 후속 질문은 맥락이 끊기고</a:t>
                      </a:r>
                    </a:p>
                    <a:p>
                      <a:r>
                        <a:rPr sz="2700" b="0">
                          <a:solidFill>
                            <a:srgbClr val="10344D"/>
                          </a:solidFill>
                          <a:latin typeface="맑은 고딕"/>
                          <a:ea typeface="맑은 고딕"/>
                          <a:cs typeface="맑은 고딕"/>
                        </a:rPr>
                        <a:t>새로운 경조사 질문에는 과거 주제가 잔존</a:t>
                      </a:r>
                    </a:p>
                  </a:txBody>
                  <a:tcPr marL="190500" marR="190500" marT="133350" marB="114300" anchor="ctr">
                    <a:solidFill>
                      <a:srgbClr val="E8EFF3"/>
                    </a:solidFill>
                  </a:tcPr>
                </a:tc>
                <a:tc>
                  <a:txBody>
                    <a:bodyPr/>
                    <a:lstStyle/>
                    <a:p>
                      <a:r>
                        <a:rPr sz="2700" b="0">
                          <a:solidFill>
                            <a:srgbClr val="10344D"/>
                          </a:solidFill>
                          <a:latin typeface="맑은 고딕"/>
                          <a:ea typeface="맑은 고딕"/>
                          <a:cs typeface="맑은 고딕"/>
                        </a:rPr>
                        <a:t>앞 대화를 반영해 질문을 재작성</a:t>
                      </a:r>
                    </a:p>
                    <a:p>
                      <a:r>
                        <a:rPr sz="2700" b="0">
                          <a:solidFill>
                            <a:srgbClr val="10344D"/>
                          </a:solidFill>
                          <a:latin typeface="맑은 고딕"/>
                          <a:ea typeface="맑은 고딕"/>
                          <a:cs typeface="맑은 고딕"/>
                        </a:rPr>
                        <a:t>후속 질문과 주제 전환을 함께 검증</a:t>
                      </a:r>
                    </a:p>
                  </a:txBody>
                  <a:tcPr marL="190500" marR="190500" marT="133350" marB="114300" anchor="ctr">
                    <a:solidFill>
                      <a:srgbClr val="E8EFF3"/>
                    </a:solidFill>
                  </a:tcPr>
                </a:tc>
              </a:tr>
              <a:tr h="1428750">
                <a:tc>
                  <a:txBody>
                    <a:bodyPr/>
                    <a:lstStyle/>
                    <a:p>
                      <a:r>
                        <a:rPr sz="2700" b="1">
                          <a:solidFill>
                            <a:srgbClr val="10344D"/>
                          </a:solidFill>
                          <a:latin typeface="맑은 고딕"/>
                          <a:ea typeface="맑은 고딕"/>
                          <a:cs typeface="맑은 고딕"/>
                        </a:rPr>
                        <a:t>표와 하위 제목의 청킹</a:t>
                      </a:r>
                    </a:p>
                  </a:txBody>
                  <a:tcPr marL="190500" marR="190500" marT="133350" marB="114300" anchor="ctr">
                    <a:solidFill>
                      <a:srgbClr val="FFFFFF"/>
                    </a:solidFill>
                  </a:tcPr>
                </a:tc>
                <a:tc>
                  <a:txBody>
                    <a:bodyPr/>
                    <a:lstStyle/>
                    <a:p>
                      <a:r>
                        <a:rPr sz="2700" b="0">
                          <a:solidFill>
                            <a:srgbClr val="10344D"/>
                          </a:solidFill>
                          <a:latin typeface="맑은 고딕"/>
                          <a:ea typeface="맑은 고딕"/>
                          <a:cs typeface="맑은 고딕"/>
                        </a:rPr>
                        <a:t>여비 별첨 표가 하위 주석에 섞여</a:t>
                      </a:r>
                    </a:p>
                    <a:p>
                      <a:r>
                        <a:rPr sz="2700" b="0">
                          <a:solidFill>
                            <a:srgbClr val="10344D"/>
                          </a:solidFill>
                          <a:latin typeface="맑은 고딕"/>
                          <a:ea typeface="맑은 고딕"/>
                          <a:cs typeface="맑은 고딕"/>
                        </a:rPr>
                        <a:t>검색 경로가 잘못 붙는 문제</a:t>
                      </a:r>
                    </a:p>
                  </a:txBody>
                  <a:tcPr marL="190500" marR="190500" marT="133350" marB="114300" anchor="ctr">
                    <a:solidFill>
                      <a:srgbClr val="FFFFFF"/>
                    </a:solidFill>
                  </a:tcPr>
                </a:tc>
                <a:tc>
                  <a:txBody>
                    <a:bodyPr/>
                    <a:lstStyle/>
                    <a:p>
                      <a:r>
                        <a:rPr sz="2700" b="0">
                          <a:solidFill>
                            <a:srgbClr val="10344D"/>
                          </a:solidFill>
                          <a:latin typeface="맑은 고딕"/>
                          <a:ea typeface="맑은 고딕"/>
                          <a:cs typeface="맑은 고딕"/>
                        </a:rPr>
                        <a:t>제목별 본문을 보존하도록 분리</a:t>
                      </a:r>
                    </a:p>
                    <a:p>
                      <a:r>
                        <a:rPr sz="2700" b="0">
                          <a:solidFill>
                            <a:srgbClr val="10344D"/>
                          </a:solidFill>
                          <a:latin typeface="맑은 고딕"/>
                          <a:ea typeface="맑은 고딕"/>
                          <a:cs typeface="맑은 고딕"/>
                        </a:rPr>
                        <a:t>청킹 변경 시 정답 라벨도 재확인</a:t>
                      </a:r>
                    </a:p>
                  </a:txBody>
                  <a:tcPr marL="190500" marR="190500" marT="133350" marB="114300" anchor="ctr">
                    <a:solidFill>
                      <a:srgbClr val="FFFFFF"/>
                    </a:solidFill>
                  </a:tcPr>
                </a:tc>
              </a:tr>
            </a:tbl>
          </a:graphicData>
        </a:graphic>
      </p:graphicFrame>
      <p:sp>
        <p:nvSpPr>
          <p:cNvPr id="5" name="v3-text-72">
            <a:extLst xmlns:a="http://schemas.openxmlformats.org/drawingml/2006/main">
              <a:ext uri="{FF2B5EF4-FFF2-40B4-BE49-F238E27FC236}">
                <a16:creationId xmlns:a16="http://schemas.microsoft.com/office/drawing/2014/main" id="{C160C27B-6C0C-4A71-8E01-166647DF31F3}"/>
              </a:ext>
            </a:extLst>
          </p:cNvPr>
          <p:cNvSpPr>
            <a:spLocks xmlns:a="http://schemas.openxmlformats.org/drawingml/2006/main" noGrp="1"/>
          </p:cNvSpPr>
          <p:nvPr/>
        </p:nvSpPr>
        <p:spPr>
          <a:xfrm xmlns:a="http://schemas.openxmlformats.org/drawingml/2006/main">
            <a:off x="2629242" y="10782300"/>
            <a:ext cx="2857872"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0344D"/>
                </a:solidFill>
                <a:latin typeface="맑은 고딕"/>
                <a:ea typeface="맑은 고딕"/>
                <a:cs typeface="맑은 고딕"/>
              </a:defRPr>
            </a:pPr>
            <a:r>
              <a:rPr sz="3300" b="1">
                <a:solidFill>
                  <a:srgbClr val="10344D"/>
                </a:solidFill>
                <a:latin typeface="맑은 고딕"/>
                <a:ea typeface="맑은 고딕"/>
                <a:cs typeface="맑은 고딕"/>
              </a:rPr>
              <a:t>얻은 교훈</a:t>
            </a:r>
          </a:p>
        </p:txBody>
      </p:sp>
      <p:sp>
        <p:nvSpPr>
          <p:cNvPr id="6" name="v3-text-73">
            <a:extLst xmlns:a="http://schemas.openxmlformats.org/drawingml/2006/main">
              <a:ext uri="{FF2B5EF4-FFF2-40B4-BE49-F238E27FC236}">
                <a16:creationId xmlns:a16="http://schemas.microsoft.com/office/drawing/2014/main" id="{D8CB3B32-E820-44C2-B86D-238B0C563C6A}"/>
              </a:ext>
            </a:extLst>
          </p:cNvPr>
          <p:cNvSpPr>
            <a:spLocks xmlns:a="http://schemas.openxmlformats.org/drawingml/2006/main" noGrp="1"/>
          </p:cNvSpPr>
          <p:nvPr/>
        </p:nvSpPr>
        <p:spPr>
          <a:xfrm xmlns:a="http://schemas.openxmlformats.org/drawingml/2006/main">
            <a:off x="5906269" y="10763250"/>
            <a:ext cx="1686144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0">
                <a:solidFill>
                  <a:srgbClr val="10344D"/>
                </a:solidFill>
                <a:latin typeface="맑은 고딕"/>
                <a:ea typeface="맑은 고딕"/>
                <a:cs typeface="맑은 고딕"/>
              </a:defRPr>
            </a:pPr>
            <a:r>
              <a:rPr sz="3150" b="0">
                <a:solidFill>
                  <a:srgbClr val="10344D"/>
                </a:solidFill>
                <a:latin typeface="맑은 고딕"/>
                <a:ea typeface="맑은 고딕"/>
                <a:cs typeface="맑은 고딕"/>
              </a:rPr>
              <a:t>규칙을 늘리기 전에 실패 원인을 찾고, 바뀐 조건에서 평가 기준도 함께 확인해야 합니다</a:t>
            </a:r>
          </a:p>
        </p:txBody>
      </p:sp>
    </p:spTree>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4" name="v3-text-74">
            <a:extLst xmlns:a="http://schemas.openxmlformats.org/drawingml/2006/main">
              <a:ext uri="{FF2B5EF4-FFF2-40B4-BE49-F238E27FC236}">
                <a16:creationId xmlns:a16="http://schemas.microsoft.com/office/drawing/2014/main" id="{F3D48E26-51B4-4A3D-B49D-4CAB63108175}"/>
              </a:ext>
            </a:extLst>
          </p:cNvPr>
          <p:cNvSpPr>
            <a:spLocks xmlns:a="http://schemas.openxmlformats.org/drawingml/2006/main" noGrp="1"/>
          </p:cNvSpPr>
          <p:nvPr/>
        </p:nvSpPr>
        <p:spPr>
          <a:xfrm xmlns:a="http://schemas.openxmlformats.org/drawingml/2006/main">
            <a:off x="2629242" y="2324100"/>
            <a:ext cx="20386154"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1">
                <a:solidFill>
                  <a:srgbClr val="10344D"/>
                </a:solidFill>
                <a:latin typeface="맑은 고딕"/>
                <a:ea typeface="맑은 고딕"/>
                <a:cs typeface="맑은 고딕"/>
              </a:defRPr>
            </a:pPr>
            <a:r>
              <a:rPr sz="4350" b="1">
                <a:solidFill>
                  <a:srgbClr val="10344D"/>
                </a:solidFill>
                <a:latin typeface="맑은 고딕"/>
                <a:ea typeface="맑은 고딕"/>
                <a:cs typeface="맑은 고딕"/>
              </a:rPr>
              <a:t>검색 품질 개선과 평가의 한계</a:t>
            </a:r>
          </a:p>
        </p:txBody>
      </p:sp>
      <p:sp>
        <p:nvSpPr>
          <p:cNvPr id="2" name="v3-text-75">
            <a:extLst xmlns:a="http://schemas.openxmlformats.org/drawingml/2006/main">
              <a:ext uri="{FF2B5EF4-FFF2-40B4-BE49-F238E27FC236}">
                <a16:creationId xmlns:a16="http://schemas.microsoft.com/office/drawing/2014/main" id="{43D47B6F-0519-4EF5-8BCE-C0CA8187A691}"/>
              </a:ext>
            </a:extLst>
          </p:cNvPr>
          <p:cNvSpPr>
            <a:spLocks xmlns:a="http://schemas.openxmlformats.org/drawingml/2006/main" noGrp="1"/>
          </p:cNvSpPr>
          <p:nvPr/>
        </p:nvSpPr>
        <p:spPr>
          <a:xfrm xmlns:a="http://schemas.openxmlformats.org/drawingml/2006/main">
            <a:off x="2629242" y="3390900"/>
            <a:ext cx="20005104"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526573"/>
                </a:solidFill>
                <a:latin typeface="맑은 고딕"/>
                <a:ea typeface="맑은 고딕"/>
                <a:cs typeface="맑은 고딕"/>
              </a:defRPr>
            </a:pPr>
            <a:r>
              <a:rPr sz="2550" b="0">
                <a:solidFill>
                  <a:srgbClr val="526573"/>
                </a:solidFill>
                <a:latin typeface="맑은 고딕"/>
                <a:ea typeface="맑은 고딕"/>
                <a:cs typeface="맑은 고딕"/>
              </a:rPr>
              <a:t>기록된 동일 평가셋 비교에서, 정답 조항을 첫 번째로 찾는 비율이 개선됐습니다</a:t>
            </a:r>
          </a:p>
        </p:txBody>
      </p:sp>
      <p:sp>
        <p:nvSpPr>
          <p:cNvPr id="3" name="v3-text-76">
            <a:extLst xmlns:a="http://schemas.openxmlformats.org/drawingml/2006/main">
              <a:ext uri="{FF2B5EF4-FFF2-40B4-BE49-F238E27FC236}">
                <a16:creationId xmlns:a16="http://schemas.microsoft.com/office/drawing/2014/main" id="{024A2EAA-C5E8-4BDE-AA6A-B4E791598818}"/>
              </a:ext>
            </a:extLst>
          </p:cNvPr>
          <p:cNvSpPr>
            <a:spLocks xmlns:a="http://schemas.openxmlformats.org/drawingml/2006/main" noGrp="1"/>
          </p:cNvSpPr>
          <p:nvPr/>
        </p:nvSpPr>
        <p:spPr>
          <a:xfrm xmlns:a="http://schemas.openxmlformats.org/drawingml/2006/main">
            <a:off x="22386665" y="12649200"/>
            <a:ext cx="914519"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800" b="0">
                <a:solidFill>
                  <a:srgbClr val="526573"/>
                </a:solidFill>
                <a:latin typeface="맑은 고딕"/>
                <a:ea typeface="맑은 고딕"/>
                <a:cs typeface="맑은 고딕"/>
              </a:defRPr>
            </a:pPr>
            <a:r>
              <a:rPr sz="1800" b="0">
                <a:solidFill>
                  <a:srgbClr val="526573"/>
                </a:solidFill>
                <a:latin typeface="맑은 고딕"/>
                <a:ea typeface="맑은 고딕"/>
                <a:cs typeface="맑은 고딕"/>
              </a:rPr>
              <a:t>12</a:t>
            </a:r>
          </a:p>
        </p:txBody>
      </p:sp>
      <p:sp>
        <p:nvSpPr>
          <p:cNvPr id="4" name="v3-text-77">
            <a:extLst xmlns:a="http://schemas.openxmlformats.org/drawingml/2006/main">
              <a:ext uri="{FF2B5EF4-FFF2-40B4-BE49-F238E27FC236}">
                <a16:creationId xmlns:a16="http://schemas.microsoft.com/office/drawing/2014/main" id="{75D944E5-C79F-4372-A88C-A194258F2CAE}"/>
              </a:ext>
            </a:extLst>
          </p:cNvPr>
          <p:cNvSpPr>
            <a:spLocks xmlns:a="http://schemas.openxmlformats.org/drawingml/2006/main" noGrp="1"/>
          </p:cNvSpPr>
          <p:nvPr/>
        </p:nvSpPr>
        <p:spPr>
          <a:xfrm xmlns:a="http://schemas.openxmlformats.org/drawingml/2006/main">
            <a:off x="2629242" y="4533900"/>
            <a:ext cx="5715744"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7800" b="1">
                <a:solidFill>
                  <a:srgbClr val="082D65"/>
                </a:solidFill>
                <a:latin typeface="맑은 고딕"/>
                <a:ea typeface="맑은 고딕"/>
                <a:cs typeface="맑은 고딕"/>
              </a:defRPr>
            </a:pPr>
            <a:r>
              <a:rPr sz="7800" b="1">
                <a:solidFill>
                  <a:srgbClr val="082D65"/>
                </a:solidFill>
                <a:latin typeface="맑은 고딕"/>
                <a:ea typeface="맑은 고딕"/>
                <a:cs typeface="맑은 고딕"/>
              </a:rPr>
              <a:t>45.5%</a:t>
            </a:r>
          </a:p>
        </p:txBody>
      </p:sp>
      <p:sp>
        <p:nvSpPr>
          <p:cNvPr id="5" name="v3-text-78">
            <a:extLst xmlns:a="http://schemas.openxmlformats.org/drawingml/2006/main">
              <a:ext uri="{FF2B5EF4-FFF2-40B4-BE49-F238E27FC236}">
                <a16:creationId xmlns:a16="http://schemas.microsoft.com/office/drawing/2014/main" id="{3469B592-9B44-4CC1-A29F-8668D2A76E0A}"/>
              </a:ext>
            </a:extLst>
          </p:cNvPr>
          <p:cNvSpPr>
            <a:spLocks xmlns:a="http://schemas.openxmlformats.org/drawingml/2006/main" noGrp="1"/>
          </p:cNvSpPr>
          <p:nvPr/>
        </p:nvSpPr>
        <p:spPr>
          <a:xfrm xmlns:a="http://schemas.openxmlformats.org/drawingml/2006/main">
            <a:off x="2705452" y="6057900"/>
            <a:ext cx="5715744"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526573"/>
                </a:solidFill>
                <a:latin typeface="맑은 고딕"/>
                <a:ea typeface="맑은 고딕"/>
                <a:cs typeface="맑은 고딕"/>
              </a:defRPr>
            </a:pPr>
            <a:r>
              <a:rPr sz="2850" b="0">
                <a:solidFill>
                  <a:srgbClr val="526573"/>
                </a:solidFill>
                <a:latin typeface="맑은 고딕"/>
                <a:ea typeface="맑은 고딕"/>
                <a:cs typeface="맑은 고딕"/>
              </a:rPr>
              <a:t>개선 전 Hit@1</a:t>
            </a:r>
          </a:p>
        </p:txBody>
      </p:sp>
      <p:sp>
        <p:nvSpPr>
          <p:cNvPr id="6" name="v3-text-79">
            <a:extLst xmlns:a="http://schemas.openxmlformats.org/drawingml/2006/main">
              <a:ext uri="{FF2B5EF4-FFF2-40B4-BE49-F238E27FC236}">
                <a16:creationId xmlns:a16="http://schemas.microsoft.com/office/drawing/2014/main" id="{733B3DF8-BBF2-48C7-96F2-3A0271DADDCB}"/>
              </a:ext>
            </a:extLst>
          </p:cNvPr>
          <p:cNvSpPr>
            <a:spLocks xmlns:a="http://schemas.openxmlformats.org/drawingml/2006/main" noGrp="1"/>
          </p:cNvSpPr>
          <p:nvPr/>
        </p:nvSpPr>
        <p:spPr>
          <a:xfrm xmlns:a="http://schemas.openxmlformats.org/drawingml/2006/main">
            <a:off x="9716765" y="4533900"/>
            <a:ext cx="5715744"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7800" b="1">
                <a:solidFill>
                  <a:srgbClr val="082D65"/>
                </a:solidFill>
                <a:latin typeface="맑은 고딕"/>
                <a:ea typeface="맑은 고딕"/>
                <a:cs typeface="맑은 고딕"/>
              </a:defRPr>
            </a:pPr>
            <a:r>
              <a:rPr sz="7800" b="1">
                <a:solidFill>
                  <a:srgbClr val="082D65"/>
                </a:solidFill>
                <a:latin typeface="맑은 고딕"/>
                <a:ea typeface="맑은 고딕"/>
                <a:cs typeface="맑은 고딕"/>
              </a:rPr>
              <a:t>63.6%</a:t>
            </a:r>
          </a:p>
        </p:txBody>
      </p:sp>
      <p:sp>
        <p:nvSpPr>
          <p:cNvPr id="7" name="v3-text-80">
            <a:extLst xmlns:a="http://schemas.openxmlformats.org/drawingml/2006/main">
              <a:ext uri="{FF2B5EF4-FFF2-40B4-BE49-F238E27FC236}">
                <a16:creationId xmlns:a16="http://schemas.microsoft.com/office/drawing/2014/main" id="{BF755AFF-7C5B-4431-A66A-990398E81637}"/>
              </a:ext>
            </a:extLst>
          </p:cNvPr>
          <p:cNvSpPr>
            <a:spLocks xmlns:a="http://schemas.openxmlformats.org/drawingml/2006/main" noGrp="1"/>
          </p:cNvSpPr>
          <p:nvPr/>
        </p:nvSpPr>
        <p:spPr>
          <a:xfrm xmlns:a="http://schemas.openxmlformats.org/drawingml/2006/main">
            <a:off x="9792975" y="6057900"/>
            <a:ext cx="5715744"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526573"/>
                </a:solidFill>
                <a:latin typeface="맑은 고딕"/>
                <a:ea typeface="맑은 고딕"/>
                <a:cs typeface="맑은 고딕"/>
              </a:defRPr>
            </a:pPr>
            <a:r>
              <a:rPr sz="2850" b="0">
                <a:solidFill>
                  <a:srgbClr val="526573"/>
                </a:solidFill>
                <a:latin typeface="맑은 고딕"/>
                <a:ea typeface="맑은 고딕"/>
                <a:cs typeface="맑은 고딕"/>
              </a:rPr>
              <a:t>개선 후 Hit@1</a:t>
            </a:r>
          </a:p>
        </p:txBody>
      </p:sp>
      <p:sp>
        <p:nvSpPr>
          <p:cNvPr id="8" name="v3-text-81">
            <a:extLst xmlns:a="http://schemas.openxmlformats.org/drawingml/2006/main">
              <a:ext uri="{FF2B5EF4-FFF2-40B4-BE49-F238E27FC236}">
                <a16:creationId xmlns:a16="http://schemas.microsoft.com/office/drawing/2014/main" id="{AA7154CD-0E92-48FD-85EE-3A01B855A9E6}"/>
              </a:ext>
            </a:extLst>
          </p:cNvPr>
          <p:cNvSpPr>
            <a:spLocks xmlns:a="http://schemas.openxmlformats.org/drawingml/2006/main" noGrp="1"/>
          </p:cNvSpPr>
          <p:nvPr/>
        </p:nvSpPr>
        <p:spPr>
          <a:xfrm xmlns:a="http://schemas.openxmlformats.org/drawingml/2006/main">
            <a:off x="16804288" y="4533900"/>
            <a:ext cx="6001531"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7200" b="1">
                <a:solidFill>
                  <a:srgbClr val="12667B"/>
                </a:solidFill>
                <a:latin typeface="맑은 고딕"/>
                <a:ea typeface="맑은 고딕"/>
                <a:cs typeface="맑은 고딕"/>
              </a:defRPr>
            </a:pPr>
            <a:r>
              <a:rPr sz="7200" b="1">
                <a:solidFill>
                  <a:srgbClr val="12667B"/>
                </a:solidFill>
                <a:latin typeface="맑은 고딕"/>
                <a:ea typeface="맑은 고딕"/>
                <a:cs typeface="맑은 고딕"/>
              </a:rPr>
              <a:t>+18.1%p</a:t>
            </a:r>
          </a:p>
        </p:txBody>
      </p:sp>
      <p:sp>
        <p:nvSpPr>
          <p:cNvPr id="9" name="v3-text-82">
            <a:extLst xmlns:a="http://schemas.openxmlformats.org/drawingml/2006/main">
              <a:ext uri="{FF2B5EF4-FFF2-40B4-BE49-F238E27FC236}">
                <a16:creationId xmlns:a16="http://schemas.microsoft.com/office/drawing/2014/main" id="{A499C294-F3D7-4084-99D9-C3BF74D8A77C}"/>
              </a:ext>
            </a:extLst>
          </p:cNvPr>
          <p:cNvSpPr>
            <a:spLocks xmlns:a="http://schemas.openxmlformats.org/drawingml/2006/main" noGrp="1"/>
          </p:cNvSpPr>
          <p:nvPr/>
        </p:nvSpPr>
        <p:spPr>
          <a:xfrm xmlns:a="http://schemas.openxmlformats.org/drawingml/2006/main">
            <a:off x="16880498" y="6057900"/>
            <a:ext cx="5906269"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526573"/>
                </a:solidFill>
                <a:latin typeface="맑은 고딕"/>
                <a:ea typeface="맑은 고딕"/>
                <a:cs typeface="맑은 고딕"/>
              </a:defRPr>
            </a:pPr>
            <a:r>
              <a:rPr sz="2850" b="0">
                <a:solidFill>
                  <a:srgbClr val="526573"/>
                </a:solidFill>
                <a:latin typeface="맑은 고딕"/>
                <a:ea typeface="맑은 고딕"/>
                <a:cs typeface="맑은 고딕"/>
              </a:rPr>
              <a:t>회귀 44문항 기준</a:t>
            </a:r>
          </a:p>
        </p:txBody>
      </p:sp>
      <p:graphicFrame>
        <p:nvGraphicFramePr>
          <p:cNvPr id="23" name=""/>
          <p:cNvGraphicFramePr/>
          <p:nvPr/>
        </p:nvGraphicFramePr>
        <p:xfrm>
          <a:off xmlns:a="http://schemas.openxmlformats.org/drawingml/2006/main" x="2629242" y="7162800"/>
          <a:ext xmlns:a="http://schemas.openxmlformats.org/drawingml/2006/main" cx="20195629" cy="3200400"/>
        </p:xfrm>
        <a:graphic xmlns:a="http://schemas.openxmlformats.org/drawingml/2006/main">
          <a:graphicData uri="http://schemas.openxmlformats.org/drawingml/2006/table">
            <a:tbl>
              <a:tblPr/>
              <a:tblGrid>
                <a:gridCol w="4572595"/>
                <a:gridCol w="7144680"/>
                <a:gridCol w="8478354"/>
              </a:tblGrid>
              <a:tr h="1066800">
                <a:tc>
                  <a:txBody>
                    <a:bodyPr/>
                    <a:lstStyle/>
                    <a:p>
                      <a:r>
                        <a:rPr sz="2400" b="1">
                          <a:solidFill>
                            <a:srgbClr val="FFFFFF"/>
                          </a:solidFill>
                          <a:latin typeface="맑은 고딕"/>
                          <a:ea typeface="맑은 고딕"/>
                          <a:cs typeface="맑은 고딕"/>
                        </a:rPr>
                        <a:t>평가 구분</a:t>
                      </a:r>
                    </a:p>
                  </a:txBody>
                  <a:tcPr marL="190500" marR="190500" marT="133350" marB="114300" anchor="ctr">
                    <a:solidFill>
                      <a:srgbClr val="082D65"/>
                    </a:solidFill>
                  </a:tcPr>
                </a:tc>
                <a:tc>
                  <a:txBody>
                    <a:bodyPr/>
                    <a:lstStyle/>
                    <a:p>
                      <a:r>
                        <a:rPr sz="2400" b="1">
                          <a:solidFill>
                            <a:srgbClr val="FFFFFF"/>
                          </a:solidFill>
                          <a:latin typeface="맑은 고딕"/>
                          <a:ea typeface="맑은 고딕"/>
                          <a:cs typeface="맑은 고딕"/>
                        </a:rPr>
                        <a:t>문항 수·목적</a:t>
                      </a:r>
                    </a:p>
                  </a:txBody>
                  <a:tcPr marL="190500" marR="190500" marT="133350" marB="114300" anchor="ctr">
                    <a:solidFill>
                      <a:srgbClr val="082D65"/>
                    </a:solidFill>
                  </a:tcPr>
                </a:tc>
                <a:tc>
                  <a:txBody>
                    <a:bodyPr/>
                    <a:lstStyle/>
                    <a:p>
                      <a:r>
                        <a:rPr sz="2400" b="1">
                          <a:solidFill>
                            <a:srgbClr val="FFFFFF"/>
                          </a:solidFill>
                          <a:latin typeface="맑은 고딕"/>
                          <a:ea typeface="맑은 고딕"/>
                          <a:cs typeface="맑은 고딕"/>
                        </a:rPr>
                        <a:t>기록된 결과와 해석</a:t>
                      </a:r>
                    </a:p>
                  </a:txBody>
                  <a:tcPr marL="190500" marR="190500" marT="133350" marB="114300" anchor="ctr">
                    <a:solidFill>
                      <a:srgbClr val="082D65"/>
                    </a:solidFill>
                  </a:tcPr>
                </a:tc>
              </a:tr>
              <a:tr h="1066800">
                <a:tc>
                  <a:txBody>
                    <a:bodyPr/>
                    <a:lstStyle/>
                    <a:p>
                      <a:r>
                        <a:rPr sz="2550" b="1">
                          <a:solidFill>
                            <a:srgbClr val="10344D"/>
                          </a:solidFill>
                          <a:latin typeface="맑은 고딕"/>
                          <a:ea typeface="맑은 고딕"/>
                          <a:cs typeface="맑은 고딕"/>
                        </a:rPr>
                        <a:t>회귀 검색 평가</a:t>
                      </a:r>
                    </a:p>
                  </a:txBody>
                  <a:tcPr marL="190500" marR="190500" marT="133350" marB="114300" anchor="ctr">
                    <a:solidFill>
                      <a:srgbClr val="FFFFFF"/>
                    </a:solidFill>
                  </a:tcPr>
                </a:tc>
                <a:tc>
                  <a:txBody>
                    <a:bodyPr/>
                    <a:lstStyle/>
                    <a:p>
                      <a:r>
                        <a:rPr sz="2550" b="0">
                          <a:solidFill>
                            <a:srgbClr val="10344D"/>
                          </a:solidFill>
                          <a:latin typeface="맑은 고딕"/>
                          <a:ea typeface="맑은 고딕"/>
                          <a:cs typeface="맑은 고딕"/>
                        </a:rPr>
                        <a:t>44문항</a:t>
                      </a:r>
                    </a:p>
                    <a:p>
                      <a:r>
                        <a:rPr sz="2550" b="0">
                          <a:solidFill>
                            <a:srgbClr val="10344D"/>
                          </a:solidFill>
                          <a:latin typeface="맑은 고딕"/>
                          <a:ea typeface="맑은 고딕"/>
                          <a:cs typeface="맑은 고딕"/>
                        </a:rPr>
                        <a:t>수정 동작과 검색 순위 확인</a:t>
                      </a:r>
                    </a:p>
                  </a:txBody>
                  <a:tcPr marL="190500" marR="190500" marT="133350" marB="114300" anchor="ctr">
                    <a:solidFill>
                      <a:srgbClr val="FFFFFF"/>
                    </a:solidFill>
                  </a:tcPr>
                </a:tc>
                <a:tc>
                  <a:txBody>
                    <a:bodyPr/>
                    <a:lstStyle/>
                    <a:p>
                      <a:r>
                        <a:rPr sz="2550" b="0">
                          <a:solidFill>
                            <a:srgbClr val="10344D"/>
                          </a:solidFill>
                          <a:latin typeface="맑은 고딕"/>
                          <a:ea typeface="맑은 고딕"/>
                          <a:cs typeface="맑은 고딕"/>
                        </a:rPr>
                        <a:t>가중치 0.5에서 0.8로 조정</a:t>
                      </a:r>
                    </a:p>
                    <a:p>
                      <a:r>
                        <a:rPr sz="2550" b="0">
                          <a:solidFill>
                            <a:srgbClr val="10344D"/>
                          </a:solidFill>
                          <a:latin typeface="맑은 고딕"/>
                          <a:ea typeface="맑은 고딕"/>
                          <a:cs typeface="맑은 고딕"/>
                        </a:rPr>
                        <a:t>Hit@3 81.8% · MRR 0.639에서 0.744</a:t>
                      </a:r>
                    </a:p>
                  </a:txBody>
                  <a:tcPr marL="190500" marR="190500" marT="133350" marB="114300" anchor="ctr">
                    <a:solidFill>
                      <a:srgbClr val="FFFFFF"/>
                    </a:solidFill>
                  </a:tcPr>
                </a:tc>
              </a:tr>
              <a:tr h="1066800">
                <a:tc>
                  <a:txBody>
                    <a:bodyPr/>
                    <a:lstStyle/>
                    <a:p>
                      <a:r>
                        <a:rPr sz="2550" b="1">
                          <a:solidFill>
                            <a:srgbClr val="10344D"/>
                          </a:solidFill>
                          <a:latin typeface="맑은 고딕"/>
                          <a:ea typeface="맑은 고딕"/>
                          <a:cs typeface="맑은 고딕"/>
                        </a:rPr>
                        <a:t>실사용 검색 평가</a:t>
                      </a:r>
                    </a:p>
                  </a:txBody>
                  <a:tcPr marL="190500" marR="190500" marT="133350" marB="114300" anchor="ctr">
                    <a:solidFill>
                      <a:srgbClr val="E8EFF3"/>
                    </a:solidFill>
                  </a:tcPr>
                </a:tc>
                <a:tc>
                  <a:txBody>
                    <a:bodyPr/>
                    <a:lstStyle/>
                    <a:p>
                      <a:r>
                        <a:rPr sz="2550" b="0">
                          <a:solidFill>
                            <a:srgbClr val="10344D"/>
                          </a:solidFill>
                          <a:latin typeface="맑은 고딕"/>
                          <a:ea typeface="맑은 고딕"/>
                          <a:cs typeface="맑은 고딕"/>
                        </a:rPr>
                        <a:t>18문항</a:t>
                      </a:r>
                    </a:p>
                    <a:p>
                      <a:r>
                        <a:rPr sz="2550" b="0">
                          <a:solidFill>
                            <a:srgbClr val="10344D"/>
                          </a:solidFill>
                          <a:latin typeface="맑은 고딕"/>
                          <a:ea typeface="맑은 고딕"/>
                          <a:cs typeface="맑은 고딕"/>
                        </a:rPr>
                        <a:t>숙소지원금 상담 로그 기반</a:t>
                      </a:r>
                    </a:p>
                  </a:txBody>
                  <a:tcPr marL="190500" marR="190500" marT="133350" marB="114300" anchor="ctr">
                    <a:solidFill>
                      <a:srgbClr val="E8EFF3"/>
                    </a:solidFill>
                  </a:tcPr>
                </a:tc>
                <a:tc>
                  <a:txBody>
                    <a:bodyPr/>
                    <a:lstStyle/>
                    <a:p>
                      <a:r>
                        <a:rPr sz="2550" b="0">
                          <a:solidFill>
                            <a:srgbClr val="10344D"/>
                          </a:solidFill>
                          <a:latin typeface="맑은 고딕"/>
                          <a:ea typeface="맑은 고딕"/>
                          <a:cs typeface="맑은 고딕"/>
                        </a:rPr>
                        <a:t>같은 기준선의 Hit@3 88.9%</a:t>
                      </a:r>
                    </a:p>
                    <a:p>
                      <a:r>
                        <a:rPr sz="2550" b="0">
                          <a:solidFill>
                            <a:srgbClr val="10344D"/>
                          </a:solidFill>
                          <a:latin typeface="맑은 고딕"/>
                          <a:ea typeface="맑은 고딕"/>
                          <a:cs typeface="맑은 고딕"/>
                        </a:rPr>
                        <a:t>다른 3개 제도의 실사용 검증은 부족</a:t>
                      </a:r>
                    </a:p>
                  </a:txBody>
                  <a:tcPr marL="190500" marR="190500" marT="133350" marB="114300" anchor="ctr">
                    <a:solidFill>
                      <a:srgbClr val="E8EFF3"/>
                    </a:solidFill>
                  </a:tcPr>
                </a:tc>
              </a:tr>
            </a:tbl>
          </a:graphicData>
        </a:graphic>
      </p:graphicFrame>
      <p:sp>
        <p:nvSpPr>
          <p:cNvPr id="11" name="v3-text-83">
            <a:extLst xmlns:a="http://schemas.openxmlformats.org/drawingml/2006/main">
              <a:ext uri="{FF2B5EF4-FFF2-40B4-BE49-F238E27FC236}">
                <a16:creationId xmlns:a16="http://schemas.microsoft.com/office/drawing/2014/main" id="{774D0CF1-A855-4ECA-9CB3-AD2D3F971BB4}"/>
              </a:ext>
            </a:extLst>
          </p:cNvPr>
          <p:cNvSpPr>
            <a:spLocks xmlns:a="http://schemas.openxmlformats.org/drawingml/2006/main" noGrp="1"/>
          </p:cNvSpPr>
          <p:nvPr/>
        </p:nvSpPr>
        <p:spPr>
          <a:xfrm xmlns:a="http://schemas.openxmlformats.org/drawingml/2006/main">
            <a:off x="2629242" y="10820400"/>
            <a:ext cx="2667347"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10344D"/>
                </a:solidFill>
                <a:latin typeface="맑은 고딕"/>
                <a:ea typeface="맑은 고딕"/>
                <a:cs typeface="맑은 고딕"/>
              </a:defRPr>
            </a:pPr>
            <a:r>
              <a:rPr sz="2850" b="1">
                <a:solidFill>
                  <a:srgbClr val="10344D"/>
                </a:solidFill>
                <a:latin typeface="맑은 고딕"/>
                <a:ea typeface="맑은 고딕"/>
                <a:cs typeface="맑은 고딕"/>
              </a:rPr>
              <a:t>해석 범위</a:t>
            </a:r>
          </a:p>
        </p:txBody>
      </p:sp>
      <p:sp>
        <p:nvSpPr>
          <p:cNvPr id="12" name="v3-text-84">
            <a:extLst xmlns:a="http://schemas.openxmlformats.org/drawingml/2006/main">
              <a:ext uri="{FF2B5EF4-FFF2-40B4-BE49-F238E27FC236}">
                <a16:creationId xmlns:a16="http://schemas.microsoft.com/office/drawing/2014/main" id="{4395C8C4-88E4-4241-8555-B3279865A2F8}"/>
              </a:ext>
            </a:extLst>
          </p:cNvPr>
          <p:cNvSpPr>
            <a:spLocks xmlns:a="http://schemas.openxmlformats.org/drawingml/2006/main" noGrp="1"/>
          </p:cNvSpPr>
          <p:nvPr/>
        </p:nvSpPr>
        <p:spPr>
          <a:xfrm xmlns:a="http://schemas.openxmlformats.org/drawingml/2006/main">
            <a:off x="5525219" y="10763250"/>
            <a:ext cx="1724249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10344D"/>
                </a:solidFill>
                <a:latin typeface="맑은 고딕"/>
                <a:ea typeface="맑은 고딕"/>
                <a:cs typeface="맑은 고딕"/>
              </a:defRPr>
            </a:pPr>
            <a:r>
              <a:rPr sz="2850" b="0">
                <a:solidFill>
                  <a:srgbClr val="10344D"/>
                </a:solidFill>
                <a:latin typeface="맑은 고딕"/>
                <a:ea typeface="맑은 고딕"/>
                <a:cs typeface="맑은 고딕"/>
              </a:rPr>
              <a:t>검색 적중률은 최종 답변 정확도가 아닙니다. 업무 시간 단축은 별도 측정이 필요합니다.</a:t>
            </a:r>
          </a:p>
        </p:txBody>
      </p:sp>
      <p:sp>
        <p:nvSpPr>
          <p:cNvPr id="13" name="v3-text-85">
            <a:extLst xmlns:a="http://schemas.openxmlformats.org/drawingml/2006/main">
              <a:ext uri="{FF2B5EF4-FFF2-40B4-BE49-F238E27FC236}">
                <a16:creationId xmlns:a16="http://schemas.microsoft.com/office/drawing/2014/main" id="{3099993A-7227-4C64-B663-BF864D4CC4F4}"/>
              </a:ext>
            </a:extLst>
          </p:cNvPr>
          <p:cNvSpPr>
            <a:spLocks xmlns:a="http://schemas.openxmlformats.org/drawingml/2006/main" noGrp="1"/>
          </p:cNvSpPr>
          <p:nvPr/>
        </p:nvSpPr>
        <p:spPr>
          <a:xfrm xmlns:a="http://schemas.openxmlformats.org/drawingml/2006/main">
            <a:off x="2629242" y="11925300"/>
            <a:ext cx="20195629"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26573"/>
                </a:solidFill>
                <a:latin typeface="맑은 고딕"/>
                <a:ea typeface="맑은 고딕"/>
                <a:cs typeface="맑은 고딕"/>
              </a:defRPr>
            </a:pPr>
            <a:r>
              <a:rPr sz="1950" b="0">
                <a:solidFill>
                  <a:srgbClr val="526573"/>
                </a:solidFill>
                <a:latin typeface="맑은 고딕"/>
                <a:ea typeface="맑은 고딕"/>
                <a:cs typeface="맑은 고딕"/>
              </a:rPr>
              <a:t>평가 기준일: 2026.09.10. 현재 코드는 이후 추가 개선되었으며, 최신 성능은 별도 검증 필요</a:t>
            </a:r>
          </a:p>
        </p:txBody>
      </p:sp>
    </p:spTree>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7" name="v3-text-86">
            <a:extLst xmlns:a="http://schemas.openxmlformats.org/drawingml/2006/main">
              <a:ext uri="{FF2B5EF4-FFF2-40B4-BE49-F238E27FC236}">
                <a16:creationId xmlns:a16="http://schemas.microsoft.com/office/drawing/2014/main" id="{D9B1FA2F-DF0D-4D40-B7EC-775BA3449A4F}"/>
              </a:ext>
            </a:extLst>
          </p:cNvPr>
          <p:cNvSpPr>
            <a:spLocks xmlns:a="http://schemas.openxmlformats.org/drawingml/2006/main" noGrp="1"/>
          </p:cNvSpPr>
          <p:nvPr/>
        </p:nvSpPr>
        <p:spPr>
          <a:xfrm xmlns:a="http://schemas.openxmlformats.org/drawingml/2006/main">
            <a:off x="2629242" y="2324100"/>
            <a:ext cx="20386154"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1">
                <a:solidFill>
                  <a:srgbClr val="10344D"/>
                </a:solidFill>
                <a:latin typeface="맑은 고딕"/>
                <a:ea typeface="맑은 고딕"/>
                <a:cs typeface="맑은 고딕"/>
              </a:defRPr>
            </a:pPr>
            <a:r>
              <a:rPr sz="4350" b="1">
                <a:solidFill>
                  <a:srgbClr val="10344D"/>
                </a:solidFill>
                <a:latin typeface="맑은 고딕"/>
                <a:ea typeface="맑은 고딕"/>
                <a:cs typeface="맑은 고딕"/>
              </a:rPr>
              <a:t>멘토링·코칭 피드백 반영</a:t>
            </a:r>
          </a:p>
        </p:txBody>
      </p:sp>
      <p:sp>
        <p:nvSpPr>
          <p:cNvPr id="2" name="v3-text-87">
            <a:extLst xmlns:a="http://schemas.openxmlformats.org/drawingml/2006/main">
              <a:ext uri="{FF2B5EF4-FFF2-40B4-BE49-F238E27FC236}">
                <a16:creationId xmlns:a16="http://schemas.microsoft.com/office/drawing/2014/main" id="{188D2BEC-53D0-42BF-8FC8-A92FE22BB835}"/>
              </a:ext>
            </a:extLst>
          </p:cNvPr>
          <p:cNvSpPr>
            <a:spLocks xmlns:a="http://schemas.openxmlformats.org/drawingml/2006/main" noGrp="1"/>
          </p:cNvSpPr>
          <p:nvPr/>
        </p:nvSpPr>
        <p:spPr>
          <a:xfrm xmlns:a="http://schemas.openxmlformats.org/drawingml/2006/main">
            <a:off x="2629242" y="3390900"/>
            <a:ext cx="20005104"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526573"/>
                </a:solidFill>
                <a:latin typeface="맑은 고딕"/>
                <a:ea typeface="맑은 고딕"/>
                <a:cs typeface="맑은 고딕"/>
              </a:defRPr>
            </a:pPr>
            <a:r>
              <a:rPr sz="2550" b="0">
                <a:solidFill>
                  <a:srgbClr val="526573"/>
                </a:solidFill>
                <a:latin typeface="맑은 고딕"/>
                <a:ea typeface="맑은 고딕"/>
                <a:cs typeface="맑은 고딕"/>
              </a:rPr>
              <a:t>문서 형식만 바꾸는 것보다, 내용을 어떤 기준으로 나누는지가 중요했습니다</a:t>
            </a:r>
          </a:p>
        </p:txBody>
      </p:sp>
      <p:sp>
        <p:nvSpPr>
          <p:cNvPr id="3" name="v3-text-88">
            <a:extLst xmlns:a="http://schemas.openxmlformats.org/drawingml/2006/main">
              <a:ext uri="{FF2B5EF4-FFF2-40B4-BE49-F238E27FC236}">
                <a16:creationId xmlns:a16="http://schemas.microsoft.com/office/drawing/2014/main" id="{8C623570-AC79-4A46-B670-F2CCAD8187CD}"/>
              </a:ext>
            </a:extLst>
          </p:cNvPr>
          <p:cNvSpPr>
            <a:spLocks xmlns:a="http://schemas.openxmlformats.org/drawingml/2006/main" noGrp="1"/>
          </p:cNvSpPr>
          <p:nvPr/>
        </p:nvSpPr>
        <p:spPr>
          <a:xfrm xmlns:a="http://schemas.openxmlformats.org/drawingml/2006/main">
            <a:off x="22386665" y="12649200"/>
            <a:ext cx="914519"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800" b="0">
                <a:solidFill>
                  <a:srgbClr val="526573"/>
                </a:solidFill>
                <a:latin typeface="맑은 고딕"/>
                <a:ea typeface="맑은 고딕"/>
                <a:cs typeface="맑은 고딕"/>
              </a:defRPr>
            </a:pPr>
            <a:r>
              <a:rPr sz="1800" b="0">
                <a:solidFill>
                  <a:srgbClr val="526573"/>
                </a:solidFill>
                <a:latin typeface="맑은 고딕"/>
                <a:ea typeface="맑은 고딕"/>
                <a:cs typeface="맑은 고딕"/>
              </a:rPr>
              <a:t>13</a:t>
            </a:r>
          </a:p>
        </p:txBody>
      </p:sp>
      <p:graphicFrame>
        <p:nvGraphicFramePr>
          <p:cNvPr id="10" name=""/>
          <p:cNvGraphicFramePr/>
          <p:nvPr/>
        </p:nvGraphicFramePr>
        <p:xfrm>
          <a:off xmlns:a="http://schemas.openxmlformats.org/drawingml/2006/main" x="2629242" y="4476750"/>
          <a:ext xmlns:a="http://schemas.openxmlformats.org/drawingml/2006/main" cx="20195629" cy="6019800"/>
        </p:xfrm>
        <a:graphic xmlns:a="http://schemas.openxmlformats.org/drawingml/2006/main">
          <a:graphicData uri="http://schemas.openxmlformats.org/drawingml/2006/table">
            <a:tbl>
              <a:tblPr/>
              <a:tblGrid>
                <a:gridCol w="4191546"/>
                <a:gridCol w="16004084"/>
              </a:tblGrid>
              <a:tr h="1203960">
                <a:tc>
                  <a:txBody>
                    <a:bodyPr/>
                    <a:lstStyle/>
                    <a:p>
                      <a:r>
                        <a:rPr sz="2700" b="1">
                          <a:solidFill>
                            <a:srgbClr val="FFFFFF"/>
                          </a:solidFill>
                          <a:latin typeface="맑은 고딕"/>
                          <a:ea typeface="맑은 고딕"/>
                          <a:cs typeface="맑은 고딕"/>
                        </a:rPr>
                        <a:t>구분</a:t>
                      </a:r>
                    </a:p>
                  </a:txBody>
                  <a:tcPr marL="190500" marR="190500" marT="133350" marB="114300" anchor="ctr">
                    <a:solidFill>
                      <a:srgbClr val="082D65"/>
                    </a:solidFill>
                  </a:tcPr>
                </a:tc>
                <a:tc>
                  <a:txBody>
                    <a:bodyPr/>
                    <a:lstStyle/>
                    <a:p>
                      <a:r>
                        <a:rPr sz="2700" b="1">
                          <a:solidFill>
                            <a:srgbClr val="FFFFFF"/>
                          </a:solidFill>
                          <a:latin typeface="맑은 고딕"/>
                          <a:ea typeface="맑은 고딕"/>
                          <a:cs typeface="맑은 고딕"/>
                        </a:rPr>
                        <a:t>피드백과 반영 내용</a:t>
                      </a:r>
                    </a:p>
                  </a:txBody>
                  <a:tcPr marL="190500" marR="190500" marT="133350" marB="114300" anchor="ctr">
                    <a:solidFill>
                      <a:srgbClr val="082D65"/>
                    </a:solidFill>
                  </a:tcPr>
                </a:tc>
              </a:tr>
              <a:tr h="1203960">
                <a:tc>
                  <a:txBody>
                    <a:bodyPr/>
                    <a:lstStyle/>
                    <a:p>
                      <a:r>
                        <a:rPr sz="2850" b="1">
                          <a:solidFill>
                            <a:srgbClr val="10344D"/>
                          </a:solidFill>
                          <a:latin typeface="맑은 고딕"/>
                          <a:ea typeface="맑은 고딕"/>
                          <a:cs typeface="맑은 고딕"/>
                        </a:rPr>
                        <a:t>검토받은 내용</a:t>
                      </a:r>
                    </a:p>
                  </a:txBody>
                  <a:tcPr marL="190500" marR="190500" marT="133350" marB="114300" anchor="ctr">
                    <a:solidFill>
                      <a:srgbClr val="FFFFFF"/>
                    </a:solidFill>
                  </a:tcPr>
                </a:tc>
                <a:tc>
                  <a:txBody>
                    <a:bodyPr/>
                    <a:lstStyle/>
                    <a:p>
                      <a:r>
                        <a:rPr sz="2850" b="0">
                          <a:solidFill>
                            <a:srgbClr val="10344D"/>
                          </a:solidFill>
                          <a:latin typeface="맑은 고딕"/>
                          <a:ea typeface="맑은 고딕"/>
                          <a:cs typeface="맑은 고딕"/>
                        </a:rPr>
                        <a:t>규정 파일을 TXT에서 Markdown으로 바꾼 뒤,</a:t>
                      </a:r>
                    </a:p>
                    <a:p>
                      <a:r>
                        <a:rPr sz="2850" b="0">
                          <a:solidFill>
                            <a:srgbClr val="10344D"/>
                          </a:solidFill>
                          <a:latin typeface="맑은 고딕"/>
                          <a:ea typeface="맑은 고딕"/>
                          <a:cs typeface="맑은 고딕"/>
                        </a:rPr>
                        <a:t>AI가 검색할 수 있도록 문서를 나눈 결과를 검토받았습니다.</a:t>
                      </a:r>
                    </a:p>
                  </a:txBody>
                  <a:tcPr marL="190500" marR="190500" marT="133350" marB="114300" anchor="ctr">
                    <a:solidFill>
                      <a:srgbClr val="FFFFFF"/>
                    </a:solidFill>
                  </a:tcPr>
                </a:tc>
              </a:tr>
              <a:tr h="1203960">
                <a:tc>
                  <a:txBody>
                    <a:bodyPr/>
                    <a:lstStyle/>
                    <a:p>
                      <a:r>
                        <a:rPr sz="2850" b="1">
                          <a:solidFill>
                            <a:srgbClr val="10344D"/>
                          </a:solidFill>
                          <a:latin typeface="맑은 고딕"/>
                          <a:ea typeface="맑은 고딕"/>
                          <a:cs typeface="맑은 고딕"/>
                        </a:rPr>
                        <a:t>받은 피드백</a:t>
                      </a:r>
                    </a:p>
                  </a:txBody>
                  <a:tcPr marL="190500" marR="190500" marT="133350" marB="114300" anchor="ctr">
                    <a:solidFill>
                      <a:srgbClr val="E8EFF3"/>
                    </a:solidFill>
                  </a:tcPr>
                </a:tc>
                <a:tc>
                  <a:txBody>
                    <a:bodyPr/>
                    <a:lstStyle/>
                    <a:p>
                      <a:r>
                        <a:rPr sz="2850" b="0">
                          <a:solidFill>
                            <a:srgbClr val="10344D"/>
                          </a:solidFill>
                          <a:latin typeface="맑은 고딕"/>
                          <a:ea typeface="맑은 고딕"/>
                          <a:cs typeface="맑은 고딕"/>
                        </a:rPr>
                        <a:t>큰 제목(#)만 기준으로 나누면 작은 제목(##, ###)의 관계가 빠져,</a:t>
                      </a:r>
                    </a:p>
                    <a:p>
                      <a:r>
                        <a:rPr sz="2850" b="0">
                          <a:solidFill>
                            <a:srgbClr val="10344D"/>
                          </a:solidFill>
                          <a:latin typeface="맑은 고딕"/>
                          <a:ea typeface="맑은 고딕"/>
                          <a:cs typeface="맑은 고딕"/>
                        </a:rPr>
                        <a:t>본문이 어느 항목에 속하는지 알기 어렵다는 조언을 받았습니다.</a:t>
                      </a:r>
                    </a:p>
                  </a:txBody>
                  <a:tcPr marL="190500" marR="190500" marT="133350" marB="114300" anchor="ctr">
                    <a:solidFill>
                      <a:srgbClr val="E8EFF3"/>
                    </a:solidFill>
                  </a:tcPr>
                </a:tc>
              </a:tr>
              <a:tr h="1203960">
                <a:tc>
                  <a:txBody>
                    <a:bodyPr/>
                    <a:lstStyle/>
                    <a:p>
                      <a:r>
                        <a:rPr sz="2850" b="1">
                          <a:solidFill>
                            <a:srgbClr val="10344D"/>
                          </a:solidFill>
                          <a:latin typeface="맑은 고딕"/>
                          <a:ea typeface="맑은 고딕"/>
                          <a:cs typeface="맑은 고딕"/>
                        </a:rPr>
                        <a:t>바꾼 점</a:t>
                      </a:r>
                    </a:p>
                  </a:txBody>
                  <a:tcPr marL="190500" marR="190500" marT="133350" marB="114300" anchor="ctr">
                    <a:solidFill>
                      <a:srgbClr val="FFFFFF"/>
                    </a:solidFill>
                  </a:tcPr>
                </a:tc>
                <a:tc>
                  <a:txBody>
                    <a:bodyPr/>
                    <a:lstStyle/>
                    <a:p>
                      <a:r>
                        <a:rPr sz="2850" b="0">
                          <a:solidFill>
                            <a:srgbClr val="10344D"/>
                          </a:solidFill>
                          <a:latin typeface="맑은 고딕"/>
                          <a:ea typeface="맑은 고딕"/>
                          <a:cs typeface="맑은 고딕"/>
                        </a:rPr>
                        <a:t>큰 제목과 작은 제목의 순서를 함께 남기도록 수정했습니다.</a:t>
                      </a:r>
                    </a:p>
                    <a:p>
                      <a:r>
                        <a:rPr sz="2850" b="0">
                          <a:solidFill>
                            <a:srgbClr val="10344D"/>
                          </a:solidFill>
                          <a:latin typeface="맑은 고딕"/>
                          <a:ea typeface="맑은 고딕"/>
                          <a:cs typeface="맑은 고딕"/>
                        </a:rPr>
                        <a:t>나눈 본문마다 제목 경로(path)를 붙여 문서 속 위치를 알 수 있게 했습니다.</a:t>
                      </a:r>
                    </a:p>
                  </a:txBody>
                  <a:tcPr marL="190500" marR="190500" marT="133350" marB="114300" anchor="ctr">
                    <a:solidFill>
                      <a:srgbClr val="FFFFFF"/>
                    </a:solidFill>
                  </a:tcPr>
                </a:tc>
              </a:tr>
              <a:tr h="1203960">
                <a:tc>
                  <a:txBody>
                    <a:bodyPr/>
                    <a:lstStyle/>
                    <a:p>
                      <a:r>
                        <a:rPr sz="2850" b="1">
                          <a:solidFill>
                            <a:srgbClr val="10344D"/>
                          </a:solidFill>
                          <a:latin typeface="맑은 고딕"/>
                          <a:ea typeface="맑은 고딕"/>
                          <a:cs typeface="맑은 고딕"/>
                        </a:rPr>
                        <a:t>확인한 변화</a:t>
                      </a:r>
                    </a:p>
                  </a:txBody>
                  <a:tcPr marL="190500" marR="190500" marT="133350" marB="114300" anchor="ctr">
                    <a:solidFill>
                      <a:srgbClr val="E8EFF3"/>
                    </a:solidFill>
                  </a:tcPr>
                </a:tc>
                <a:tc>
                  <a:txBody>
                    <a:bodyPr/>
                    <a:lstStyle/>
                    <a:p>
                      <a:r>
                        <a:rPr sz="2850" b="0">
                          <a:solidFill>
                            <a:srgbClr val="10344D"/>
                          </a:solidFill>
                          <a:latin typeface="맑은 고딕"/>
                          <a:ea typeface="맑은 고딕"/>
                          <a:cs typeface="맑은 고딕"/>
                        </a:rPr>
                        <a:t>본문만 보던 구조에서, 제목 경로와 본문을 함께 검색하는 구조로 바뀌었습니다.</a:t>
                      </a:r>
                    </a:p>
                    <a:p>
                      <a:r>
                        <a:rPr sz="2850" b="0">
                          <a:solidFill>
                            <a:srgbClr val="10344D"/>
                          </a:solidFill>
                          <a:latin typeface="맑은 고딕"/>
                          <a:ea typeface="맑은 고딕"/>
                          <a:cs typeface="맑은 고딕"/>
                        </a:rPr>
                        <a:t>같은 방식으로 다른 규정도 정리할 수 있는 기준을 마련했습니다.</a:t>
                      </a:r>
                    </a:p>
                  </a:txBody>
                  <a:tcPr marL="190500" marR="190500" marT="133350" marB="114300" anchor="ctr">
                    <a:solidFill>
                      <a:srgbClr val="E8EFF3"/>
                    </a:solidFill>
                  </a:tcPr>
                </a:tc>
              </a:tr>
            </a:tbl>
          </a:graphicData>
        </a:graphic>
      </p:graphicFrame>
      <p:sp>
        <p:nvSpPr>
          <p:cNvPr id="5" name="v3-text-89">
            <a:extLst xmlns:a="http://schemas.openxmlformats.org/drawingml/2006/main">
              <a:ext uri="{FF2B5EF4-FFF2-40B4-BE49-F238E27FC236}">
                <a16:creationId xmlns:a16="http://schemas.microsoft.com/office/drawing/2014/main" id="{7209840B-C5E4-4EFA-8059-A5EB5CF5467C}"/>
              </a:ext>
            </a:extLst>
          </p:cNvPr>
          <p:cNvSpPr>
            <a:spLocks xmlns:a="http://schemas.openxmlformats.org/drawingml/2006/main" noGrp="1"/>
          </p:cNvSpPr>
          <p:nvPr/>
        </p:nvSpPr>
        <p:spPr>
          <a:xfrm xmlns:a="http://schemas.openxmlformats.org/drawingml/2006/main">
            <a:off x="2629242" y="10972800"/>
            <a:ext cx="257208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0344D"/>
                </a:solidFill>
                <a:latin typeface="맑은 고딕"/>
                <a:ea typeface="맑은 고딕"/>
                <a:cs typeface="맑은 고딕"/>
              </a:defRPr>
            </a:pPr>
            <a:r>
              <a:rPr sz="3300" b="1">
                <a:solidFill>
                  <a:srgbClr val="10344D"/>
                </a:solidFill>
                <a:latin typeface="맑은 고딕"/>
                <a:ea typeface="맑은 고딕"/>
                <a:cs typeface="맑은 고딕"/>
              </a:rPr>
              <a:t>배운 점</a:t>
            </a:r>
          </a:p>
        </p:txBody>
      </p:sp>
      <p:sp>
        <p:nvSpPr>
          <p:cNvPr id="6" name="v3-text-90">
            <a:extLst xmlns:a="http://schemas.openxmlformats.org/drawingml/2006/main">
              <a:ext uri="{FF2B5EF4-FFF2-40B4-BE49-F238E27FC236}">
                <a16:creationId xmlns:a16="http://schemas.microsoft.com/office/drawing/2014/main" id="{3203627B-8AF5-4883-9F1A-B4EBD03922C5}"/>
              </a:ext>
            </a:extLst>
          </p:cNvPr>
          <p:cNvSpPr>
            <a:spLocks xmlns:a="http://schemas.openxmlformats.org/drawingml/2006/main" noGrp="1"/>
          </p:cNvSpPr>
          <p:nvPr/>
        </p:nvSpPr>
        <p:spPr>
          <a:xfrm xmlns:a="http://schemas.openxmlformats.org/drawingml/2006/main">
            <a:off x="5525219" y="10934700"/>
            <a:ext cx="17299652"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0">
                <a:solidFill>
                  <a:srgbClr val="10344D"/>
                </a:solidFill>
                <a:latin typeface="맑은 고딕"/>
                <a:ea typeface="맑은 고딕"/>
                <a:cs typeface="맑은 고딕"/>
              </a:defRPr>
            </a:pPr>
            <a:r>
              <a:rPr sz="3150" b="0">
                <a:solidFill>
                  <a:srgbClr val="10344D"/>
                </a:solidFill>
                <a:latin typeface="맑은 고딕"/>
                <a:ea typeface="맑은 고딕"/>
                <a:cs typeface="맑은 고딕"/>
              </a:rPr>
              <a:t>AI가 답을 잘 찾으려면, 먼저 자료를 이해하기 좋은 형태로 정리해야 한다는 점을 배웠습니다.</a:t>
            </a:r>
          </a:p>
        </p:txBody>
      </p:sp>
    </p:spTree>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0" name="v3-text-91">
            <a:extLst xmlns:a="http://schemas.openxmlformats.org/drawingml/2006/main">
              <a:ext uri="{FF2B5EF4-FFF2-40B4-BE49-F238E27FC236}">
                <a16:creationId xmlns:a16="http://schemas.microsoft.com/office/drawing/2014/main" id="{D15FEC74-AEA2-4701-ACBB-CD9CE2D98A34}"/>
              </a:ext>
            </a:extLst>
          </p:cNvPr>
          <p:cNvSpPr>
            <a:spLocks xmlns:a="http://schemas.openxmlformats.org/drawingml/2006/main" noGrp="1"/>
          </p:cNvSpPr>
          <p:nvPr/>
        </p:nvSpPr>
        <p:spPr>
          <a:xfrm xmlns:a="http://schemas.openxmlformats.org/drawingml/2006/main">
            <a:off x="2629242" y="2324100"/>
            <a:ext cx="20386154"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1">
                <a:solidFill>
                  <a:srgbClr val="10344D"/>
                </a:solidFill>
                <a:latin typeface="맑은 고딕"/>
                <a:ea typeface="맑은 고딕"/>
                <a:cs typeface="맑은 고딕"/>
              </a:defRPr>
            </a:pPr>
            <a:r>
              <a:rPr sz="4350" b="1">
                <a:solidFill>
                  <a:srgbClr val="10344D"/>
                </a:solidFill>
                <a:latin typeface="맑은 고딕"/>
                <a:ea typeface="맑은 고딕"/>
                <a:cs typeface="맑은 고딕"/>
              </a:rPr>
              <a:t>기대 효과와 실무 검증 계획</a:t>
            </a:r>
          </a:p>
        </p:txBody>
      </p:sp>
      <p:sp>
        <p:nvSpPr>
          <p:cNvPr id="2" name="v3-text-92">
            <a:extLst xmlns:a="http://schemas.openxmlformats.org/drawingml/2006/main">
              <a:ext uri="{FF2B5EF4-FFF2-40B4-BE49-F238E27FC236}">
                <a16:creationId xmlns:a16="http://schemas.microsoft.com/office/drawing/2014/main" id="{9DECD080-F93B-457A-9FA7-CF12AAFEDDC3}"/>
              </a:ext>
            </a:extLst>
          </p:cNvPr>
          <p:cNvSpPr>
            <a:spLocks xmlns:a="http://schemas.openxmlformats.org/drawingml/2006/main" noGrp="1"/>
          </p:cNvSpPr>
          <p:nvPr/>
        </p:nvSpPr>
        <p:spPr>
          <a:xfrm xmlns:a="http://schemas.openxmlformats.org/drawingml/2006/main">
            <a:off x="2629242" y="3390900"/>
            <a:ext cx="20005104"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526573"/>
                </a:solidFill>
                <a:latin typeface="맑은 고딕"/>
                <a:ea typeface="맑은 고딕"/>
                <a:cs typeface="맑은 고딕"/>
              </a:defRPr>
            </a:pPr>
            <a:r>
              <a:rPr sz="2550" b="0">
                <a:solidFill>
                  <a:srgbClr val="526573"/>
                </a:solidFill>
                <a:latin typeface="맑은 고딕"/>
                <a:ea typeface="맑은 고딕"/>
                <a:cs typeface="맑은 고딕"/>
              </a:rPr>
              <a:t>검색 품질의 개선을, 직원과 담당자가 체감하는 업무 효과로 검증할 단계입니다</a:t>
            </a:r>
          </a:p>
        </p:txBody>
      </p:sp>
      <p:sp>
        <p:nvSpPr>
          <p:cNvPr id="3" name="v3-text-93">
            <a:extLst xmlns:a="http://schemas.openxmlformats.org/drawingml/2006/main">
              <a:ext uri="{FF2B5EF4-FFF2-40B4-BE49-F238E27FC236}">
                <a16:creationId xmlns:a16="http://schemas.microsoft.com/office/drawing/2014/main" id="{0EA915F9-3A7D-4242-8686-95948B5FBCF4}"/>
              </a:ext>
            </a:extLst>
          </p:cNvPr>
          <p:cNvSpPr>
            <a:spLocks xmlns:a="http://schemas.openxmlformats.org/drawingml/2006/main" noGrp="1"/>
          </p:cNvSpPr>
          <p:nvPr/>
        </p:nvSpPr>
        <p:spPr>
          <a:xfrm xmlns:a="http://schemas.openxmlformats.org/drawingml/2006/main">
            <a:off x="22386665" y="12649200"/>
            <a:ext cx="914519"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800" b="0">
                <a:solidFill>
                  <a:srgbClr val="526573"/>
                </a:solidFill>
                <a:latin typeface="맑은 고딕"/>
                <a:ea typeface="맑은 고딕"/>
                <a:cs typeface="맑은 고딕"/>
              </a:defRPr>
            </a:pPr>
            <a:r>
              <a:rPr sz="1800" b="0">
                <a:solidFill>
                  <a:srgbClr val="526573"/>
                </a:solidFill>
                <a:latin typeface="맑은 고딕"/>
                <a:ea typeface="맑은 고딕"/>
                <a:cs typeface="맑은 고딕"/>
              </a:rPr>
              <a:t>14</a:t>
            </a:r>
          </a:p>
        </p:txBody>
      </p:sp>
      <p:graphicFrame>
        <p:nvGraphicFramePr>
          <p:cNvPr id="13" name=""/>
          <p:cNvGraphicFramePr/>
          <p:nvPr/>
        </p:nvGraphicFramePr>
        <p:xfrm>
          <a:off xmlns:a="http://schemas.openxmlformats.org/drawingml/2006/main" x="2629242" y="4476750"/>
          <a:ext xmlns:a="http://schemas.openxmlformats.org/drawingml/2006/main" cx="20195629" cy="5448300"/>
        </p:xfrm>
        <a:graphic xmlns:a="http://schemas.openxmlformats.org/drawingml/2006/main">
          <a:graphicData uri="http://schemas.openxmlformats.org/drawingml/2006/table">
            <a:tbl>
              <a:tblPr/>
              <a:tblGrid>
                <a:gridCol w="3238922"/>
                <a:gridCol w="8859403"/>
                <a:gridCol w="8097304"/>
              </a:tblGrid>
              <a:tr h="1362075">
                <a:tc>
                  <a:txBody>
                    <a:bodyPr/>
                    <a:lstStyle/>
                    <a:p>
                      <a:r>
                        <a:rPr sz="2550" b="1">
                          <a:solidFill>
                            <a:srgbClr val="FFFFFF"/>
                          </a:solidFill>
                          <a:latin typeface="맑은 고딕"/>
                          <a:ea typeface="맑은 고딕"/>
                          <a:cs typeface="맑은 고딕"/>
                        </a:rPr>
                        <a:t>대상</a:t>
                      </a:r>
                    </a:p>
                  </a:txBody>
                  <a:tcPr marL="190500" marR="190500" marT="133350" marB="114300" anchor="ctr">
                    <a:solidFill>
                      <a:srgbClr val="082D65"/>
                    </a:solidFill>
                  </a:tcPr>
                </a:tc>
                <a:tc>
                  <a:txBody>
                    <a:bodyPr/>
                    <a:lstStyle/>
                    <a:p>
                      <a:r>
                        <a:rPr sz="2550" b="1">
                          <a:solidFill>
                            <a:srgbClr val="FFFFFF"/>
                          </a:solidFill>
                          <a:latin typeface="맑은 고딕"/>
                          <a:ea typeface="맑은 고딕"/>
                          <a:cs typeface="맑은 고딕"/>
                        </a:rPr>
                        <a:t>기대하는 변화</a:t>
                      </a:r>
                    </a:p>
                  </a:txBody>
                  <a:tcPr marL="190500" marR="190500" marT="133350" marB="114300" anchor="ctr">
                    <a:solidFill>
                      <a:srgbClr val="082D65"/>
                    </a:solidFill>
                  </a:tcPr>
                </a:tc>
                <a:tc>
                  <a:txBody>
                    <a:bodyPr/>
                    <a:lstStyle/>
                    <a:p>
                      <a:r>
                        <a:rPr sz="2550" b="1">
                          <a:solidFill>
                            <a:srgbClr val="FFFFFF"/>
                          </a:solidFill>
                          <a:latin typeface="맑은 고딕"/>
                          <a:ea typeface="맑은 고딕"/>
                          <a:cs typeface="맑은 고딕"/>
                        </a:rPr>
                        <a:t>파일럿에서 확인할 지표</a:t>
                      </a:r>
                    </a:p>
                  </a:txBody>
                  <a:tcPr marL="190500" marR="190500" marT="133350" marB="114300" anchor="ctr">
                    <a:solidFill>
                      <a:srgbClr val="082D65"/>
                    </a:solidFill>
                  </a:tcPr>
                </a:tc>
              </a:tr>
              <a:tr h="1362075">
                <a:tc>
                  <a:txBody>
                    <a:bodyPr/>
                    <a:lstStyle/>
                    <a:p>
                      <a:r>
                        <a:rPr sz="2700" b="1">
                          <a:solidFill>
                            <a:srgbClr val="10344D"/>
                          </a:solidFill>
                          <a:latin typeface="맑은 고딕"/>
                          <a:ea typeface="맑은 고딕"/>
                          <a:cs typeface="맑은 고딕"/>
                        </a:rPr>
                        <a:t>직원</a:t>
                      </a:r>
                    </a:p>
                  </a:txBody>
                  <a:tcPr marL="190500" marR="190500" marT="133350" marB="114300" anchor="ctr">
                    <a:solidFill>
                      <a:srgbClr val="FFFFFF"/>
                    </a:solidFill>
                  </a:tcPr>
                </a:tc>
                <a:tc>
                  <a:txBody>
                    <a:bodyPr/>
                    <a:lstStyle/>
                    <a:p>
                      <a:r>
                        <a:rPr sz="2700" b="0">
                          <a:solidFill>
                            <a:srgbClr val="10344D"/>
                          </a:solidFill>
                          <a:latin typeface="맑은 고딕"/>
                          <a:ea typeface="맑은 고딕"/>
                          <a:cs typeface="맑은 고딕"/>
                        </a:rPr>
                        <a:t>규정 찾기와 제출 요건 확인을</a:t>
                      </a:r>
                    </a:p>
                    <a:p>
                      <a:r>
                        <a:rPr sz="2700" b="0">
                          <a:solidFill>
                            <a:srgbClr val="10344D"/>
                          </a:solidFill>
                          <a:latin typeface="맑은 고딕"/>
                          <a:ea typeface="맑은 고딕"/>
                          <a:cs typeface="맑은 고딕"/>
                        </a:rPr>
                        <a:t>한 번의 상담 흐름에서 준비</a:t>
                      </a:r>
                    </a:p>
                  </a:txBody>
                  <a:tcPr marL="190500" marR="190500" marT="133350" marB="114300" anchor="ctr">
                    <a:solidFill>
                      <a:srgbClr val="FFFFFF"/>
                    </a:solidFill>
                  </a:tcPr>
                </a:tc>
                <a:tc>
                  <a:txBody>
                    <a:bodyPr/>
                    <a:lstStyle/>
                    <a:p>
                      <a:r>
                        <a:rPr sz="2700" b="0">
                          <a:solidFill>
                            <a:srgbClr val="10344D"/>
                          </a:solidFill>
                          <a:latin typeface="맑은 고딕"/>
                          <a:ea typeface="맑은 고딕"/>
                          <a:cs typeface="맑은 고딕"/>
                        </a:rPr>
                        <a:t>같은 질문의 기준 확인 시간</a:t>
                      </a:r>
                    </a:p>
                    <a:p>
                      <a:r>
                        <a:rPr sz="2700" b="0">
                          <a:solidFill>
                            <a:srgbClr val="10344D"/>
                          </a:solidFill>
                          <a:latin typeface="맑은 고딕"/>
                          <a:ea typeface="맑은 고딕"/>
                          <a:cs typeface="맑은 고딕"/>
                        </a:rPr>
                        <a:t>평균·중앙값 전후 비교</a:t>
                      </a:r>
                    </a:p>
                  </a:txBody>
                  <a:tcPr marL="190500" marR="190500" marT="133350" marB="114300" anchor="ctr">
                    <a:solidFill>
                      <a:srgbClr val="FFFFFF"/>
                    </a:solidFill>
                  </a:tcPr>
                </a:tc>
              </a:tr>
              <a:tr h="1362075">
                <a:tc>
                  <a:txBody>
                    <a:bodyPr/>
                    <a:lstStyle/>
                    <a:p>
                      <a:r>
                        <a:rPr sz="2700" b="1">
                          <a:solidFill>
                            <a:srgbClr val="10344D"/>
                          </a:solidFill>
                          <a:latin typeface="맑은 고딕"/>
                          <a:ea typeface="맑은 고딕"/>
                          <a:cs typeface="맑은 고딕"/>
                        </a:rPr>
                        <a:t>담당자</a:t>
                      </a:r>
                    </a:p>
                  </a:txBody>
                  <a:tcPr marL="190500" marR="190500" marT="133350" marB="114300" anchor="ctr">
                    <a:solidFill>
                      <a:srgbClr val="E8EFF3"/>
                    </a:solidFill>
                  </a:tcPr>
                </a:tc>
                <a:tc>
                  <a:txBody>
                    <a:bodyPr/>
                    <a:lstStyle/>
                    <a:p>
                      <a:r>
                        <a:rPr sz="2700" b="0">
                          <a:solidFill>
                            <a:srgbClr val="10344D"/>
                          </a:solidFill>
                          <a:latin typeface="맑은 고딕"/>
                          <a:ea typeface="맑은 고딕"/>
                          <a:cs typeface="맑은 고딕"/>
                        </a:rPr>
                        <a:t>질문·조건·관련 규정이 정리된 문의로</a:t>
                      </a:r>
                    </a:p>
                    <a:p>
                      <a:r>
                        <a:rPr sz="2700" b="0">
                          <a:solidFill>
                            <a:srgbClr val="10344D"/>
                          </a:solidFill>
                          <a:latin typeface="맑은 고딕"/>
                          <a:ea typeface="맑은 고딕"/>
                          <a:cs typeface="맑은 고딕"/>
                        </a:rPr>
                        <a:t>기본 설명과 추가 확인 부담 감소</a:t>
                      </a:r>
                    </a:p>
                  </a:txBody>
                  <a:tcPr marL="190500" marR="190500" marT="133350" marB="114300" anchor="ctr">
                    <a:solidFill>
                      <a:srgbClr val="E8EFF3"/>
                    </a:solidFill>
                  </a:tcPr>
                </a:tc>
                <a:tc>
                  <a:txBody>
                    <a:bodyPr/>
                    <a:lstStyle/>
                    <a:p>
                      <a:r>
                        <a:rPr sz="2700" b="0">
                          <a:solidFill>
                            <a:srgbClr val="10344D"/>
                          </a:solidFill>
                          <a:latin typeface="맑은 고딕"/>
                          <a:ea typeface="맑은 고딕"/>
                          <a:cs typeface="맑은 고딕"/>
                        </a:rPr>
                        <a:t>상담 후 담당자 재문의 비율</a:t>
                      </a:r>
                    </a:p>
                    <a:p>
                      <a:r>
                        <a:rPr sz="2700" b="0">
                          <a:solidFill>
                            <a:srgbClr val="10344D"/>
                          </a:solidFill>
                          <a:latin typeface="맑은 고딕"/>
                          <a:ea typeface="맑은 고딕"/>
                          <a:cs typeface="맑은 고딕"/>
                        </a:rPr>
                        <a:t>문의 1건당 추가 확인 횟수</a:t>
                      </a:r>
                    </a:p>
                  </a:txBody>
                  <a:tcPr marL="190500" marR="190500" marT="133350" marB="114300" anchor="ctr">
                    <a:solidFill>
                      <a:srgbClr val="E8EFF3"/>
                    </a:solidFill>
                  </a:tcPr>
                </a:tc>
              </a:tr>
              <a:tr h="1362075">
                <a:tc>
                  <a:txBody>
                    <a:bodyPr/>
                    <a:lstStyle/>
                    <a:p>
                      <a:r>
                        <a:rPr sz="2700" b="1">
                          <a:solidFill>
                            <a:srgbClr val="10344D"/>
                          </a:solidFill>
                          <a:latin typeface="맑은 고딕"/>
                          <a:ea typeface="맑은 고딕"/>
                          <a:cs typeface="맑은 고딕"/>
                        </a:rPr>
                        <a:t>회사</a:t>
                      </a:r>
                    </a:p>
                  </a:txBody>
                  <a:tcPr marL="190500" marR="190500" marT="133350" marB="114300" anchor="ctr">
                    <a:solidFill>
                      <a:srgbClr val="FFFFFF"/>
                    </a:solidFill>
                  </a:tcPr>
                </a:tc>
                <a:tc>
                  <a:txBody>
                    <a:bodyPr/>
                    <a:lstStyle/>
                    <a:p>
                      <a:r>
                        <a:rPr sz="2700" b="0">
                          <a:solidFill>
                            <a:srgbClr val="10344D"/>
                          </a:solidFill>
                          <a:latin typeface="맑은 고딕"/>
                          <a:ea typeface="맑은 고딕"/>
                          <a:cs typeface="맑은 고딕"/>
                        </a:rPr>
                        <a:t>근거가 보이는 일관된 안내와</a:t>
                      </a:r>
                    </a:p>
                    <a:p>
                      <a:r>
                        <a:rPr sz="2700" b="0">
                          <a:solidFill>
                            <a:srgbClr val="10344D"/>
                          </a:solidFill>
                          <a:latin typeface="맑은 고딕"/>
                          <a:ea typeface="맑은 고딕"/>
                          <a:cs typeface="맑은 고딕"/>
                        </a:rPr>
                        <a:t>규정 변경 시 점검 기준 확보</a:t>
                      </a:r>
                    </a:p>
                  </a:txBody>
                  <a:tcPr marL="190500" marR="190500" marT="133350" marB="114300" anchor="ctr">
                    <a:solidFill>
                      <a:srgbClr val="FFFFFF"/>
                    </a:solidFill>
                  </a:tcPr>
                </a:tc>
                <a:tc>
                  <a:txBody>
                    <a:bodyPr/>
                    <a:lstStyle/>
                    <a:p>
                      <a:r>
                        <a:rPr sz="2700" b="0">
                          <a:solidFill>
                            <a:srgbClr val="10344D"/>
                          </a:solidFill>
                          <a:latin typeface="맑은 고딕"/>
                          <a:ea typeface="맑은 고딕"/>
                          <a:cs typeface="맑은 고딕"/>
                        </a:rPr>
                        <a:t>담당자 검토상 답변 적합률</a:t>
                      </a:r>
                    </a:p>
                    <a:p>
                      <a:r>
                        <a:rPr sz="2700" b="0">
                          <a:solidFill>
                            <a:srgbClr val="10344D"/>
                          </a:solidFill>
                          <a:latin typeface="맑은 고딕"/>
                          <a:ea typeface="맑은 고딕"/>
                          <a:cs typeface="맑은 고딕"/>
                        </a:rPr>
                        <a:t>오래된 규정 인용·근거 누락 건수</a:t>
                      </a:r>
                    </a:p>
                  </a:txBody>
                  <a:tcPr marL="190500" marR="190500" marT="133350" marB="114300" anchor="ctr">
                    <a:solidFill>
                      <a:srgbClr val="FFFFFF"/>
                    </a:solidFill>
                  </a:tcPr>
                </a:tc>
              </a:tr>
            </a:tbl>
          </a:graphicData>
        </a:graphic>
      </p:graphicFrame>
      <p:sp>
        <p:nvSpPr>
          <p:cNvPr id="5" name="v3-text-94">
            <a:extLst xmlns:a="http://schemas.openxmlformats.org/drawingml/2006/main">
              <a:ext uri="{FF2B5EF4-FFF2-40B4-BE49-F238E27FC236}">
                <a16:creationId xmlns:a16="http://schemas.microsoft.com/office/drawing/2014/main" id="{0CE84089-8683-4F68-97DF-BF86C6629237}"/>
              </a:ext>
            </a:extLst>
          </p:cNvPr>
          <p:cNvSpPr>
            <a:spLocks xmlns:a="http://schemas.openxmlformats.org/drawingml/2006/main" noGrp="1"/>
          </p:cNvSpPr>
          <p:nvPr/>
        </p:nvSpPr>
        <p:spPr>
          <a:xfrm xmlns:a="http://schemas.openxmlformats.org/drawingml/2006/main">
            <a:off x="2629242" y="10458450"/>
            <a:ext cx="2857872"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0344D"/>
                </a:solidFill>
                <a:latin typeface="맑은 고딕"/>
                <a:ea typeface="맑은 고딕"/>
                <a:cs typeface="맑은 고딕"/>
              </a:defRPr>
            </a:pPr>
            <a:r>
              <a:rPr sz="3150" b="1">
                <a:solidFill>
                  <a:srgbClr val="10344D"/>
                </a:solidFill>
                <a:latin typeface="맑은 고딕"/>
                <a:ea typeface="맑은 고딕"/>
                <a:cs typeface="맑은 고딕"/>
              </a:rPr>
              <a:t>검증 방법</a:t>
            </a:r>
          </a:p>
        </p:txBody>
      </p:sp>
      <p:sp>
        <p:nvSpPr>
          <p:cNvPr id="6" name="v3-text-95">
            <a:extLst xmlns:a="http://schemas.openxmlformats.org/drawingml/2006/main">
              <a:ext uri="{FF2B5EF4-FFF2-40B4-BE49-F238E27FC236}">
                <a16:creationId xmlns:a16="http://schemas.microsoft.com/office/drawing/2014/main" id="{1B2F537D-5973-47E9-804F-F74BF7881A2E}"/>
              </a:ext>
            </a:extLst>
          </p:cNvPr>
          <p:cNvSpPr>
            <a:spLocks xmlns:a="http://schemas.openxmlformats.org/drawingml/2006/main" noGrp="1"/>
          </p:cNvSpPr>
          <p:nvPr/>
        </p:nvSpPr>
        <p:spPr>
          <a:xfrm xmlns:a="http://schemas.openxmlformats.org/drawingml/2006/main">
            <a:off x="5906269" y="10439400"/>
            <a:ext cx="1686144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0">
                <a:solidFill>
                  <a:srgbClr val="10344D"/>
                </a:solidFill>
                <a:latin typeface="맑은 고딕"/>
                <a:ea typeface="맑은 고딕"/>
                <a:cs typeface="맑은 고딕"/>
              </a:defRPr>
            </a:pPr>
            <a:r>
              <a:rPr sz="3000" b="0">
                <a:solidFill>
                  <a:srgbClr val="10344D"/>
                </a:solidFill>
                <a:latin typeface="맑은 고딕"/>
                <a:ea typeface="맑은 고딕"/>
                <a:cs typeface="맑은 고딕"/>
              </a:rPr>
              <a:t>대표 질문을 같은 조건으로 비교하고, 직원·담당자의 사용 의견을 함께 수집</a:t>
            </a:r>
          </a:p>
        </p:txBody>
      </p:sp>
      <p:sp>
        <p:nvSpPr>
          <p:cNvPr id="7" name="v3-text-96">
            <a:extLst xmlns:a="http://schemas.openxmlformats.org/drawingml/2006/main">
              <a:ext uri="{FF2B5EF4-FFF2-40B4-BE49-F238E27FC236}">
                <a16:creationId xmlns:a16="http://schemas.microsoft.com/office/drawing/2014/main" id="{95C77701-3A32-4381-AF6F-1EE2BF52664B}"/>
              </a:ext>
            </a:extLst>
          </p:cNvPr>
          <p:cNvSpPr>
            <a:spLocks xmlns:a="http://schemas.openxmlformats.org/drawingml/2006/main" noGrp="1"/>
          </p:cNvSpPr>
          <p:nvPr/>
        </p:nvSpPr>
        <p:spPr>
          <a:xfrm xmlns:a="http://schemas.openxmlformats.org/drawingml/2006/main">
            <a:off x="2629242" y="11315700"/>
            <a:ext cx="2857872"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344D"/>
                </a:solidFill>
                <a:latin typeface="맑은 고딕"/>
                <a:ea typeface="맑은 고딕"/>
                <a:cs typeface="맑은 고딕"/>
              </a:defRPr>
            </a:pPr>
            <a:r>
              <a:rPr sz="2700" b="1">
                <a:solidFill>
                  <a:srgbClr val="10344D"/>
                </a:solidFill>
                <a:latin typeface="맑은 고딕"/>
                <a:ea typeface="맑은 고딕"/>
                <a:cs typeface="맑은 고딕"/>
              </a:rPr>
              <a:t>시간 단축률</a:t>
            </a:r>
          </a:p>
        </p:txBody>
      </p:sp>
      <p:sp>
        <p:nvSpPr>
          <p:cNvPr id="8" name="v3-text-97">
            <a:extLst xmlns:a="http://schemas.openxmlformats.org/drawingml/2006/main">
              <a:ext uri="{FF2B5EF4-FFF2-40B4-BE49-F238E27FC236}">
                <a16:creationId xmlns:a16="http://schemas.microsoft.com/office/drawing/2014/main" id="{A3E0D8EE-1C1D-4A93-A1ED-1F23F6F2FF0C}"/>
              </a:ext>
            </a:extLst>
          </p:cNvPr>
          <p:cNvSpPr>
            <a:spLocks xmlns:a="http://schemas.openxmlformats.org/drawingml/2006/main" noGrp="1"/>
          </p:cNvSpPr>
          <p:nvPr/>
        </p:nvSpPr>
        <p:spPr>
          <a:xfrm xmlns:a="http://schemas.openxmlformats.org/drawingml/2006/main">
            <a:off x="5906269" y="11277600"/>
            <a:ext cx="1686144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10344D"/>
                </a:solidFill>
                <a:latin typeface="맑은 고딕"/>
                <a:ea typeface="맑은 고딕"/>
                <a:cs typeface="맑은 고딕"/>
              </a:defRPr>
            </a:pPr>
            <a:r>
              <a:rPr sz="2850" b="0">
                <a:solidFill>
                  <a:srgbClr val="10344D"/>
                </a:solidFill>
                <a:latin typeface="맑은 고딕"/>
                <a:ea typeface="맑은 고딕"/>
                <a:cs typeface="맑은 고딕"/>
              </a:rPr>
              <a:t>(기존 소요 시간 − 사용 후 소요 시간) ÷ 기존 소요 시간 × 100</a:t>
            </a:r>
          </a:p>
        </p:txBody>
      </p:sp>
      <p:sp>
        <p:nvSpPr>
          <p:cNvPr id="9" name="v3-text-98">
            <a:extLst xmlns:a="http://schemas.openxmlformats.org/drawingml/2006/main">
              <a:ext uri="{FF2B5EF4-FFF2-40B4-BE49-F238E27FC236}">
                <a16:creationId xmlns:a16="http://schemas.microsoft.com/office/drawing/2014/main" id="{F13BAAED-8F43-41C2-8516-5392A3DF6B56}"/>
              </a:ext>
            </a:extLst>
          </p:cNvPr>
          <p:cNvSpPr>
            <a:spLocks xmlns:a="http://schemas.openxmlformats.org/drawingml/2006/main" noGrp="1"/>
          </p:cNvSpPr>
          <p:nvPr/>
        </p:nvSpPr>
        <p:spPr>
          <a:xfrm xmlns:a="http://schemas.openxmlformats.org/drawingml/2006/main">
            <a:off x="2629242" y="11925300"/>
            <a:ext cx="20195629"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26573"/>
                </a:solidFill>
                <a:latin typeface="맑은 고딕"/>
                <a:ea typeface="맑은 고딕"/>
                <a:cs typeface="맑은 고딕"/>
              </a:defRPr>
            </a:pPr>
            <a:r>
              <a:rPr sz="1950" b="0">
                <a:solidFill>
                  <a:srgbClr val="526573"/>
                </a:solidFill>
                <a:latin typeface="맑은 고딕"/>
                <a:ea typeface="맑은 고딕"/>
                <a:cs typeface="맑은 고딕"/>
              </a:rPr>
              <a:t>운영 효과는 기대 및 측정 계획이며 실측 성과가 아님. 목표치는 파일럿 기준선 확보 후 확정</a:t>
            </a:r>
          </a:p>
        </p:txBody>
      </p:sp>
    </p:spTree>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7" name="v3-text-99">
            <a:extLst xmlns:a="http://schemas.openxmlformats.org/drawingml/2006/main">
              <a:ext uri="{FF2B5EF4-FFF2-40B4-BE49-F238E27FC236}">
                <a16:creationId xmlns:a16="http://schemas.microsoft.com/office/drawing/2014/main" id="{18BF8931-422B-4911-9BC2-6DEDD6F51614}"/>
              </a:ext>
            </a:extLst>
          </p:cNvPr>
          <p:cNvSpPr>
            <a:spLocks xmlns:a="http://schemas.openxmlformats.org/drawingml/2006/main" noGrp="1"/>
          </p:cNvSpPr>
          <p:nvPr/>
        </p:nvSpPr>
        <p:spPr>
          <a:xfrm xmlns:a="http://schemas.openxmlformats.org/drawingml/2006/main">
            <a:off x="2629242" y="2324100"/>
            <a:ext cx="20386154"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1">
                <a:solidFill>
                  <a:srgbClr val="10344D"/>
                </a:solidFill>
                <a:latin typeface="맑은 고딕"/>
                <a:ea typeface="맑은 고딕"/>
                <a:cs typeface="맑은 고딕"/>
              </a:defRPr>
            </a:pPr>
            <a:r>
              <a:rPr sz="4350" b="1">
                <a:solidFill>
                  <a:srgbClr val="10344D"/>
                </a:solidFill>
                <a:latin typeface="맑은 고딕"/>
                <a:ea typeface="맑은 고딕"/>
                <a:cs typeface="맑은 고딕"/>
              </a:rPr>
              <a:t>교육 소감과 다음 단계</a:t>
            </a:r>
          </a:p>
        </p:txBody>
      </p:sp>
      <p:sp>
        <p:nvSpPr>
          <p:cNvPr id="2" name="v3-text-100">
            <a:extLst xmlns:a="http://schemas.openxmlformats.org/drawingml/2006/main">
              <a:ext uri="{FF2B5EF4-FFF2-40B4-BE49-F238E27FC236}">
                <a16:creationId xmlns:a16="http://schemas.microsoft.com/office/drawing/2014/main" id="{D0CEE586-623F-4868-B9C8-7B69F56C6745}"/>
              </a:ext>
            </a:extLst>
          </p:cNvPr>
          <p:cNvSpPr>
            <a:spLocks xmlns:a="http://schemas.openxmlformats.org/drawingml/2006/main" noGrp="1"/>
          </p:cNvSpPr>
          <p:nvPr/>
        </p:nvSpPr>
        <p:spPr>
          <a:xfrm xmlns:a="http://schemas.openxmlformats.org/drawingml/2006/main">
            <a:off x="2629242" y="3390900"/>
            <a:ext cx="20005104"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526573"/>
                </a:solidFill>
                <a:latin typeface="맑은 고딕"/>
                <a:ea typeface="맑은 고딕"/>
                <a:cs typeface="맑은 고딕"/>
              </a:defRPr>
            </a:pPr>
            <a:r>
              <a:rPr sz="2550" b="0">
                <a:solidFill>
                  <a:srgbClr val="526573"/>
                </a:solidFill>
                <a:latin typeface="맑은 고딕"/>
                <a:ea typeface="맑은 고딕"/>
                <a:cs typeface="맑은 고딕"/>
              </a:rPr>
              <a:t>문서를 정리하는 방식도 AI가 답을 찾는 데 영향을 준다는 것을 배웠습니다</a:t>
            </a:r>
          </a:p>
        </p:txBody>
      </p:sp>
      <p:sp>
        <p:nvSpPr>
          <p:cNvPr id="3" name="v3-text-101">
            <a:extLst xmlns:a="http://schemas.openxmlformats.org/drawingml/2006/main">
              <a:ext uri="{FF2B5EF4-FFF2-40B4-BE49-F238E27FC236}">
                <a16:creationId xmlns:a16="http://schemas.microsoft.com/office/drawing/2014/main" id="{A65A6271-7DA0-4EB0-9F66-F2DA2907BF10}"/>
              </a:ext>
            </a:extLst>
          </p:cNvPr>
          <p:cNvSpPr>
            <a:spLocks xmlns:a="http://schemas.openxmlformats.org/drawingml/2006/main" noGrp="1"/>
          </p:cNvSpPr>
          <p:nvPr/>
        </p:nvSpPr>
        <p:spPr>
          <a:xfrm xmlns:a="http://schemas.openxmlformats.org/drawingml/2006/main">
            <a:off x="22386665" y="12649200"/>
            <a:ext cx="914519"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800" b="0">
                <a:solidFill>
                  <a:srgbClr val="526573"/>
                </a:solidFill>
                <a:latin typeface="맑은 고딕"/>
                <a:ea typeface="맑은 고딕"/>
                <a:cs typeface="맑은 고딕"/>
              </a:defRPr>
            </a:pPr>
            <a:r>
              <a:rPr sz="1800" b="0">
                <a:solidFill>
                  <a:srgbClr val="526573"/>
                </a:solidFill>
                <a:latin typeface="맑은 고딕"/>
                <a:ea typeface="맑은 고딕"/>
                <a:cs typeface="맑은 고딕"/>
              </a:rPr>
              <a:t>15</a:t>
            </a:r>
          </a:p>
        </p:txBody>
      </p:sp>
      <p:sp>
        <p:nvSpPr>
          <p:cNvPr id="4" name="v3-text-102">
            <a:extLst xmlns:a="http://schemas.openxmlformats.org/drawingml/2006/main">
              <a:ext uri="{FF2B5EF4-FFF2-40B4-BE49-F238E27FC236}">
                <a16:creationId xmlns:a16="http://schemas.microsoft.com/office/drawing/2014/main" id="{76418A50-E5B1-476F-B64D-B9A1C8905E01}"/>
              </a:ext>
            </a:extLst>
          </p:cNvPr>
          <p:cNvSpPr>
            <a:spLocks xmlns:a="http://schemas.openxmlformats.org/drawingml/2006/main" noGrp="1"/>
          </p:cNvSpPr>
          <p:nvPr/>
        </p:nvSpPr>
        <p:spPr>
          <a:xfrm xmlns:a="http://schemas.openxmlformats.org/drawingml/2006/main">
            <a:off x="2629242" y="4476750"/>
            <a:ext cx="933571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10344D"/>
                </a:solidFill>
                <a:latin typeface="맑은 고딕"/>
                <a:ea typeface="맑은 고딕"/>
                <a:cs typeface="맑은 고딕"/>
              </a:defRPr>
            </a:pPr>
            <a:r>
              <a:rPr sz="3450" b="1">
                <a:solidFill>
                  <a:srgbClr val="10344D"/>
                </a:solidFill>
                <a:latin typeface="맑은 고딕"/>
                <a:ea typeface="맑은 고딕"/>
                <a:cs typeface="맑은 고딕"/>
              </a:rPr>
              <a:t>한 달 동안 달라진 생각</a:t>
            </a:r>
          </a:p>
        </p:txBody>
      </p:sp>
      <p:sp>
        <p:nvSpPr>
          <p:cNvPr id="5" name="v3-text-103">
            <a:extLst xmlns:a="http://schemas.openxmlformats.org/drawingml/2006/main">
              <a:ext uri="{FF2B5EF4-FFF2-40B4-BE49-F238E27FC236}">
                <a16:creationId xmlns:a16="http://schemas.microsoft.com/office/drawing/2014/main" id="{B2866DBB-9315-48FC-BB4A-B7FE9E33DA67}"/>
              </a:ext>
            </a:extLst>
          </p:cNvPr>
          <p:cNvSpPr>
            <a:spLocks xmlns:a="http://schemas.openxmlformats.org/drawingml/2006/main" noGrp="1"/>
          </p:cNvSpPr>
          <p:nvPr/>
        </p:nvSpPr>
        <p:spPr>
          <a:xfrm xmlns:a="http://schemas.openxmlformats.org/drawingml/2006/main">
            <a:off x="2629242" y="5676900"/>
            <a:ext cx="9621503"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0344D"/>
                </a:solidFill>
                <a:latin typeface="맑은 고딕"/>
                <a:ea typeface="맑은 고딕"/>
                <a:cs typeface="맑은 고딕"/>
              </a:defRPr>
            </a:pPr>
            <a:r>
              <a:rPr sz="3300" b="1">
                <a:solidFill>
                  <a:srgbClr val="10344D"/>
                </a:solidFill>
                <a:latin typeface="맑은 고딕"/>
                <a:ea typeface="맑은 고딕"/>
                <a:cs typeface="맑은 고딕"/>
              </a:rPr>
              <a:t>처음에는 파일 형식만 바꾸면 되는 줄 알았습니다</a:t>
            </a:r>
          </a:p>
        </p:txBody>
      </p:sp>
      <p:sp>
        <p:nvSpPr>
          <p:cNvPr id="6" name="v3-text-104">
            <a:extLst xmlns:a="http://schemas.openxmlformats.org/drawingml/2006/main">
              <a:ext uri="{FF2B5EF4-FFF2-40B4-BE49-F238E27FC236}">
                <a16:creationId xmlns:a16="http://schemas.microsoft.com/office/drawing/2014/main" id="{A836BC59-90A0-4FB4-A331-1EBA17872EED}"/>
              </a:ext>
            </a:extLst>
          </p:cNvPr>
          <p:cNvSpPr>
            <a:spLocks xmlns:a="http://schemas.openxmlformats.org/drawingml/2006/main" noGrp="1"/>
          </p:cNvSpPr>
          <p:nvPr/>
        </p:nvSpPr>
        <p:spPr>
          <a:xfrm xmlns:a="http://schemas.openxmlformats.org/drawingml/2006/main">
            <a:off x="2629242" y="6534150"/>
            <a:ext cx="9621503"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526573"/>
                </a:solidFill>
                <a:latin typeface="맑은 고딕"/>
                <a:ea typeface="맑은 고딕"/>
                <a:cs typeface="맑은 고딕"/>
              </a:defRPr>
            </a:pPr>
            <a:r>
              <a:rPr sz="2850" b="0">
                <a:solidFill>
                  <a:srgbClr val="526573"/>
                </a:solidFill>
                <a:latin typeface="맑은 고딕"/>
                <a:ea typeface="맑은 고딕"/>
                <a:cs typeface="맑은 고딕"/>
              </a:rPr>
              <a:t>피드백을 받고 나서, 제목과 본문의 관계를</a:t>
            </a:r>
          </a:p>
          <a:p xmlns:a="http://schemas.openxmlformats.org/drawingml/2006/main">
            <a:pPr algn="l">
              <a:defRPr sz="2850" b="0">
                <a:solidFill>
                  <a:srgbClr val="526573"/>
                </a:solidFill>
                <a:latin typeface="맑은 고딕"/>
                <a:ea typeface="맑은 고딕"/>
                <a:cs typeface="맑은 고딕"/>
              </a:defRPr>
            </a:pPr>
            <a:r>
              <a:rPr sz="2850" b="0">
                <a:solidFill>
                  <a:srgbClr val="526573"/>
                </a:solidFill>
                <a:latin typeface="맑은 고딕"/>
                <a:ea typeface="맑은 고딕"/>
                <a:cs typeface="맑은 고딕"/>
              </a:rPr>
              <a:t>잘 남기는 것도 중요한 준비 과정이라는</a:t>
            </a:r>
          </a:p>
          <a:p xmlns:a="http://schemas.openxmlformats.org/drawingml/2006/main">
            <a:pPr algn="l">
              <a:defRPr sz="2850" b="0">
                <a:solidFill>
                  <a:srgbClr val="526573"/>
                </a:solidFill>
                <a:latin typeface="맑은 고딕"/>
                <a:ea typeface="맑은 고딕"/>
                <a:cs typeface="맑은 고딕"/>
              </a:defRPr>
            </a:pPr>
            <a:r>
              <a:rPr sz="2850" b="0">
                <a:solidFill>
                  <a:srgbClr val="526573"/>
                </a:solidFill>
                <a:latin typeface="맑은 고딕"/>
                <a:ea typeface="맑은 고딕"/>
                <a:cs typeface="맑은 고딕"/>
              </a:rPr>
              <a:t>점을 알게 됐습니다.</a:t>
            </a:r>
          </a:p>
        </p:txBody>
      </p:sp>
      <p:sp>
        <p:nvSpPr>
          <p:cNvPr id="7" name="v3-text-105">
            <a:extLst xmlns:a="http://schemas.openxmlformats.org/drawingml/2006/main">
              <a:ext uri="{FF2B5EF4-FFF2-40B4-BE49-F238E27FC236}">
                <a16:creationId xmlns:a16="http://schemas.microsoft.com/office/drawing/2014/main" id="{8874D4B9-0DCA-4289-9C5F-CA6A37A249DF}"/>
              </a:ext>
            </a:extLst>
          </p:cNvPr>
          <p:cNvSpPr>
            <a:spLocks xmlns:a="http://schemas.openxmlformats.org/drawingml/2006/main" noGrp="1"/>
          </p:cNvSpPr>
          <p:nvPr/>
        </p:nvSpPr>
        <p:spPr>
          <a:xfrm xmlns:a="http://schemas.openxmlformats.org/drawingml/2006/main">
            <a:off x="2629242" y="8763000"/>
            <a:ext cx="9621503"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0344D"/>
                </a:solidFill>
                <a:latin typeface="맑은 고딕"/>
                <a:ea typeface="맑은 고딕"/>
                <a:cs typeface="맑은 고딕"/>
              </a:defRPr>
            </a:pPr>
            <a:r>
              <a:rPr sz="3300" b="1">
                <a:solidFill>
                  <a:srgbClr val="10344D"/>
                </a:solidFill>
                <a:latin typeface="맑은 고딕"/>
                <a:ea typeface="맑은 고딕"/>
                <a:cs typeface="맑은 고딕"/>
              </a:rPr>
              <a:t>이제는 만들기 전에 기준부터 생각합니다</a:t>
            </a:r>
          </a:p>
        </p:txBody>
      </p:sp>
      <p:sp>
        <p:nvSpPr>
          <p:cNvPr id="8" name="v3-text-106">
            <a:extLst xmlns:a="http://schemas.openxmlformats.org/drawingml/2006/main">
              <a:ext uri="{FF2B5EF4-FFF2-40B4-BE49-F238E27FC236}">
                <a16:creationId xmlns:a16="http://schemas.microsoft.com/office/drawing/2014/main" id="{272AD154-75F7-491B-92E4-E9F5D5FAFA16}"/>
              </a:ext>
            </a:extLst>
          </p:cNvPr>
          <p:cNvSpPr>
            <a:spLocks xmlns:a="http://schemas.openxmlformats.org/drawingml/2006/main" noGrp="1"/>
          </p:cNvSpPr>
          <p:nvPr/>
        </p:nvSpPr>
        <p:spPr>
          <a:xfrm xmlns:a="http://schemas.openxmlformats.org/drawingml/2006/main">
            <a:off x="2629242" y="9620250"/>
            <a:ext cx="9621503"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526573"/>
                </a:solidFill>
                <a:latin typeface="맑은 고딕"/>
                <a:ea typeface="맑은 고딕"/>
                <a:cs typeface="맑은 고딕"/>
              </a:defRPr>
            </a:pPr>
            <a:r>
              <a:rPr sz="2850" b="0">
                <a:solidFill>
                  <a:srgbClr val="526573"/>
                </a:solidFill>
                <a:latin typeface="맑은 고딕"/>
                <a:ea typeface="맑은 고딕"/>
                <a:cs typeface="맑은 고딕"/>
              </a:rPr>
              <a:t>AI에게 맡길 부분과 직접 기준을 정할 부분을</a:t>
            </a:r>
          </a:p>
          <a:p xmlns:a="http://schemas.openxmlformats.org/drawingml/2006/main">
            <a:pPr algn="l">
              <a:defRPr sz="2850" b="0">
                <a:solidFill>
                  <a:srgbClr val="526573"/>
                </a:solidFill>
                <a:latin typeface="맑은 고딕"/>
                <a:ea typeface="맑은 고딕"/>
                <a:cs typeface="맑은 고딕"/>
              </a:defRPr>
            </a:pPr>
            <a:r>
              <a:rPr sz="2850" b="0">
                <a:solidFill>
                  <a:srgbClr val="526573"/>
                </a:solidFill>
                <a:latin typeface="맑은 고딕"/>
                <a:ea typeface="맑은 고딕"/>
                <a:cs typeface="맑은 고딕"/>
              </a:rPr>
              <a:t>먼저 나누어 보고, 확인할 질문을 준비한 뒤</a:t>
            </a:r>
          </a:p>
          <a:p xmlns:a="http://schemas.openxmlformats.org/drawingml/2006/main">
            <a:pPr algn="l">
              <a:defRPr sz="2850" b="0">
                <a:solidFill>
                  <a:srgbClr val="526573"/>
                </a:solidFill>
                <a:latin typeface="맑은 고딕"/>
                <a:ea typeface="맑은 고딕"/>
                <a:cs typeface="맑은 고딕"/>
              </a:defRPr>
            </a:pPr>
            <a:r>
              <a:rPr sz="2850" b="0">
                <a:solidFill>
                  <a:srgbClr val="526573"/>
                </a:solidFill>
                <a:latin typeface="맑은 고딕"/>
                <a:ea typeface="맑은 고딕"/>
                <a:cs typeface="맑은 고딕"/>
              </a:rPr>
              <a:t>결과를 점검하려고 합니다.</a:t>
            </a:r>
          </a:p>
        </p:txBody>
      </p:sp>
      <p:sp>
        <p:nvSpPr>
          <p:cNvPr id="9" name="v3-text-107">
            <a:extLst xmlns:a="http://schemas.openxmlformats.org/drawingml/2006/main">
              <a:ext uri="{FF2B5EF4-FFF2-40B4-BE49-F238E27FC236}">
                <a16:creationId xmlns:a16="http://schemas.microsoft.com/office/drawing/2014/main" id="{716E7778-69B4-4867-9B5F-1032C849786E}"/>
              </a:ext>
            </a:extLst>
          </p:cNvPr>
          <p:cNvSpPr>
            <a:spLocks xmlns:a="http://schemas.openxmlformats.org/drawingml/2006/main" noGrp="1"/>
          </p:cNvSpPr>
          <p:nvPr/>
        </p:nvSpPr>
        <p:spPr>
          <a:xfrm xmlns:a="http://schemas.openxmlformats.org/drawingml/2006/main">
            <a:off x="13793996" y="4476750"/>
            <a:ext cx="9049928"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10344D"/>
                </a:solidFill>
                <a:latin typeface="맑은 고딕"/>
                <a:ea typeface="맑은 고딕"/>
                <a:cs typeface="맑은 고딕"/>
              </a:defRPr>
            </a:pPr>
            <a:r>
              <a:rPr sz="3450" b="1">
                <a:solidFill>
                  <a:srgbClr val="10344D"/>
                </a:solidFill>
                <a:latin typeface="맑은 고딕"/>
                <a:ea typeface="맑은 고딕"/>
                <a:cs typeface="맑은 고딕"/>
              </a:rPr>
              <a:t>실무 활용을 위한 다음 단계</a:t>
            </a:r>
          </a:p>
        </p:txBody>
      </p:sp>
      <p:sp>
        <p:nvSpPr>
          <p:cNvPr id="10" name="v3-text-108">
            <a:extLst xmlns:a="http://schemas.openxmlformats.org/drawingml/2006/main">
              <a:ext uri="{FF2B5EF4-FFF2-40B4-BE49-F238E27FC236}">
                <a16:creationId xmlns:a16="http://schemas.microsoft.com/office/drawing/2014/main" id="{D31F8EDA-5213-4308-A730-1905B70FD5C7}"/>
              </a:ext>
            </a:extLst>
          </p:cNvPr>
          <p:cNvSpPr>
            <a:spLocks xmlns:a="http://schemas.openxmlformats.org/drawingml/2006/main" noGrp="1"/>
          </p:cNvSpPr>
          <p:nvPr/>
        </p:nvSpPr>
        <p:spPr>
          <a:xfrm xmlns:a="http://schemas.openxmlformats.org/drawingml/2006/main">
            <a:off x="13793996" y="5829300"/>
            <a:ext cx="9049928"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0344D"/>
                </a:solidFill>
                <a:latin typeface="맑은 고딕"/>
                <a:ea typeface="맑은 고딕"/>
                <a:cs typeface="맑은 고딕"/>
              </a:defRPr>
            </a:pPr>
            <a:r>
              <a:rPr sz="3150" b="1">
                <a:solidFill>
                  <a:srgbClr val="10344D"/>
                </a:solidFill>
                <a:latin typeface="맑은 고딕"/>
                <a:ea typeface="맑은 고딕"/>
                <a:cs typeface="맑은 고딕"/>
              </a:rPr>
              <a:t>1  규정 운영 기준 확정</a:t>
            </a:r>
          </a:p>
        </p:txBody>
      </p:sp>
      <p:sp>
        <p:nvSpPr>
          <p:cNvPr id="11" name="v3-text-109">
            <a:extLst xmlns:a="http://schemas.openxmlformats.org/drawingml/2006/main">
              <a:ext uri="{FF2B5EF4-FFF2-40B4-BE49-F238E27FC236}">
                <a16:creationId xmlns:a16="http://schemas.microsoft.com/office/drawing/2014/main" id="{9533DE3F-B3C8-4123-A6B6-14DE18EB316A}"/>
              </a:ext>
            </a:extLst>
          </p:cNvPr>
          <p:cNvSpPr>
            <a:spLocks xmlns:a="http://schemas.openxmlformats.org/drawingml/2006/main" noGrp="1"/>
          </p:cNvSpPr>
          <p:nvPr/>
        </p:nvSpPr>
        <p:spPr>
          <a:xfrm xmlns:a="http://schemas.openxmlformats.org/drawingml/2006/main">
            <a:off x="13793996" y="6629400"/>
            <a:ext cx="9049928"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0">
                <a:solidFill>
                  <a:srgbClr val="526573"/>
                </a:solidFill>
                <a:latin typeface="맑은 고딕"/>
                <a:ea typeface="맑은 고딕"/>
                <a:cs typeface="맑은 고딕"/>
              </a:defRPr>
            </a:pPr>
            <a:r>
              <a:rPr sz="2700" b="0">
                <a:solidFill>
                  <a:srgbClr val="526573"/>
                </a:solidFill>
                <a:latin typeface="맑은 고딕"/>
                <a:ea typeface="맑은 고딕"/>
                <a:cs typeface="맑은 고딕"/>
              </a:rPr>
              <a:t>문서 담당자·최신 버전·적용 기준 정리</a:t>
            </a:r>
          </a:p>
        </p:txBody>
      </p:sp>
      <p:sp>
        <p:nvSpPr>
          <p:cNvPr id="12" name="v3-text-110">
            <a:extLst xmlns:a="http://schemas.openxmlformats.org/drawingml/2006/main">
              <a:ext uri="{FF2B5EF4-FFF2-40B4-BE49-F238E27FC236}">
                <a16:creationId xmlns:a16="http://schemas.microsoft.com/office/drawing/2014/main" id="{E14D7160-227B-479D-9E6B-D35E97D822AC}"/>
              </a:ext>
            </a:extLst>
          </p:cNvPr>
          <p:cNvSpPr>
            <a:spLocks xmlns:a="http://schemas.openxmlformats.org/drawingml/2006/main" noGrp="1"/>
          </p:cNvSpPr>
          <p:nvPr/>
        </p:nvSpPr>
        <p:spPr>
          <a:xfrm xmlns:a="http://schemas.openxmlformats.org/drawingml/2006/main">
            <a:off x="13793996" y="7620000"/>
            <a:ext cx="9049928"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0344D"/>
                </a:solidFill>
                <a:latin typeface="맑은 고딕"/>
                <a:ea typeface="맑은 고딕"/>
                <a:cs typeface="맑은 고딕"/>
              </a:defRPr>
            </a:pPr>
            <a:r>
              <a:rPr sz="3150" b="1">
                <a:solidFill>
                  <a:srgbClr val="10344D"/>
                </a:solidFill>
                <a:latin typeface="맑은 고딕"/>
                <a:ea typeface="맑은 고딕"/>
                <a:cs typeface="맑은 고딕"/>
              </a:rPr>
              <a:t>2  파일럿으로 효과 측정</a:t>
            </a:r>
          </a:p>
        </p:txBody>
      </p:sp>
      <p:sp>
        <p:nvSpPr>
          <p:cNvPr id="13" name="v3-text-111">
            <a:extLst xmlns:a="http://schemas.openxmlformats.org/drawingml/2006/main">
              <a:ext uri="{FF2B5EF4-FFF2-40B4-BE49-F238E27FC236}">
                <a16:creationId xmlns:a16="http://schemas.microsoft.com/office/drawing/2014/main" id="{94D17C1F-F7E5-47FA-A9F0-39FA7A6EC11D}"/>
              </a:ext>
            </a:extLst>
          </p:cNvPr>
          <p:cNvSpPr>
            <a:spLocks xmlns:a="http://schemas.openxmlformats.org/drawingml/2006/main" noGrp="1"/>
          </p:cNvSpPr>
          <p:nvPr/>
        </p:nvSpPr>
        <p:spPr>
          <a:xfrm xmlns:a="http://schemas.openxmlformats.org/drawingml/2006/main">
            <a:off x="13793996" y="8420100"/>
            <a:ext cx="9049928"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0">
                <a:solidFill>
                  <a:srgbClr val="526573"/>
                </a:solidFill>
                <a:latin typeface="맑은 고딕"/>
                <a:ea typeface="맑은 고딕"/>
                <a:cs typeface="맑은 고딕"/>
              </a:defRPr>
            </a:pPr>
            <a:r>
              <a:rPr sz="2700" b="0">
                <a:solidFill>
                  <a:srgbClr val="526573"/>
                </a:solidFill>
                <a:latin typeface="맑은 고딕"/>
                <a:ea typeface="맑은 고딕"/>
                <a:cs typeface="맑은 고딕"/>
              </a:rPr>
              <a:t>시간·재문의·담당자 평가로 개선 확인</a:t>
            </a:r>
          </a:p>
        </p:txBody>
      </p:sp>
      <p:sp>
        <p:nvSpPr>
          <p:cNvPr id="14" name="v3-text-112">
            <a:extLst xmlns:a="http://schemas.openxmlformats.org/drawingml/2006/main">
              <a:ext uri="{FF2B5EF4-FFF2-40B4-BE49-F238E27FC236}">
                <a16:creationId xmlns:a16="http://schemas.microsoft.com/office/drawing/2014/main" id="{73F68AA3-3F42-4468-A21B-83A718AEF1FF}"/>
              </a:ext>
            </a:extLst>
          </p:cNvPr>
          <p:cNvSpPr>
            <a:spLocks xmlns:a="http://schemas.openxmlformats.org/drawingml/2006/main" noGrp="1"/>
          </p:cNvSpPr>
          <p:nvPr/>
        </p:nvSpPr>
        <p:spPr>
          <a:xfrm xmlns:a="http://schemas.openxmlformats.org/drawingml/2006/main">
            <a:off x="13793996" y="9410700"/>
            <a:ext cx="9049928"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0344D"/>
                </a:solidFill>
                <a:latin typeface="맑은 고딕"/>
                <a:ea typeface="맑은 고딕"/>
                <a:cs typeface="맑은 고딕"/>
              </a:defRPr>
            </a:pPr>
            <a:r>
              <a:rPr sz="3150" b="1">
                <a:solidFill>
                  <a:srgbClr val="10344D"/>
                </a:solidFill>
                <a:latin typeface="맑은 고딕"/>
                <a:ea typeface="맑은 고딕"/>
                <a:cs typeface="맑은 고딕"/>
              </a:rPr>
              <a:t>3  실제 업무와 연계</a:t>
            </a:r>
          </a:p>
        </p:txBody>
      </p:sp>
      <p:sp>
        <p:nvSpPr>
          <p:cNvPr id="15" name="v3-text-113">
            <a:extLst xmlns:a="http://schemas.openxmlformats.org/drawingml/2006/main">
              <a:ext uri="{FF2B5EF4-FFF2-40B4-BE49-F238E27FC236}">
                <a16:creationId xmlns:a16="http://schemas.microsoft.com/office/drawing/2014/main" id="{85727F59-2C0A-440F-AE87-2D6BFBE58163}"/>
              </a:ext>
            </a:extLst>
          </p:cNvPr>
          <p:cNvSpPr>
            <a:spLocks xmlns:a="http://schemas.openxmlformats.org/drawingml/2006/main" noGrp="1"/>
          </p:cNvSpPr>
          <p:nvPr/>
        </p:nvSpPr>
        <p:spPr>
          <a:xfrm xmlns:a="http://schemas.openxmlformats.org/drawingml/2006/main">
            <a:off x="13793996" y="10210800"/>
            <a:ext cx="9049928"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0">
                <a:solidFill>
                  <a:srgbClr val="526573"/>
                </a:solidFill>
                <a:latin typeface="맑은 고딕"/>
                <a:ea typeface="맑은 고딕"/>
                <a:cs typeface="맑은 고딕"/>
              </a:defRPr>
            </a:pPr>
            <a:r>
              <a:rPr sz="2700" b="0">
                <a:solidFill>
                  <a:srgbClr val="526573"/>
                </a:solidFill>
                <a:latin typeface="맑은 고딕"/>
                <a:ea typeface="맑은 고딕"/>
                <a:cs typeface="맑은 고딕"/>
              </a:rPr>
              <a:t>사내 인증과 문의·신청 시스템 연결</a:t>
            </a:r>
          </a:p>
        </p:txBody>
      </p:sp>
      <p:sp>
        <p:nvSpPr>
          <p:cNvPr id="16" name="v3-text-114">
            <a:extLst xmlns:a="http://schemas.openxmlformats.org/drawingml/2006/main">
              <a:ext uri="{FF2B5EF4-FFF2-40B4-BE49-F238E27FC236}">
                <a16:creationId xmlns:a16="http://schemas.microsoft.com/office/drawing/2014/main" id="{02B3D6C6-FD82-437F-B17D-0C2DE10135F9}"/>
              </a:ext>
            </a:extLst>
          </p:cNvPr>
          <p:cNvSpPr>
            <a:spLocks xmlns:a="http://schemas.openxmlformats.org/drawingml/2006/main" noGrp="1"/>
          </p:cNvSpPr>
          <p:nvPr/>
        </p:nvSpPr>
        <p:spPr>
          <a:xfrm xmlns:a="http://schemas.openxmlformats.org/drawingml/2006/main">
            <a:off x="2629242" y="11925300"/>
            <a:ext cx="20195629"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26573"/>
                </a:solidFill>
                <a:latin typeface="맑은 고딕"/>
                <a:ea typeface="맑은 고딕"/>
                <a:cs typeface="맑은 고딕"/>
              </a:defRPr>
            </a:pPr>
            <a:r>
              <a:rPr sz="1950" b="0">
                <a:solidFill>
                  <a:srgbClr val="526573"/>
                </a:solidFill>
                <a:latin typeface="맑은 고딕"/>
                <a:ea typeface="맑은 고딕"/>
                <a:cs typeface="맑은 고딕"/>
              </a:rPr>
              <a:t>앞으로도 실제 질문으로 확인하고, 부족한 부분을 하나씩 보완하며 실무에 활용하겠습니다.</a:t>
            </a:r>
          </a:p>
        </p:txBody>
      </p:sp>
    </p:spTree>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CF83537-27C5-A698-3194-A99654D56394}"/>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6400" b="1">
                <a:solidFill>
                  <a:srgbClr val="0E2841"/>
                </a:solidFill>
                <a:latin typeface="맑은 고딕"/>
                <a:ea typeface="맑은 고딕"/>
                <a:cs typeface="맑은 고딕"/>
              </a:rPr>
              <a:t>감사합니다</a:t>
            </a:r>
            <a:endParaRPr sz="11500" b="1">
              <a:latin typeface="Pretendard"/>
              <a:ea typeface="Pretendard"/>
              <a:cs typeface="Pretendard"/>
            </a:endParaRPr>
          </a:p>
        </p:txBody>
      </p:sp>
      <p:sp>
        <p:nvSpPr>
          <p:cNvPr id="3" name="TextBox 2">
            <a:extLst xmlns:a="http://schemas.openxmlformats.org/drawingml/2006/main">
              <a:ext uri="{FF2B5EF4-FFF2-40B4-BE49-F238E27FC236}">
                <a16:creationId xmlns:a16="http://schemas.microsoft.com/office/drawing/2014/main" id="{5EF83B6C-9488-438D-AF6A-676C75304AD2}"/>
              </a:ext>
            </a:extLst>
          </p:cNvPr>
          <p:cNvSpPr>
            <a:spLocks xmlns:a="http://schemas.openxmlformats.org/drawingml/2006/main" noGrp="1"/>
          </p:cNvSpPr>
          <p:nvPr/>
        </p:nvSpPr>
        <p:spPr>
          <a:xfrm xmlns:a="http://schemas.openxmlformats.org/drawingml/2006/main">
            <a:off x="0" y="8412480"/>
            <a:ext cx="2438704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spcBef>
                <a:spcPts val="0"/>
              </a:spcBef>
              <a:spcAft>
                <a:spcPts val="0"/>
              </a:spcAft>
              <a:buNone/>
            </a:pPr>
            <a:r>
              <a:rPr sz="3200" b="0">
                <a:solidFill>
                  <a:srgbClr val="1B3D5B"/>
                </a:solidFill>
                <a:latin typeface="맑은 고딕"/>
                <a:ea typeface="맑은 고딕"/>
                <a:cs typeface="맑은 고딕"/>
              </a:rPr>
              <a:t>Q &amp; A</a:t>
            </a:r>
          </a:p>
        </p:txBody>
      </p:sp>
    </p:spTree>
  </p:cSld>
</p:sld>
</file>

<file path=ppt/theme/theme1.xml><?xml version="1.0" encoding="utf-8"?>
<a:theme xmlns:a="http://schemas.openxmlformats.org/drawingml/2006/main" name="디자인 사용자 지정">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2026-09-13T10:55:56.5570000Z</dcterms:created>
  <dcterms:modified xsi:type="dcterms:W3CDTF">2026-09-13T10:55:56.5570000Z</dcterms:modified>
</coreProperties>
</file>