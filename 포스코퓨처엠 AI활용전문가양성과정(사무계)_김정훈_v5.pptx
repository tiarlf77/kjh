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개선 전 (VECTOR_WEIGHT 0.5)</c:v>
                </c:pt>
              </c:strCache>
            </c:strRef>
          </c:tx>
          <c:spPr>
            <a:solidFill>
              <a:srgbClr val="9CA3AF"/>
            </a:solidFill>
            <a:effectLst/>
          </c:spPr>
          <c:invertIfNegative val="0"/>
          <c:dLbls>
            <c:numFmt formatCode="0.0&quot;%&quot;" sourceLinked="0"/>
            <c:txPr>
              <a:bodyPr/>
              <a:lstStyle/>
              <a:p>
                <a:pPr>
                  <a:defRPr b="0" i="0" strike="noStrike" sz="1200" u="none">
                    <a:solidFill>
                      <a:srgbClr val="0F2B46"/>
                    </a:solidFill>
                    <a:latin typeface="맑은 고딕"/>
                  </a:defRPr>
                </a:pPr>
              </a:p>
            </c:txPr>
            <c:showLegendKey val="0"/>
            <c:showVal val="1"/>
            <c:showCatName val="0"/>
            <c:showSerName val="0"/>
            <c:showPercent val="0"/>
            <c:showBubbleSize val="0"/>
            <c:showLeaderLines val="0"/>
          </c:dLbls>
          <c:cat>
            <c:multiLvlStrRef>
              <c:f>Sheet1!$A$2:$A$2</c:f>
              <c:multiLvlStrCache>
                <c:ptCount val="1"/>
                <c:lvl>
                  <c:pt idx="0">
                    <c:v>1순위 정답률</c:v>
                  </c:pt>
                </c:lvl>
              </c:multiLvlStrCache>
            </c:multiLvlStrRef>
          </c:cat>
          <c:val>
            <c:numRef>
              <c:f>Sheet1!$B$2:$B$2</c:f>
              <c:numCache>
                <c:formatCode>General</c:formatCode>
                <c:ptCount val="1"/>
                <c:pt idx="0">
                  <c:v>45.5</c:v>
                </c:pt>
              </c:numCache>
            </c:numRef>
          </c:val>
        </c:ser>
        <c:ser>
          <c:idx val="1"/>
          <c:order val="1"/>
          <c:tx>
            <c:strRef>
              <c:f>Sheet1!$C$1</c:f>
              <c:strCache>
                <c:ptCount val="1"/>
                <c:pt idx="0">
                  <c:v>개선 후 (VECTOR_WEIGHT 0.8)</c:v>
                </c:pt>
              </c:strCache>
            </c:strRef>
          </c:tx>
          <c:spPr>
            <a:solidFill>
              <a:srgbClr val="0F9B8E"/>
            </a:solidFill>
            <a:effectLst/>
          </c:spPr>
          <c:invertIfNegative val="0"/>
          <c:dLbls>
            <c:numFmt formatCode="0.0&quot;%&quot;" sourceLinked="0"/>
            <c:txPr>
              <a:bodyPr/>
              <a:lstStyle/>
              <a:p>
                <a:pPr>
                  <a:defRPr b="0" i="0" strike="noStrike" sz="1200" u="none">
                    <a:solidFill>
                      <a:srgbClr val="0F2B46"/>
                    </a:solidFill>
                    <a:latin typeface="맑은 고딕"/>
                  </a:defRPr>
                </a:pPr>
              </a:p>
            </c:txPr>
            <c:showLegendKey val="0"/>
            <c:showVal val="1"/>
            <c:showCatName val="0"/>
            <c:showSerName val="0"/>
            <c:showPercent val="0"/>
            <c:showBubbleSize val="0"/>
            <c:showLeaderLines val="0"/>
          </c:dLbls>
          <c:cat>
            <c:multiLvlStrRef>
              <c:f>Sheet1!$A$2:$A$2</c:f>
              <c:multiLvlStrCache>
                <c:ptCount val="1"/>
                <c:lvl>
                  <c:pt idx="0">
                    <c:v>1순위 정답률</c:v>
                  </c:pt>
                </c:lvl>
              </c:multiLvlStrCache>
            </c:multiLvlStrRef>
          </c:cat>
          <c:val>
            <c:numRef>
              <c:f>Sheet1!$C$2:$C$2</c:f>
              <c:numCache>
                <c:formatCode>General</c:formatCode>
                <c:ptCount val="1"/>
                <c:pt idx="0">
                  <c:v>63.6</c:v>
                </c:pt>
              </c:numCache>
            </c:numRef>
          </c:val>
        </c:ser>
        <c:dLbls>
          <c:numFmt formatCode="0.0&quot;%&quot;" sourceLinked="0"/>
          <c:txPr>
            <a:bodyPr/>
            <a:lstStyle/>
            <a:p>
              <a:pPr>
                <a:defRPr b="0" i="0" strike="noStrike" sz="1200" u="none">
                  <a:solidFill>
                    <a:srgbClr val="0F2B46"/>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맑은 고딕"/>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12700" cap="flat">
              <a:solidFill>
                <a:srgbClr val="EEEE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9CA3AF"/>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6B7280"/>
              </a:solidFill>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RAG 기반 사내 복리후생 통합 상담 에이전트를 소개하겠습니다. 출장비, 경조금, 숙소지원금, 동호회 네 개 제도를 대상으로 했고, 가장 중요하게 생각한 것은 "이 답변이 어떤 조항에 근거했는가"를 항상 함께 보여주는 것이었습니다.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세 부분으로 진행하겠습니다. 먼저 어떤 문제를 풀려고 했는지, 다음으로 그것을 어떻게 만들었는지, 마지막으로 실제로 어떻게 동작하고 무엇을 배웠는지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개선하려 한 업무는 복리후생 문의 응대입니다. 대상은 출장·여비, 경조금, 숙소지원금, 동호회 네 개 제도이고, 규정 문서로는 여섯 개, 조항 단위로 쪼개면 백서른다섯 개입니다.
규모를 말씀드리면, 월평균 백오십 건 정도의 문의가 들어오고 한 건을 처리하는 데 규정 확인부터 회신까지 평균 십이 분 정도가 걸립니다. 연간으로 환산하면 삼백칠십오 시간, 근무일로는 마흔일곱 일입니다. 하루로 나누면 하루 평균 한 시간 삼십 분을 복리후생 문의 응대에 쓰고 있다는 뜻입니다. 그리고 그중 70퍼센트, 하루 한 시간 정도는 규정만 확인하면 답이 나오는 문의입니다.
직원 입장에서도 시간이 듭니다. 문의를 보내고 답을 받기까지 한 시간에서 반나절이 걸립니다. 평소에는 괜찮지만, 경조사가 생겼거나 출장 출발 직전처럼 당일에 확인해야 하는 상황에서는 이 대기가 실제 차질로 이어집니다.
왜 이런 시간이 드느냐면, 질문 하나의 답이 조항 하나에 들어 있지 않기 때문입니다. 출산지원금을 예로 들면 지급 대상은 한 조항에, 금액은 별첨 표에, 신청 기한과 필요 서류는 또 다른 조항에 나뉘어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문제가 왜 중요한지는 실제 사례로 말씀드리는 게 가장 정확할 것 같습니다. 표의 네 가지는 모두 개발 과정에서 잡아낸 실제 오답입니다. 자택이 있는 지역으로 파견 가는 경우는 파견비 지급 제외 대상인데 지급된다고 안내될 뻔했고, 출산지원금은 금액이 별도 표에 있어서 금액만 쏙 빠진 답이 나왔습니다. 삼촌상처럼 해석이 갈리는 호칭도 기준을 잘못 잡았습니다. 중요한 건 네 경우 모두 규정 원문에는 답이 분명히 있었다는 점입니다. 조항을 잘못 찾거나 예외를 놓쳐서 틀린 겁니다. 그리고 이건 사람이 응대해도 똑같이 나는 실수입니다. 그래서 누가 답하느냐가 아니라, 근거를 어떻게 찾느냐를 풀어야 한다고 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문제를 이렇게 정의했습니다. 이건 말을 잘 만드는 문제가 아니라, 근거를 정확히 찾는 문제다. 앞의 사례들이 전부 검색 실패였기 때문입니다. 이 관점에서 세 가지 원칙을 세웠습니다. 첫째, 검색된 조항에 없는 내용은 만들지 않는다. 둘째, 확신이 없으면 단정하지 않고 되묻거나 담당자에게 넘긴다. 셋째, 한 번 고친 것이 다른 수정 때문에 다시 깨지지 않는지 매번 숫자로 확인한다. 대상 제도를 네 개로 정한 이유는 문의가 잦고, 조항이 잘게 나뉘어 있으면서, 규정 원문을 확보할 수 있어 정답을 대조할 수 있는 영역부터 검증하기 위해서였습니다.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구현은 네 단계로 나눴습니다. 첫째, 질문 다시 쓰기입니다. "해외출장입니다" 같은 짧은 답변은 그것만 보면 무슨 말인지 알 수 없으니, 앞 대화를 반영해서 혼자서도 뜻이 통하는 문장으로 정리합니다. 둘째, 규정 검색입니다. 백서른다섯 개 조항 중에서 관련 조항을 찾습니다. 셋째가 가장 중요하게 생각한 단계인데, 근거 판정입니다. 답을 만들기 전에 "지금 찾은 조항으로 답할 수 있는가"를 먼저 판단합니다. 넷째가 답변 생성입니다. 판정을 통과한 조항만 써서 답을 만들고, 실제로 사용한 조항만 화면에 링크로 보여줍니다. 근거가 부족하면 답을 만들지 않고 되묻거나, 규정 범위를 벗어나면 담당자 문의 초안을 대신 만들어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사용한 기술입니다. 전체 로직은 파이썬 파일 하나에 담았습니다. 파일을 나누면 오히려 흐름을 따라가기 어려워져서, 한 파일 안에서 단계별 함수로 나눴습니다. 단계 연결에는 랭그래프를 썼는데, 단계를 나눠 두면 문제가 생긴 단계만 따로 고치고 측정할 수 있기 때문입니다. 검색은 키워드 검색과 의미 검색을 함께 씁니다. 키워드 검색은 파견비 같은 정확한 용어를 놓치지 않는 대신 표현이 다르면 못 찾고, 의미 검색은 환갑으로 물어도 회갑 조항을 찾아내는 대신 고유 용어에서 엉뚱한 조항을 올리기도 합니다. 그래서 두 점수를 합쳐 쓰고, 그 비율은 감이 아니라 직접 측정해서 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서비스는 교육 과정의 순서를 그대로 따라가며 만들었습니다. 1주차에 배운 API 키 관리와 환경변수로 보안을 챙겼고, 2주차에 배운 RAG와 랭그래프로 규정 여섯 개를 백서른다섯 개 조항으로 쪼개 검색하는 구조를 만들었습니다. 3주차에는 재작성, 검색, 판정, 생성으로 역할을 나눴는데, 특히 판정을 따로 둔 것이 핵심이었습니다. 생성 모델에게 "모르면 말하지 마"라고 지시하는 것보다, 아예 답을 만들기 전에 멈추는 구조로 막는 편이 훨씬 안정적이었기 때문입니다. 4주차에는 대표 질문 예순두 개로 검색 품질을 수치로 재는 방법을 만들고, 그 결과를 반영해 웹 화면까지 완성했습니다.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좋아 보였던 최적화가 실제로는 반대 결과를 낸 경우가 세 번 있었습니다. 첫째, 질문에 나온 단어로 제도를 미리 골라내려 했는데, "출장 가면 숙소는 회사가 잡아주나요"라는 질문이 숙소라는 단어 때문에 숙소지원금 규정에 갇혀버렸습니다. 실제 답은 출장 규정에 있었습니다. 둘째, 이전 대화를 이어갈지를 단어로 판단하려 했는데 양쪽 방향 모두에서 틀렸습니다. 셋째, 자주 나오는 답을 고정 문구로 저장했더니, 재부임 예외를 모른 채 신규 부임 기준을 단정해 버렸습니다. 세 경우의 공통점은 미리 좁혀서 빠르게 가려는 시도였고, 전부 손해였습니다. 더 큰 문제는 틀려도 조용히 틀린다는 점이었습니다. 그래서 지금은 모든 질문이 같은 검색과 판정 경로를 지나갑니다.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멘토링에서 받은 지적이 이 프로젝트의 방향을 크게 바꿨습니다. 규정 파일을 텍스트에서 마크다운으로 바꾼 결과를 검토받는 자리에서, 청킹이 최상위 제목 단위로만 동작해서 하위 계층이 반영되지 않는다는 지적을 받았습니다. 청크가 계층 맥락을 잃으면 엉뚱한 문맥에 매칭될 수 있다는 것이었습니다. 그래서 청킹을 제목 깊이 기준으로 다시 설계하고, 파일부터 조항까지의 경로를 메타데이터로 붙였습니다. 이 방식을 나머지 규정에도 적용해 여섯 개 문서를 같은 구조로 통일했고, 경로가 검색에 실제로 기여하는지 마흔네 문항으로 재측정했습니다. 그 결과 1순위 정확도가 45.5%에서 63.6%로 올랐습니다. 저에게 가장 큰 변화는, 전처리를 단순한 포맷 변환이 아니라 검색 품질을 결정하는 설계로 보게 된 점이었습니다.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화면으로 보여드리겠습니다. 해외출장을 가는데 본가가 수도권이라 금요일에 미리 올라가 주말을 보내고 월요일에 공항으로 가는 일정이고, 그 교통비를 출장비로 정산할 수 있는지 묻는 상황입니다. 실제 담당자에게 오는 메일과 비슷한 형태의 질문입니다.
첫 답변을 보시면, 택시 이용은 예외적으로 가능하다고 안내하면서도 국내출장의 사전 개인 이동과 KTX, 공항버스 정산 기준은 근거에 직접 제시되어 있지 않다고 말합니다. 모르는 것을 지어내지 않고 없다고 말한 겁니다. 대신 확인이 필요한 내용 세 가지를 되묻습니다. 출장 목적, 출장 승인 일정, 그리고 9월 11일 사전 이동 승인 여부입니다.
여기서 제가 해외출장입니다 다섯 글자만 입력해 보겠습니다. 답변이 바뀝니다. 국외여비 규정에서 부득이하게 전일 이동하는 경우 국내여비 기준으로 교통비를 정산할 수 있다는 조항을 찾아냈습니다. 몰랐을 땐 없다고 했고, 알려주자 찾아낸 겁니다. 그리고 되물을 항목도 세 가지에서 두 가지로 줄었습니다. 출장 목적이 해소됐기 때문입니다. 짧은 한마디였지만 앞 대화의 9월 11일, 14일 일정을 그대로 유지한 채 이어서 판단한 결과입니다.
마지막으로 아래 확인한 규정을 봐 주십시오. 내부적으로 검토한 조항은 열일곱 개지만, 화면에는 파일 단위로 정리해 두 개만 표시됩니다. 질문에 이동이나 주말 같은 단어가 있어도 숙소지원금 규정은 딸려오지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효과는 두 가지로 말씀드리겠습니다. 먼저 검색 품질입니다. 가중치를 마흔네 문항으로 다시 측정해서 조정한 결과, 첫 번째로 제시한 조항이 정답인 비율이 45.5%에서 63.6%로 올랐습니다. 상위 세 개까지 보면 81.8%, 다섯 개까지 보면 90.9%입니다. 백서른다섯 개 조항 중에서 다섯 개로 좁혀진다는 뜻입니다. 오른쪽 표에는 업무량과 속도, 검증 규모를 함께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앞서 말씀드린 연간 삼백칠십오 시간 중에서, 규정만 확인하면 답이 나오는 이백육십삼 시간, 근무일로 서른세 일이 이 서비스가 1차로 맡을 수 있는 범위입니다. 여기서 강조하고 싶은 것은 이 시간이 사라지는 게 아니라 옮겨진다는 점입니다. 직원은 기다리지 않고 스스로 확인하고, 담당자는 남은 백열두 시간, 즉 정말 판단이 필요한 예외 사례에 집중하게 됩니다. 다만 실제 절감률은 파일럿으로 운영해 봐야 알 수 있습니다.
남은 과제도 분명합니다. 국내여비기준표가 상위 조항에 흡수돼 검색으로 도달하지 않는 문제가 있고, 실제 상담 로그가 숙소지원금 영역에만 있어 나머지 세 제도는 실사용 검증이 부족합니다. 이건 숨길 게 아니라 다음 작업 목록이라고 생각합니다.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회고입니다. 세 가지를 배웠습니다. 첫째, 좋은 답변보다 좋은 근거가 먼저라는 것. 프롬프트를 다듬는 것보다 답의 재료를 정확히 찾아주는 것이 결과를 훨씬 크게 바꿨습니다. 둘째, 지시보다 구조로 막아야 한다는 것. 셋째, 미리 좁히는 최적화는 대부분 손해였다는 것입니다. 한 달 동안 가장 크게 배운 점은, 모델을 호출하는 것과 실제 업무에 쓸 시스템을 설계하는 것은 완전히 다른 일이라는 점이었습니다. 데이터 준비부터 검색, 평가, 운영 원칙까지 하나로 연결돼야 비로소 업무에 쓸 수 있다는 것을 확인했습니다. 앞으로는 규정 원본과 담당 기준을 확정한 뒤 파일럿으로 운영하면서, 실제 문의 로그로 평가셋을 넓혀갈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왜 이 문제를 풀려고 했는지, 어떻게 만들었는지, 그리고 무엇을 배웠는지 말씀드렸습니다. 궁금하신 점 편하게 질문해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46"/>
        </a:solidFill>
      </p:bgPr>
    </p:bg>
    <p:spTree>
      <p:nvGrpSpPr>
        <p:cNvPr id="1" name=""/>
        <p:cNvGrpSpPr/>
        <p:nvPr/>
      </p:nvGrpSpPr>
      <p:grpSpPr>
        <a:xfrm>
          <a:off x="0" y="0"/>
          <a:ext cx="0" cy="0"/>
          <a:chOff x="0" y="0"/>
          <a:chExt cx="0" cy="0"/>
        </a:xfrm>
      </p:grpSpPr>
      <p:sp>
        <p:nvSpPr>
          <p:cNvPr id="2" name="Shape 0"/>
          <p:cNvSpPr/>
          <p:nvPr/>
        </p:nvSpPr>
        <p:spPr>
          <a:xfrm>
            <a:off x="8778240" y="-1371600"/>
            <a:ext cx="5120640" cy="5120640"/>
          </a:xfrm>
          <a:prstGeom prst="ellipse">
            <a:avLst/>
          </a:prstGeom>
          <a:solidFill>
            <a:srgbClr val="1B3F63"/>
          </a:solidFill>
          <a:ln w="12700">
            <a:solidFill>
              <a:srgbClr val="1B3F63"/>
            </a:solidFill>
            <a:prstDash val="solid"/>
          </a:ln>
        </p:spPr>
      </p:sp>
      <p:sp>
        <p:nvSpPr>
          <p:cNvPr id="3" name="Shape 1"/>
          <p:cNvSpPr/>
          <p:nvPr/>
        </p:nvSpPr>
        <p:spPr>
          <a:xfrm>
            <a:off x="10241280" y="4023360"/>
            <a:ext cx="3108960" cy="3108960"/>
          </a:xfrm>
          <a:prstGeom prst="ellipse">
            <a:avLst/>
          </a:prstGeom>
          <a:solidFill>
            <a:srgbClr val="16496F"/>
          </a:solidFill>
          <a:ln w="12700">
            <a:solidFill>
              <a:srgbClr val="16496F"/>
            </a:solidFill>
            <a:prstDash val="solid"/>
          </a:ln>
        </p:spPr>
      </p:sp>
      <p:sp>
        <p:nvSpPr>
          <p:cNvPr id="4" name="Text 2"/>
          <p:cNvSpPr txBox="1"/>
          <p:nvPr/>
        </p:nvSpPr>
        <p:spPr>
          <a:xfrm>
            <a:off x="502920" y="502920"/>
            <a:ext cx="6400800" cy="274320"/>
          </a:xfrm>
          <a:prstGeom prst="rect">
            <a:avLst/>
          </a:prstGeom>
          <a:noFill/>
          <a:ln/>
        </p:spPr>
        <p:txBody>
          <a:bodyPr wrap="square" lIns="0" tIns="0" rIns="0" bIns="0" rtlCol="0" anchor="ctr"/>
          <a:lstStyle/>
          <a:p>
            <a:pPr indent="0" marL="0">
              <a:buNone/>
            </a:pPr>
            <a:r>
              <a:rPr lang="en-US" sz="1100" b="1" spc="100" kern="0" dirty="0">
                <a:solidFill>
                  <a:srgbClr val="0F9B8E"/>
                </a:solidFill>
                <a:latin typeface="맑은 고딕" pitchFamily="34" charset="0"/>
                <a:ea typeface="맑은 고딕" pitchFamily="34" charset="-122"/>
                <a:cs typeface="맑은 고딕" pitchFamily="34" charset="-120"/>
              </a:rPr>
              <a:t>POSCO GROUP  |  AI EXPERT COURSE</a:t>
            </a:r>
            <a:endParaRPr lang="en-US" sz="1100" dirty="0"/>
          </a:p>
        </p:txBody>
      </p:sp>
      <p:sp>
        <p:nvSpPr>
          <p:cNvPr id="5" name="Text 3"/>
          <p:cNvSpPr txBox="1"/>
          <p:nvPr/>
        </p:nvSpPr>
        <p:spPr>
          <a:xfrm>
            <a:off x="502920" y="1417320"/>
            <a:ext cx="7315200" cy="1463040"/>
          </a:xfrm>
          <a:prstGeom prst="rect">
            <a:avLst/>
          </a:prstGeom>
          <a:noFill/>
          <a:ln/>
        </p:spPr>
        <p:txBody>
          <a:bodyPr wrap="square" lIns="0" tIns="0" rIns="0" bIns="0" rtlCol="0" anchor="ctr"/>
          <a:lstStyle/>
          <a:p>
            <a:pPr indent="0" marL="0">
              <a:lnSpc>
                <a:spcPts val="4400"/>
              </a:lnSpc>
              <a:buNone/>
            </a:pPr>
            <a:r>
              <a:rPr lang="en-US" sz="3400" b="1" dirty="0">
                <a:solidFill>
                  <a:srgbClr val="FFFFFF"/>
                </a:solidFill>
                <a:latin typeface="맑은 고딕" pitchFamily="34" charset="0"/>
                <a:ea typeface="맑은 고딕" pitchFamily="34" charset="-122"/>
                <a:cs typeface="맑은 고딕" pitchFamily="34" charset="-120"/>
              </a:rPr>
              <a:t>RAG 기반 사내 복리후생</a:t>
            </a:r>
            <a:endParaRPr lang="en-US" sz="3400" dirty="0"/>
          </a:p>
          <a:p>
            <a:pPr indent="0" marL="0">
              <a:lnSpc>
                <a:spcPts val="4400"/>
              </a:lnSpc>
              <a:buNone/>
            </a:pPr>
            <a:r>
              <a:rPr lang="en-US" sz="3400" b="1" dirty="0">
                <a:solidFill>
                  <a:srgbClr val="FFFFFF"/>
                </a:solidFill>
                <a:latin typeface="맑은 고딕" pitchFamily="34" charset="0"/>
                <a:ea typeface="맑은 고딕" pitchFamily="34" charset="-122"/>
                <a:cs typeface="맑은 고딕" pitchFamily="34" charset="-120"/>
              </a:rPr>
              <a:t>통합 상담 및 적정성 검토 Agent</a:t>
            </a:r>
            <a:endParaRPr lang="en-US" sz="3400" dirty="0"/>
          </a:p>
        </p:txBody>
      </p:sp>
      <p:sp>
        <p:nvSpPr>
          <p:cNvPr id="6" name="Text 4"/>
          <p:cNvSpPr txBox="1"/>
          <p:nvPr/>
        </p:nvSpPr>
        <p:spPr>
          <a:xfrm>
            <a:off x="502920" y="3017520"/>
            <a:ext cx="7315200" cy="329184"/>
          </a:xfrm>
          <a:prstGeom prst="rect">
            <a:avLst/>
          </a:prstGeom>
          <a:noFill/>
          <a:ln/>
        </p:spPr>
        <p:txBody>
          <a:bodyPr wrap="square" lIns="0" tIns="0" rIns="0" bIns="0" rtlCol="0" anchor="ctr"/>
          <a:lstStyle/>
          <a:p>
            <a:pPr indent="0" marL="0">
              <a:buNone/>
            </a:pPr>
            <a:r>
              <a:rPr lang="en-US" sz="1600" dirty="0">
                <a:solidFill>
                  <a:srgbClr val="CADCFC"/>
                </a:solidFill>
                <a:latin typeface="맑은 고딕" pitchFamily="34" charset="0"/>
                <a:ea typeface="맑은 고딕" pitchFamily="34" charset="-122"/>
                <a:cs typeface="맑은 고딕" pitchFamily="34" charset="-120"/>
              </a:rPr>
              <a:t>사내 규정을 "근거와 함께" 안내하는 상담 창구</a:t>
            </a:r>
            <a:endParaRPr lang="en-US" sz="1600" dirty="0"/>
          </a:p>
        </p:txBody>
      </p:sp>
      <p:sp>
        <p:nvSpPr>
          <p:cNvPr id="7" name="Text 5"/>
          <p:cNvSpPr txBox="1"/>
          <p:nvPr/>
        </p:nvSpPr>
        <p:spPr>
          <a:xfrm>
            <a:off x="502920" y="3419856"/>
            <a:ext cx="7315200" cy="292608"/>
          </a:xfrm>
          <a:prstGeom prst="rect">
            <a:avLst/>
          </a:prstGeom>
          <a:noFill/>
          <a:ln/>
        </p:spPr>
        <p:txBody>
          <a:bodyPr wrap="square" lIns="0" tIns="0" rIns="0" bIns="0" rtlCol="0" anchor="ctr"/>
          <a:lstStyle/>
          <a:p>
            <a:pPr indent="0" marL="0">
              <a:buNone/>
            </a:pPr>
            <a:r>
              <a:rPr lang="en-US" sz="1200" i="1" dirty="0">
                <a:solidFill>
                  <a:srgbClr val="8FA9C4"/>
                </a:solidFill>
                <a:latin typeface="맑은 고딕" pitchFamily="34" charset="0"/>
                <a:ea typeface="맑은 고딕" pitchFamily="34" charset="-122"/>
                <a:cs typeface="맑은 고딕" pitchFamily="34" charset="-120"/>
              </a:rPr>
              <a:t>규정을 찾는 시간을 줄이고, 답변의 출처를 남깁니다</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4069080"/>
          <a:ext cx="7315200" cy="914400"/>
        </p:xfrm>
        <a:graphic>
          <a:graphicData uri="http://schemas.openxmlformats.org/drawingml/2006/table">
            <a:tbl>
              <a:tblPr/>
              <a:tblGrid>
                <a:gridCol w="1554480"/>
                <a:gridCol w="5760720"/>
              </a:tblGrid>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대상 제도</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출장·여비 / 경조금 / 숙소지원금 / 동호회</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지식 범위</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규정 6개 문서 · 135개 조항</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대상 업무량</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월 150건 · 연 375시간의 문의 응대</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핵심 구조</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4단계 (재작성→검색→판정→생성)</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개발 기간</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4주 (AI활용전문가 과정 연계)</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bl>
          </a:graphicData>
        </a:graphic>
      </p:graphicFrame>
      <p:sp>
        <p:nvSpPr>
          <p:cNvPr id="9" name="Text 6"/>
          <p:cNvSpPr txBox="1"/>
          <p:nvPr/>
        </p:nvSpPr>
        <p:spPr>
          <a:xfrm>
            <a:off x="502920" y="6080760"/>
            <a:ext cx="8229600" cy="274320"/>
          </a:xfrm>
          <a:prstGeom prst="rect">
            <a:avLst/>
          </a:prstGeom>
          <a:noFill/>
          <a:ln/>
        </p:spPr>
        <p:txBody>
          <a:bodyPr wrap="square" lIns="0" tIns="0" rIns="0" bIns="0" rtlCol="0" anchor="ctr"/>
          <a:lstStyle/>
          <a:p>
            <a:pPr indent="0" marL="0">
              <a:buNone/>
            </a:pPr>
            <a:r>
              <a:rPr lang="en-US" sz="1100" dirty="0">
                <a:solidFill>
                  <a:srgbClr val="8FA9C4"/>
                </a:solidFill>
                <a:latin typeface="맑은 고딕" pitchFamily="34" charset="0"/>
                <a:ea typeface="맑은 고딕" pitchFamily="34" charset="-122"/>
                <a:cs typeface="맑은 고딕" pitchFamily="34" charset="-120"/>
              </a:rPr>
              <a:t>AI활용전문가 양성과정(사무계)  |  포스코퓨처엠 김정훈  |  2026. 09. 16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685800"/>
            <a:ext cx="5486400" cy="822960"/>
          </a:xfrm>
          <a:prstGeom prst="rect">
            <a:avLst/>
          </a:prstGeom>
          <a:noFill/>
          <a:ln/>
        </p:spPr>
        <p:txBody>
          <a:bodyPr wrap="square" lIns="0" tIns="0" rIns="0" bIns="0" rtlCol="0" anchor="ctr"/>
          <a:lstStyle/>
          <a:p>
            <a:pPr indent="0" marL="0">
              <a:buNone/>
            </a:pPr>
            <a:r>
              <a:rPr lang="en-US" sz="4000" b="1" dirty="0">
                <a:solidFill>
                  <a:srgbClr val="0F2B46"/>
                </a:solidFill>
                <a:latin typeface="맑은 고딕" pitchFamily="34" charset="0"/>
                <a:ea typeface="맑은 고딕" pitchFamily="34" charset="-122"/>
                <a:cs typeface="맑은 고딕" pitchFamily="34" charset="-120"/>
              </a:rPr>
              <a:t>CONTENTS</a:t>
            </a:r>
            <a:endParaRPr lang="en-US" sz="4000" dirty="0"/>
          </a:p>
        </p:txBody>
      </p:sp>
      <p:sp>
        <p:nvSpPr>
          <p:cNvPr id="3" name="Text 1"/>
          <p:cNvSpPr txBox="1"/>
          <p:nvPr/>
        </p:nvSpPr>
        <p:spPr>
          <a:xfrm>
            <a:off x="502920" y="1481328"/>
            <a:ext cx="5486400" cy="274320"/>
          </a:xfrm>
          <a:prstGeom prst="rect">
            <a:avLst/>
          </a:prstGeom>
          <a:noFill/>
          <a:ln/>
        </p:spPr>
        <p:txBody>
          <a:bodyPr wrap="square" lIns="0" tIns="0" rIns="0" bIns="0" rtlCol="0" anchor="ctr"/>
          <a:lstStyle/>
          <a:p>
            <a:pPr indent="0" marL="0">
              <a:buNone/>
            </a:pPr>
            <a:r>
              <a:rPr lang="en-US" sz="1200" dirty="0">
                <a:solidFill>
                  <a:srgbClr val="6B7280"/>
                </a:solidFill>
                <a:latin typeface="맑은 고딕" pitchFamily="34" charset="0"/>
                <a:ea typeface="맑은 고딕" pitchFamily="34" charset="-122"/>
                <a:cs typeface="맑은 고딕" pitchFamily="34" charset="-120"/>
              </a:rPr>
              <a:t>발표 구성</a:t>
            </a:r>
            <a:endParaRPr lang="en-US" sz="1200" dirty="0"/>
          </a:p>
        </p:txBody>
      </p:sp>
      <p:sp>
        <p:nvSpPr>
          <p:cNvPr id="4" name="Shape 2"/>
          <p:cNvSpPr/>
          <p:nvPr/>
        </p:nvSpPr>
        <p:spPr>
          <a:xfrm>
            <a:off x="502920" y="2148840"/>
            <a:ext cx="11183112" cy="1005840"/>
          </a:xfrm>
          <a:prstGeom prst="roundRect">
            <a:avLst>
              <a:gd name="adj" fmla="val 7273"/>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5" name="Shape 3"/>
          <p:cNvSpPr/>
          <p:nvPr/>
        </p:nvSpPr>
        <p:spPr>
          <a:xfrm>
            <a:off x="795528" y="2377440"/>
            <a:ext cx="548640" cy="548640"/>
          </a:xfrm>
          <a:prstGeom prst="ellipse">
            <a:avLst/>
          </a:prstGeom>
          <a:solidFill>
            <a:srgbClr val="0F9B8E"/>
          </a:solidFill>
          <a:ln w="12700">
            <a:solidFill>
              <a:srgbClr val="0F9B8E"/>
            </a:solidFill>
            <a:prstDash val="solid"/>
          </a:ln>
        </p:spPr>
      </p:sp>
      <p:sp>
        <p:nvSpPr>
          <p:cNvPr id="6" name="Text 4"/>
          <p:cNvSpPr txBox="1"/>
          <p:nvPr/>
        </p:nvSpPr>
        <p:spPr>
          <a:xfrm>
            <a:off x="795528" y="2377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01</a:t>
            </a:r>
            <a:endParaRPr lang="en-US" sz="1600" dirty="0"/>
          </a:p>
        </p:txBody>
      </p:sp>
      <p:sp>
        <p:nvSpPr>
          <p:cNvPr id="7" name="Text 5"/>
          <p:cNvSpPr txBox="1"/>
          <p:nvPr/>
        </p:nvSpPr>
        <p:spPr>
          <a:xfrm>
            <a:off x="1554480" y="2331720"/>
            <a:ext cx="3657600" cy="347472"/>
          </a:xfrm>
          <a:prstGeom prst="rect">
            <a:avLst/>
          </a:prstGeom>
          <a:noFill/>
          <a:ln/>
        </p:spPr>
        <p:txBody>
          <a:bodyPr wrap="square" lIns="0" tIns="0" rIns="0" bIns="0" rtlCol="0" anchor="ctr"/>
          <a:lstStyle/>
          <a:p>
            <a:pPr indent="0" marL="0">
              <a:buNone/>
            </a:pPr>
            <a:r>
              <a:rPr lang="en-US" sz="1700" b="1" dirty="0">
                <a:solidFill>
                  <a:srgbClr val="0F2B46"/>
                </a:solidFill>
                <a:latin typeface="맑은 고딕" pitchFamily="34" charset="0"/>
                <a:ea typeface="맑은 고딕" pitchFamily="34" charset="-122"/>
                <a:cs typeface="맑은 고딕" pitchFamily="34" charset="-120"/>
              </a:rPr>
              <a:t>문제 정의</a:t>
            </a:r>
            <a:endParaRPr lang="en-US" sz="1700" dirty="0"/>
          </a:p>
        </p:txBody>
      </p:sp>
      <p:sp>
        <p:nvSpPr>
          <p:cNvPr id="8" name="Text 6"/>
          <p:cNvSpPr txBox="1"/>
          <p:nvPr/>
        </p:nvSpPr>
        <p:spPr>
          <a:xfrm>
            <a:off x="5349240" y="2295144"/>
            <a:ext cx="6035040" cy="713232"/>
          </a:xfrm>
          <a:prstGeom prst="rect">
            <a:avLst/>
          </a:prstGeom>
          <a:noFill/>
          <a:ln/>
        </p:spPr>
        <p:txBody>
          <a:bodyPr wrap="square" lIns="0" tIns="0" rIns="0" bIns="0" rtlCol="0" anchor="ctr"/>
          <a:lstStyle/>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복리후생 문의가 왜 사람에게도 어려운 일인지,</a:t>
            </a:r>
            <a:endParaRPr lang="en-US" sz="1150" dirty="0"/>
          </a:p>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실제 오답 사례와 업무량 수치로 확인합니다</a:t>
            </a:r>
            <a:endParaRPr lang="en-US" sz="1150" dirty="0"/>
          </a:p>
        </p:txBody>
      </p:sp>
      <p:sp>
        <p:nvSpPr>
          <p:cNvPr id="9" name="Shape 7"/>
          <p:cNvSpPr/>
          <p:nvPr/>
        </p:nvSpPr>
        <p:spPr>
          <a:xfrm>
            <a:off x="502920" y="3319272"/>
            <a:ext cx="11183112" cy="1005840"/>
          </a:xfrm>
          <a:prstGeom prst="roundRect">
            <a:avLst>
              <a:gd name="adj" fmla="val 7273"/>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0" name="Shape 8"/>
          <p:cNvSpPr/>
          <p:nvPr/>
        </p:nvSpPr>
        <p:spPr>
          <a:xfrm>
            <a:off x="795528" y="3547872"/>
            <a:ext cx="548640" cy="548640"/>
          </a:xfrm>
          <a:prstGeom prst="ellipse">
            <a:avLst/>
          </a:prstGeom>
          <a:solidFill>
            <a:srgbClr val="0F9B8E"/>
          </a:solidFill>
          <a:ln w="12700">
            <a:solidFill>
              <a:srgbClr val="0F9B8E"/>
            </a:solidFill>
            <a:prstDash val="solid"/>
          </a:ln>
        </p:spPr>
      </p:sp>
      <p:sp>
        <p:nvSpPr>
          <p:cNvPr id="11" name="Text 9"/>
          <p:cNvSpPr txBox="1"/>
          <p:nvPr/>
        </p:nvSpPr>
        <p:spPr>
          <a:xfrm>
            <a:off x="795528" y="354787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02</a:t>
            </a:r>
            <a:endParaRPr lang="en-US" sz="1600" dirty="0"/>
          </a:p>
        </p:txBody>
      </p:sp>
      <p:sp>
        <p:nvSpPr>
          <p:cNvPr id="12" name="Text 10"/>
          <p:cNvSpPr txBox="1"/>
          <p:nvPr/>
        </p:nvSpPr>
        <p:spPr>
          <a:xfrm>
            <a:off x="1554480" y="3502152"/>
            <a:ext cx="3657600" cy="347472"/>
          </a:xfrm>
          <a:prstGeom prst="rect">
            <a:avLst/>
          </a:prstGeom>
          <a:noFill/>
          <a:ln/>
        </p:spPr>
        <p:txBody>
          <a:bodyPr wrap="square" lIns="0" tIns="0" rIns="0" bIns="0" rtlCol="0" anchor="ctr"/>
          <a:lstStyle/>
          <a:p>
            <a:pPr indent="0" marL="0">
              <a:buNone/>
            </a:pPr>
            <a:r>
              <a:rPr lang="en-US" sz="1700" b="1" dirty="0">
                <a:solidFill>
                  <a:srgbClr val="0F2B46"/>
                </a:solidFill>
                <a:latin typeface="맑은 고딕" pitchFamily="34" charset="0"/>
                <a:ea typeface="맑은 고딕" pitchFamily="34" charset="-122"/>
                <a:cs typeface="맑은 고딕" pitchFamily="34" charset="-120"/>
              </a:rPr>
              <a:t>주요 기능 및 구현 내용</a:t>
            </a:r>
            <a:endParaRPr lang="en-US" sz="1700" dirty="0"/>
          </a:p>
        </p:txBody>
      </p:sp>
      <p:sp>
        <p:nvSpPr>
          <p:cNvPr id="13" name="Text 11"/>
          <p:cNvSpPr txBox="1"/>
          <p:nvPr/>
        </p:nvSpPr>
        <p:spPr>
          <a:xfrm>
            <a:off x="5349240" y="3465576"/>
            <a:ext cx="6035040" cy="713232"/>
          </a:xfrm>
          <a:prstGeom prst="rect">
            <a:avLst/>
          </a:prstGeom>
          <a:noFill/>
          <a:ln/>
        </p:spPr>
        <p:txBody>
          <a:bodyPr wrap="square" lIns="0" tIns="0" rIns="0" bIns="0" rtlCol="0" anchor="ctr"/>
          <a:lstStyle/>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4단계 처리 흐름, 사용 기술,</a:t>
            </a:r>
            <a:endParaRPr lang="en-US" sz="1150" dirty="0"/>
          </a:p>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교육 내용과의 연결, 멘토링 반영 과정</a:t>
            </a:r>
            <a:endParaRPr lang="en-US" sz="1150" dirty="0"/>
          </a:p>
        </p:txBody>
      </p:sp>
      <p:sp>
        <p:nvSpPr>
          <p:cNvPr id="14" name="Shape 12"/>
          <p:cNvSpPr/>
          <p:nvPr/>
        </p:nvSpPr>
        <p:spPr>
          <a:xfrm>
            <a:off x="502920" y="4489704"/>
            <a:ext cx="11183112" cy="1005840"/>
          </a:xfrm>
          <a:prstGeom prst="roundRect">
            <a:avLst>
              <a:gd name="adj" fmla="val 7273"/>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5" name="Shape 13"/>
          <p:cNvSpPr/>
          <p:nvPr/>
        </p:nvSpPr>
        <p:spPr>
          <a:xfrm>
            <a:off x="795528" y="4718304"/>
            <a:ext cx="548640" cy="548640"/>
          </a:xfrm>
          <a:prstGeom prst="ellipse">
            <a:avLst/>
          </a:prstGeom>
          <a:solidFill>
            <a:srgbClr val="0F9B8E"/>
          </a:solidFill>
          <a:ln w="12700">
            <a:solidFill>
              <a:srgbClr val="0F9B8E"/>
            </a:solidFill>
            <a:prstDash val="solid"/>
          </a:ln>
        </p:spPr>
      </p:sp>
      <p:sp>
        <p:nvSpPr>
          <p:cNvPr id="16" name="Text 14"/>
          <p:cNvSpPr txBox="1"/>
          <p:nvPr/>
        </p:nvSpPr>
        <p:spPr>
          <a:xfrm>
            <a:off x="795528" y="471830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03</a:t>
            </a:r>
            <a:endParaRPr lang="en-US" sz="1600" dirty="0"/>
          </a:p>
        </p:txBody>
      </p:sp>
      <p:sp>
        <p:nvSpPr>
          <p:cNvPr id="17" name="Text 15"/>
          <p:cNvSpPr txBox="1"/>
          <p:nvPr/>
        </p:nvSpPr>
        <p:spPr>
          <a:xfrm>
            <a:off x="1554480" y="4672584"/>
            <a:ext cx="3657600" cy="347472"/>
          </a:xfrm>
          <a:prstGeom prst="rect">
            <a:avLst/>
          </a:prstGeom>
          <a:noFill/>
          <a:ln/>
        </p:spPr>
        <p:txBody>
          <a:bodyPr wrap="square" lIns="0" tIns="0" rIns="0" bIns="0" rtlCol="0" anchor="ctr"/>
          <a:lstStyle/>
          <a:p>
            <a:pPr indent="0" marL="0">
              <a:buNone/>
            </a:pPr>
            <a:r>
              <a:rPr lang="en-US" sz="1700" b="1" dirty="0">
                <a:solidFill>
                  <a:srgbClr val="0F2B46"/>
                </a:solidFill>
                <a:latin typeface="맑은 고딕" pitchFamily="34" charset="0"/>
                <a:ea typeface="맑은 고딕" pitchFamily="34" charset="-122"/>
                <a:cs typeface="맑은 고딕" pitchFamily="34" charset="-120"/>
              </a:rPr>
              <a:t>결과 및 시연</a:t>
            </a:r>
            <a:endParaRPr lang="en-US" sz="1700" dirty="0"/>
          </a:p>
        </p:txBody>
      </p:sp>
      <p:sp>
        <p:nvSpPr>
          <p:cNvPr id="18" name="Text 16"/>
          <p:cNvSpPr txBox="1"/>
          <p:nvPr/>
        </p:nvSpPr>
        <p:spPr>
          <a:xfrm>
            <a:off x="5349240" y="4636008"/>
            <a:ext cx="6035040" cy="713232"/>
          </a:xfrm>
          <a:prstGeom prst="rect">
            <a:avLst/>
          </a:prstGeom>
          <a:noFill/>
          <a:ln/>
        </p:spPr>
        <p:txBody>
          <a:bodyPr wrap="square" lIns="0" tIns="0" rIns="0" bIns="0" rtlCol="0" anchor="ctr"/>
          <a:lstStyle/>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실제 동작 시연, 측정한 성능 수치,</a:t>
            </a:r>
            <a:endParaRPr lang="en-US" sz="1150" dirty="0"/>
          </a:p>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회고와 남은 과제</a:t>
            </a:r>
            <a:endParaRPr lang="en-US" sz="1150" dirty="0"/>
          </a:p>
        </p:txBody>
      </p:sp>
      <p:sp>
        <p:nvSpPr>
          <p:cNvPr id="19" name="Shape 17"/>
          <p:cNvSpPr/>
          <p:nvPr/>
        </p:nvSpPr>
        <p:spPr>
          <a:xfrm>
            <a:off x="502920" y="5943600"/>
            <a:ext cx="2651760" cy="457200"/>
          </a:xfrm>
          <a:prstGeom prst="roundRect">
            <a:avLst>
              <a:gd name="adj" fmla="val 12000"/>
            </a:avLst>
          </a:prstGeom>
          <a:solidFill>
            <a:srgbClr val="E6F5F3"/>
          </a:solidFill>
          <a:ln w="12700">
            <a:solidFill>
              <a:srgbClr val="E6F5F3"/>
            </a:solidFill>
            <a:prstDash val="solid"/>
          </a:ln>
        </p:spPr>
      </p:sp>
      <p:sp>
        <p:nvSpPr>
          <p:cNvPr id="20" name="Text 18"/>
          <p:cNvSpPr txBox="1"/>
          <p:nvPr/>
        </p:nvSpPr>
        <p:spPr>
          <a:xfrm>
            <a:off x="502920" y="5943600"/>
            <a:ext cx="2651760" cy="457200"/>
          </a:xfrm>
          <a:prstGeom prst="rect">
            <a:avLst/>
          </a:prstGeom>
          <a:noFill/>
          <a:ln/>
        </p:spPr>
        <p:txBody>
          <a:bodyPr wrap="square" lIns="0" tIns="0" rIns="0" bIns="0" rtlCol="0" anchor="ctr"/>
          <a:lstStyle/>
          <a:p>
            <a:pPr algn="ctr" indent="0" marL="0">
              <a:buNone/>
            </a:pPr>
            <a:r>
              <a:rPr lang="en-US" sz="1150" b="1" dirty="0">
                <a:solidFill>
                  <a:srgbClr val="0F2B46"/>
                </a:solidFill>
                <a:latin typeface="맑은 고딕" pitchFamily="34" charset="0"/>
                <a:ea typeface="맑은 고딕" pitchFamily="34" charset="-122"/>
                <a:cs typeface="맑은 고딕" pitchFamily="34" charset="-120"/>
              </a:rPr>
              <a:t>1. 문제 정의</a:t>
            </a:r>
            <a:endParaRPr lang="en-US" sz="1150" dirty="0"/>
          </a:p>
        </p:txBody>
      </p:sp>
      <p:sp>
        <p:nvSpPr>
          <p:cNvPr id="21" name="Shape 19"/>
          <p:cNvSpPr/>
          <p:nvPr/>
        </p:nvSpPr>
        <p:spPr>
          <a:xfrm>
            <a:off x="3346704" y="5943600"/>
            <a:ext cx="2651760" cy="457200"/>
          </a:xfrm>
          <a:prstGeom prst="roundRect">
            <a:avLst>
              <a:gd name="adj" fmla="val 12000"/>
            </a:avLst>
          </a:prstGeom>
          <a:solidFill>
            <a:srgbClr val="E6F5F3"/>
          </a:solidFill>
          <a:ln w="12700">
            <a:solidFill>
              <a:srgbClr val="E6F5F3"/>
            </a:solidFill>
            <a:prstDash val="solid"/>
          </a:ln>
        </p:spPr>
      </p:sp>
      <p:sp>
        <p:nvSpPr>
          <p:cNvPr id="22" name="Text 20"/>
          <p:cNvSpPr txBox="1"/>
          <p:nvPr/>
        </p:nvSpPr>
        <p:spPr>
          <a:xfrm>
            <a:off x="3346704" y="5943600"/>
            <a:ext cx="2651760" cy="457200"/>
          </a:xfrm>
          <a:prstGeom prst="rect">
            <a:avLst/>
          </a:prstGeom>
          <a:noFill/>
          <a:ln/>
        </p:spPr>
        <p:txBody>
          <a:bodyPr wrap="square" lIns="0" tIns="0" rIns="0" bIns="0" rtlCol="0" anchor="ctr"/>
          <a:lstStyle/>
          <a:p>
            <a:pPr algn="ctr" indent="0" marL="0">
              <a:buNone/>
            </a:pPr>
            <a:r>
              <a:rPr lang="en-US" sz="1150" b="1" dirty="0">
                <a:solidFill>
                  <a:srgbClr val="0F2B46"/>
                </a:solidFill>
                <a:latin typeface="맑은 고딕" pitchFamily="34" charset="0"/>
                <a:ea typeface="맑은 고딕" pitchFamily="34" charset="-122"/>
                <a:cs typeface="맑은 고딕" pitchFamily="34" charset="-120"/>
              </a:rPr>
              <a:t>2. 가설 수립</a:t>
            </a:r>
            <a:endParaRPr lang="en-US" sz="1150" dirty="0"/>
          </a:p>
        </p:txBody>
      </p:sp>
      <p:sp>
        <p:nvSpPr>
          <p:cNvPr id="23" name="Shape 21"/>
          <p:cNvSpPr/>
          <p:nvPr/>
        </p:nvSpPr>
        <p:spPr>
          <a:xfrm>
            <a:off x="6190488" y="5943600"/>
            <a:ext cx="2651760" cy="457200"/>
          </a:xfrm>
          <a:prstGeom prst="roundRect">
            <a:avLst>
              <a:gd name="adj" fmla="val 12000"/>
            </a:avLst>
          </a:prstGeom>
          <a:solidFill>
            <a:srgbClr val="E6F5F3"/>
          </a:solidFill>
          <a:ln w="12700">
            <a:solidFill>
              <a:srgbClr val="E6F5F3"/>
            </a:solidFill>
            <a:prstDash val="solid"/>
          </a:ln>
        </p:spPr>
      </p:sp>
      <p:sp>
        <p:nvSpPr>
          <p:cNvPr id="24" name="Text 22"/>
          <p:cNvSpPr txBox="1"/>
          <p:nvPr/>
        </p:nvSpPr>
        <p:spPr>
          <a:xfrm>
            <a:off x="6190488" y="5943600"/>
            <a:ext cx="2651760" cy="457200"/>
          </a:xfrm>
          <a:prstGeom prst="rect">
            <a:avLst/>
          </a:prstGeom>
          <a:noFill/>
          <a:ln/>
        </p:spPr>
        <p:txBody>
          <a:bodyPr wrap="square" lIns="0" tIns="0" rIns="0" bIns="0" rtlCol="0" anchor="ctr"/>
          <a:lstStyle/>
          <a:p>
            <a:pPr algn="ctr" indent="0" marL="0">
              <a:buNone/>
            </a:pPr>
            <a:r>
              <a:rPr lang="en-US" sz="1150" b="1" dirty="0">
                <a:solidFill>
                  <a:srgbClr val="0F2B46"/>
                </a:solidFill>
                <a:latin typeface="맑은 고딕" pitchFamily="34" charset="0"/>
                <a:ea typeface="맑은 고딕" pitchFamily="34" charset="-122"/>
                <a:cs typeface="맑은 고딕" pitchFamily="34" charset="-120"/>
              </a:rPr>
              <a:t>3. 구현 · 개선</a:t>
            </a:r>
            <a:endParaRPr lang="en-US" sz="1150" dirty="0"/>
          </a:p>
        </p:txBody>
      </p:sp>
      <p:sp>
        <p:nvSpPr>
          <p:cNvPr id="25" name="Shape 23"/>
          <p:cNvSpPr/>
          <p:nvPr/>
        </p:nvSpPr>
        <p:spPr>
          <a:xfrm>
            <a:off x="9034272" y="5943600"/>
            <a:ext cx="2651760" cy="457200"/>
          </a:xfrm>
          <a:prstGeom prst="roundRect">
            <a:avLst>
              <a:gd name="adj" fmla="val 12000"/>
            </a:avLst>
          </a:prstGeom>
          <a:solidFill>
            <a:srgbClr val="E6F5F3"/>
          </a:solidFill>
          <a:ln w="12700">
            <a:solidFill>
              <a:srgbClr val="E6F5F3"/>
            </a:solidFill>
            <a:prstDash val="solid"/>
          </a:ln>
        </p:spPr>
      </p:sp>
      <p:sp>
        <p:nvSpPr>
          <p:cNvPr id="26" name="Text 24"/>
          <p:cNvSpPr txBox="1"/>
          <p:nvPr/>
        </p:nvSpPr>
        <p:spPr>
          <a:xfrm>
            <a:off x="9034272" y="5943600"/>
            <a:ext cx="2651760" cy="457200"/>
          </a:xfrm>
          <a:prstGeom prst="rect">
            <a:avLst/>
          </a:prstGeom>
          <a:noFill/>
          <a:ln/>
        </p:spPr>
        <p:txBody>
          <a:bodyPr wrap="square" lIns="0" tIns="0" rIns="0" bIns="0" rtlCol="0" anchor="ctr"/>
          <a:lstStyle/>
          <a:p>
            <a:pPr algn="ctr" indent="0" marL="0">
              <a:buNone/>
            </a:pPr>
            <a:r>
              <a:rPr lang="en-US" sz="1150" b="1" dirty="0">
                <a:solidFill>
                  <a:srgbClr val="0F2B46"/>
                </a:solidFill>
                <a:latin typeface="맑은 고딕" pitchFamily="34" charset="0"/>
                <a:ea typeface="맑은 고딕" pitchFamily="34" charset="-122"/>
                <a:cs typeface="맑은 고딕" pitchFamily="34" charset="-120"/>
              </a:rPr>
              <a:t>4. 검증 · 시연</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01 문제 정의 · 3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어떤 업무를 개선하려 했나</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복리후생 문의 응대 — 직원도, 담당자도 매번 규정을 다시 찾아야 하는 업무</a:t>
            </a:r>
            <a:endParaRPr lang="en-US" sz="1300" dirty="0"/>
          </a:p>
        </p:txBody>
      </p:sp>
      <p:sp>
        <p:nvSpPr>
          <p:cNvPr id="5" name="Shape 3"/>
          <p:cNvSpPr/>
          <p:nvPr/>
        </p:nvSpPr>
        <p:spPr>
          <a:xfrm>
            <a:off x="502920" y="1316736"/>
            <a:ext cx="3429000" cy="786384"/>
          </a:xfrm>
          <a:prstGeom prst="roundRect">
            <a:avLst>
              <a:gd name="adj" fmla="val 9302"/>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6" name="Text 4"/>
          <p:cNvSpPr txBox="1"/>
          <p:nvPr/>
        </p:nvSpPr>
        <p:spPr>
          <a:xfrm>
            <a:off x="667512" y="1389888"/>
            <a:ext cx="3099816" cy="292608"/>
          </a:xfrm>
          <a:prstGeom prst="rect">
            <a:avLst/>
          </a:prstGeom>
          <a:noFill/>
          <a:ln/>
        </p:spPr>
        <p:txBody>
          <a:bodyPr wrap="square" lIns="0" tIns="0" rIns="0" bIns="0" rtlCol="0" anchor="ctr"/>
          <a:lstStyle/>
          <a:p>
            <a:pPr indent="0" marL="0">
              <a:buNone/>
            </a:pPr>
            <a:r>
              <a:rPr lang="en-US" sz="1250" b="1" dirty="0">
                <a:solidFill>
                  <a:srgbClr val="0F2B46"/>
                </a:solidFill>
                <a:latin typeface="맑은 고딕" pitchFamily="34" charset="0"/>
                <a:ea typeface="맑은 고딕" pitchFamily="34" charset="-122"/>
                <a:cs typeface="맑은 고딕" pitchFamily="34" charset="-120"/>
              </a:rPr>
              <a:t>직원이 궁금하다</a:t>
            </a:r>
            <a:endParaRPr lang="en-US" sz="1250" dirty="0"/>
          </a:p>
        </p:txBody>
      </p:sp>
      <p:sp>
        <p:nvSpPr>
          <p:cNvPr id="7" name="Text 5"/>
          <p:cNvSpPr txBox="1"/>
          <p:nvPr/>
        </p:nvSpPr>
        <p:spPr>
          <a:xfrm>
            <a:off x="667512" y="1691640"/>
            <a:ext cx="3099816" cy="274320"/>
          </a:xfrm>
          <a:prstGeom prst="rect">
            <a:avLst/>
          </a:prstGeom>
          <a:noFill/>
          <a:ln/>
        </p:spPr>
        <p:txBody>
          <a:bodyPr wrap="square" lIns="0" tIns="0" rIns="0" bIns="0" rtlCol="0" anchor="ctr"/>
          <a:lstStyle/>
          <a:p>
            <a:pPr indent="0" marL="0">
              <a:buNone/>
            </a:pPr>
            <a:r>
              <a:rPr lang="en-US" sz="1050" dirty="0">
                <a:solidFill>
                  <a:srgbClr val="6B7280"/>
                </a:solidFill>
                <a:latin typeface="맑은 고딕" pitchFamily="34" charset="0"/>
                <a:ea typeface="맑은 고딕" pitchFamily="34" charset="-122"/>
                <a:cs typeface="맑은 고딕" pitchFamily="34" charset="-120"/>
              </a:rPr>
              <a:t>"이사비 나오나요?"</a:t>
            </a:r>
            <a:endParaRPr lang="en-US" sz="1050" dirty="0"/>
          </a:p>
        </p:txBody>
      </p:sp>
      <p:sp>
        <p:nvSpPr>
          <p:cNvPr id="8" name="Shape 6"/>
          <p:cNvSpPr/>
          <p:nvPr/>
        </p:nvSpPr>
        <p:spPr>
          <a:xfrm>
            <a:off x="4023360" y="1645920"/>
            <a:ext cx="265176" cy="128016"/>
          </a:xfrm>
          <a:prstGeom prst="rightArrow">
            <a:avLst/>
          </a:prstGeom>
          <a:solidFill>
            <a:srgbClr val="9CA3AF"/>
          </a:solidFill>
          <a:ln w="12700">
            <a:solidFill>
              <a:srgbClr val="9CA3AF"/>
            </a:solidFill>
            <a:prstDash val="solid"/>
          </a:ln>
        </p:spPr>
      </p:sp>
      <p:sp>
        <p:nvSpPr>
          <p:cNvPr id="9" name="Shape 7"/>
          <p:cNvSpPr/>
          <p:nvPr/>
        </p:nvSpPr>
        <p:spPr>
          <a:xfrm>
            <a:off x="4379976" y="1316736"/>
            <a:ext cx="3429000" cy="786384"/>
          </a:xfrm>
          <a:prstGeom prst="roundRect">
            <a:avLst>
              <a:gd name="adj" fmla="val 9302"/>
            </a:avLst>
          </a:prstGeom>
          <a:solidFill>
            <a:srgbClr val="FBEEE4"/>
          </a:solidFill>
          <a:ln w="12700">
            <a:solidFill>
              <a:srgbClr val="FBEEE4"/>
            </a:solidFill>
            <a:prstDash val="solid"/>
          </a:ln>
          <a:effectLst>
            <a:outerShdw sx="100000" sy="100000" kx="0" ky="0" algn="bl" rotWithShape="0" blurRad="127000" dist="12700" dir="5400000">
              <a:srgbClr val="0F2B46">
                <a:alpha val="10000"/>
              </a:srgbClr>
            </a:outerShdw>
          </a:effectLst>
        </p:spPr>
      </p:sp>
      <p:sp>
        <p:nvSpPr>
          <p:cNvPr id="10" name="Text 8"/>
          <p:cNvSpPr txBox="1"/>
          <p:nvPr/>
        </p:nvSpPr>
        <p:spPr>
          <a:xfrm>
            <a:off x="4544568" y="1389888"/>
            <a:ext cx="3099816" cy="292608"/>
          </a:xfrm>
          <a:prstGeom prst="rect">
            <a:avLst/>
          </a:prstGeom>
          <a:noFill/>
          <a:ln/>
        </p:spPr>
        <p:txBody>
          <a:bodyPr wrap="square" lIns="0" tIns="0" rIns="0" bIns="0" rtlCol="0" anchor="ctr"/>
          <a:lstStyle/>
          <a:p>
            <a:pPr indent="0" marL="0">
              <a:buNone/>
            </a:pPr>
            <a:r>
              <a:rPr lang="en-US" sz="1250" b="1" dirty="0">
                <a:solidFill>
                  <a:srgbClr val="E07B39"/>
                </a:solidFill>
                <a:latin typeface="맑은 고딕" pitchFamily="34" charset="0"/>
                <a:ea typeface="맑은 고딕" pitchFamily="34" charset="-122"/>
                <a:cs typeface="맑은 고딕" pitchFamily="34" charset="-120"/>
              </a:rPr>
              <a:t>규정집을 찾아본다</a:t>
            </a:r>
            <a:endParaRPr lang="en-US" sz="1250" dirty="0"/>
          </a:p>
        </p:txBody>
      </p:sp>
      <p:sp>
        <p:nvSpPr>
          <p:cNvPr id="11" name="Text 9"/>
          <p:cNvSpPr txBox="1"/>
          <p:nvPr/>
        </p:nvSpPr>
        <p:spPr>
          <a:xfrm>
            <a:off x="4544568" y="1691640"/>
            <a:ext cx="3099816" cy="274320"/>
          </a:xfrm>
          <a:prstGeom prst="rect">
            <a:avLst/>
          </a:prstGeom>
          <a:noFill/>
          <a:ln/>
        </p:spPr>
        <p:txBody>
          <a:bodyPr wrap="square" lIns="0" tIns="0" rIns="0" bIns="0" rtlCol="0" anchor="ctr"/>
          <a:lstStyle/>
          <a:p>
            <a:pPr indent="0" marL="0">
              <a:buNone/>
            </a:pPr>
            <a:r>
              <a:rPr lang="en-US" sz="1050" dirty="0">
                <a:solidFill>
                  <a:srgbClr val="6B7280"/>
                </a:solidFill>
                <a:latin typeface="맑은 고딕" pitchFamily="34" charset="0"/>
                <a:ea typeface="맑은 고딕" pitchFamily="34" charset="-122"/>
                <a:cs typeface="맑은 고딕" pitchFamily="34" charset="-120"/>
              </a:rPr>
              <a:t>6개 문서 · 135개 조항</a:t>
            </a:r>
            <a:endParaRPr lang="en-US" sz="1050" dirty="0"/>
          </a:p>
        </p:txBody>
      </p:sp>
      <p:sp>
        <p:nvSpPr>
          <p:cNvPr id="12" name="Shape 10"/>
          <p:cNvSpPr/>
          <p:nvPr/>
        </p:nvSpPr>
        <p:spPr>
          <a:xfrm>
            <a:off x="7900416" y="1645920"/>
            <a:ext cx="265176" cy="128016"/>
          </a:xfrm>
          <a:prstGeom prst="rightArrow">
            <a:avLst/>
          </a:prstGeom>
          <a:solidFill>
            <a:srgbClr val="9CA3AF"/>
          </a:solidFill>
          <a:ln w="12700">
            <a:solidFill>
              <a:srgbClr val="9CA3AF"/>
            </a:solidFill>
            <a:prstDash val="solid"/>
          </a:ln>
        </p:spPr>
      </p:sp>
      <p:sp>
        <p:nvSpPr>
          <p:cNvPr id="13" name="Shape 11"/>
          <p:cNvSpPr/>
          <p:nvPr/>
        </p:nvSpPr>
        <p:spPr>
          <a:xfrm>
            <a:off x="8257032" y="1316736"/>
            <a:ext cx="3429000" cy="786384"/>
          </a:xfrm>
          <a:prstGeom prst="roundRect">
            <a:avLst>
              <a:gd name="adj" fmla="val 9302"/>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4" name="Text 12"/>
          <p:cNvSpPr txBox="1"/>
          <p:nvPr/>
        </p:nvSpPr>
        <p:spPr>
          <a:xfrm>
            <a:off x="8421624" y="1389888"/>
            <a:ext cx="3099816" cy="292608"/>
          </a:xfrm>
          <a:prstGeom prst="rect">
            <a:avLst/>
          </a:prstGeom>
          <a:noFill/>
          <a:ln/>
        </p:spPr>
        <p:txBody>
          <a:bodyPr wrap="square" lIns="0" tIns="0" rIns="0" bIns="0" rtlCol="0" anchor="ctr"/>
          <a:lstStyle/>
          <a:p>
            <a:pPr indent="0" marL="0">
              <a:buNone/>
            </a:pPr>
            <a:r>
              <a:rPr lang="en-US" sz="1250" b="1" dirty="0">
                <a:solidFill>
                  <a:srgbClr val="0F2B46"/>
                </a:solidFill>
                <a:latin typeface="맑은 고딕" pitchFamily="34" charset="0"/>
                <a:ea typeface="맑은 고딕" pitchFamily="34" charset="-122"/>
                <a:cs typeface="맑은 고딕" pitchFamily="34" charset="-120"/>
              </a:rPr>
              <a:t>담당자에게 다시 묻는다</a:t>
            </a:r>
            <a:endParaRPr lang="en-US" sz="1250" dirty="0"/>
          </a:p>
        </p:txBody>
      </p:sp>
      <p:sp>
        <p:nvSpPr>
          <p:cNvPr id="15" name="Text 13"/>
          <p:cNvSpPr txBox="1"/>
          <p:nvPr/>
        </p:nvSpPr>
        <p:spPr>
          <a:xfrm>
            <a:off x="8421624" y="1691640"/>
            <a:ext cx="3099816" cy="274320"/>
          </a:xfrm>
          <a:prstGeom prst="rect">
            <a:avLst/>
          </a:prstGeom>
          <a:noFill/>
          <a:ln/>
        </p:spPr>
        <p:txBody>
          <a:bodyPr wrap="square" lIns="0" tIns="0" rIns="0" bIns="0" rtlCol="0" anchor="ctr"/>
          <a:lstStyle/>
          <a:p>
            <a:pPr indent="0" marL="0">
              <a:buNone/>
            </a:pPr>
            <a:r>
              <a:rPr lang="en-US" sz="1050" dirty="0">
                <a:solidFill>
                  <a:srgbClr val="6B7280"/>
                </a:solidFill>
                <a:latin typeface="맑은 고딕" pitchFamily="34" charset="0"/>
                <a:ea typeface="맑은 고딕" pitchFamily="34" charset="-122"/>
                <a:cs typeface="맑은 고딕" pitchFamily="34" charset="-120"/>
              </a:rPr>
              <a:t>담당자도 조항을 재확인</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3931920" cy="914400"/>
        </p:xfrm>
        <a:graphic>
          <a:graphicData uri="http://schemas.openxmlformats.org/drawingml/2006/table">
            <a:tbl>
              <a:tblPr/>
              <a:tblGrid>
                <a:gridCol w="2743200"/>
                <a:gridCol w="1188720"/>
              </a:tblGrid>
              <a:tr h="246888">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규정 문서</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조항</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246888">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여비관리기준</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333333"/>
                          </a:solidFill>
                          <a:latin typeface="맑은 고딕" pitchFamily="34" charset="0"/>
                          <a:ea typeface="맑은 고딕" pitchFamily="34" charset="-122"/>
                          <a:cs typeface="맑은 고딕" pitchFamily="34" charset="-120"/>
                        </a:rPr>
                        <a:t>59</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동호회 관리 규정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333333"/>
                          </a:solidFill>
                          <a:latin typeface="맑은 고딕" pitchFamily="34" charset="0"/>
                          <a:ea typeface="맑은 고딕" pitchFamily="34" charset="-122"/>
                          <a:cs typeface="맑은 고딕" pitchFamily="34" charset="-120"/>
                        </a:rPr>
                        <a:t>29</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숙소지원금 운영 기준</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333333"/>
                          </a:solidFill>
                          <a:latin typeface="맑은 고딕" pitchFamily="34" charset="0"/>
                          <a:ea typeface="맑은 고딕" pitchFamily="34" charset="-122"/>
                          <a:cs typeface="맑은 고딕" pitchFamily="34" charset="-120"/>
                        </a:rPr>
                        <a:t>19</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경조금 지급기준</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333333"/>
                          </a:solidFill>
                          <a:latin typeface="맑은 고딕" pitchFamily="34" charset="0"/>
                          <a:ea typeface="맑은 고딕" pitchFamily="34" charset="-122"/>
                          <a:cs typeface="맑은 고딕" pitchFamily="34" charset="-120"/>
                        </a:rPr>
                        <a:t>16</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사내 추가 기준</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333333"/>
                          </a:solidFill>
                          <a:latin typeface="맑은 고딕" pitchFamily="34" charset="0"/>
                          <a:ea typeface="맑은 고딕" pitchFamily="34" charset="-122"/>
                          <a:cs typeface="맑은 고딕" pitchFamily="34" charset="-120"/>
                        </a:rPr>
                        <a:t>8</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여비관리 FAQ</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333333"/>
                          </a:solidFill>
                          <a:latin typeface="맑은 고딕" pitchFamily="34" charset="0"/>
                          <a:ea typeface="맑은 고딕" pitchFamily="34" charset="-122"/>
                          <a:cs typeface="맑은 고딕" pitchFamily="34" charset="-120"/>
                        </a:rPr>
                        <a:t>4</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4688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합계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algn="r" indent="0" marL="0">
                        <a:buNone/>
                      </a:pPr>
                      <a:r>
                        <a:rPr lang="en-US" sz="1050" b="1" dirty="0">
                          <a:solidFill>
                            <a:srgbClr val="0F9B8E"/>
                          </a:solidFill>
                          <a:latin typeface="맑은 고딕" pitchFamily="34" charset="0"/>
                          <a:ea typeface="맑은 고딕" pitchFamily="34" charset="-122"/>
                          <a:cs typeface="맑은 고딕" pitchFamily="34" charset="-120"/>
                        </a:rPr>
                        <a:t>135</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17" name="Shape 14"/>
          <p:cNvSpPr/>
          <p:nvPr/>
        </p:nvSpPr>
        <p:spPr>
          <a:xfrm>
            <a:off x="4809744" y="2331720"/>
            <a:ext cx="3346704" cy="941832"/>
          </a:xfrm>
          <a:prstGeom prst="roundRect">
            <a:avLst>
              <a:gd name="adj" fmla="val 7767"/>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8" name="Text 15"/>
          <p:cNvSpPr txBox="1"/>
          <p:nvPr/>
        </p:nvSpPr>
        <p:spPr>
          <a:xfrm>
            <a:off x="4992624" y="2414016"/>
            <a:ext cx="2980944" cy="219456"/>
          </a:xfrm>
          <a:prstGeom prst="rect">
            <a:avLst/>
          </a:prstGeom>
          <a:noFill/>
          <a:ln/>
        </p:spPr>
        <p:txBody>
          <a:bodyPr wrap="square" lIns="0" tIns="0" rIns="0" bIns="0" rtlCol="0" anchor="ctr"/>
          <a:lstStyle/>
          <a:p>
            <a:pPr indent="0" marL="0">
              <a:buNone/>
            </a:pPr>
            <a:r>
              <a:rPr lang="en-US" sz="1000" dirty="0">
                <a:solidFill>
                  <a:srgbClr val="6B7280"/>
                </a:solidFill>
                <a:latin typeface="맑은 고딕" pitchFamily="34" charset="0"/>
                <a:ea typeface="맑은 고딕" pitchFamily="34" charset="-122"/>
                <a:cs typeface="맑은 고딕" pitchFamily="34" charset="-120"/>
              </a:rPr>
              <a:t>월평균 문의</a:t>
            </a:r>
            <a:endParaRPr lang="en-US" sz="1000" dirty="0"/>
          </a:p>
        </p:txBody>
      </p:sp>
      <p:sp>
        <p:nvSpPr>
          <p:cNvPr id="19" name="Text 16"/>
          <p:cNvSpPr txBox="1"/>
          <p:nvPr/>
        </p:nvSpPr>
        <p:spPr>
          <a:xfrm>
            <a:off x="4992624" y="2615184"/>
            <a:ext cx="2980944" cy="384048"/>
          </a:xfrm>
          <a:prstGeom prst="rect">
            <a:avLst/>
          </a:prstGeom>
          <a:noFill/>
          <a:ln/>
        </p:spPr>
        <p:txBody>
          <a:bodyPr wrap="square" lIns="0" tIns="0" rIns="0" bIns="0" rtlCol="0" anchor="ctr"/>
          <a:lstStyle/>
          <a:p>
            <a:pPr indent="0" marL="0">
              <a:buNone/>
            </a:pPr>
            <a:r>
              <a:rPr lang="en-US" sz="2300" b="1" dirty="0">
                <a:solidFill>
                  <a:srgbClr val="0F9B8E"/>
                </a:solidFill>
                <a:latin typeface="맑은 고딕" pitchFamily="34" charset="0"/>
                <a:ea typeface="맑은 고딕" pitchFamily="34" charset="-122"/>
                <a:cs typeface="맑은 고딕" pitchFamily="34" charset="-120"/>
              </a:rPr>
              <a:t>150건</a:t>
            </a:r>
            <a:endParaRPr lang="en-US" sz="2300" dirty="0"/>
          </a:p>
        </p:txBody>
      </p:sp>
      <p:sp>
        <p:nvSpPr>
          <p:cNvPr id="20" name="Text 17"/>
          <p:cNvSpPr txBox="1"/>
          <p:nvPr/>
        </p:nvSpPr>
        <p:spPr>
          <a:xfrm>
            <a:off x="4992624" y="3008376"/>
            <a:ext cx="2980944" cy="201168"/>
          </a:xfrm>
          <a:prstGeom prst="rect">
            <a:avLst/>
          </a:prstGeom>
          <a:noFill/>
          <a:ln/>
        </p:spPr>
        <p:txBody>
          <a:bodyPr wrap="square" lIns="0" tIns="0" rIns="0" bIns="0" rtlCol="0" anchor="ctr"/>
          <a:lstStyle/>
          <a:p>
            <a:pPr indent="0" marL="0">
              <a:buNone/>
            </a:pPr>
            <a:r>
              <a:rPr lang="en-US" sz="950" dirty="0">
                <a:solidFill>
                  <a:srgbClr val="9CA3AF"/>
                </a:solidFill>
                <a:latin typeface="맑은 고딕" pitchFamily="34" charset="0"/>
                <a:ea typeface="맑은 고딕" pitchFamily="34" charset="-122"/>
                <a:cs typeface="맑은 고딕" pitchFamily="34" charset="-120"/>
              </a:rPr>
              <a:t>메일·전화·메신저 합산</a:t>
            </a:r>
            <a:endParaRPr lang="en-US" sz="950" dirty="0"/>
          </a:p>
        </p:txBody>
      </p:sp>
      <p:sp>
        <p:nvSpPr>
          <p:cNvPr id="21" name="Shape 18"/>
          <p:cNvSpPr/>
          <p:nvPr/>
        </p:nvSpPr>
        <p:spPr>
          <a:xfrm>
            <a:off x="8385048" y="2331720"/>
            <a:ext cx="3346704" cy="941832"/>
          </a:xfrm>
          <a:prstGeom prst="roundRect">
            <a:avLst>
              <a:gd name="adj" fmla="val 7767"/>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2" name="Text 19"/>
          <p:cNvSpPr txBox="1"/>
          <p:nvPr/>
        </p:nvSpPr>
        <p:spPr>
          <a:xfrm>
            <a:off x="8567928" y="2414016"/>
            <a:ext cx="2980944" cy="219456"/>
          </a:xfrm>
          <a:prstGeom prst="rect">
            <a:avLst/>
          </a:prstGeom>
          <a:noFill/>
          <a:ln/>
        </p:spPr>
        <p:txBody>
          <a:bodyPr wrap="square" lIns="0" tIns="0" rIns="0" bIns="0" rtlCol="0" anchor="ctr"/>
          <a:lstStyle/>
          <a:p>
            <a:pPr indent="0" marL="0">
              <a:buNone/>
            </a:pPr>
            <a:r>
              <a:rPr lang="en-US" sz="1000" dirty="0">
                <a:solidFill>
                  <a:srgbClr val="6B7280"/>
                </a:solidFill>
                <a:latin typeface="맑은 고딕" pitchFamily="34" charset="0"/>
                <a:ea typeface="맑은 고딕" pitchFamily="34" charset="-122"/>
                <a:cs typeface="맑은 고딕" pitchFamily="34" charset="-120"/>
              </a:rPr>
              <a:t>건당 처리 시간</a:t>
            </a:r>
            <a:endParaRPr lang="en-US" sz="1000" dirty="0"/>
          </a:p>
        </p:txBody>
      </p:sp>
      <p:sp>
        <p:nvSpPr>
          <p:cNvPr id="23" name="Text 20"/>
          <p:cNvSpPr txBox="1"/>
          <p:nvPr/>
        </p:nvSpPr>
        <p:spPr>
          <a:xfrm>
            <a:off x="8567928" y="2615184"/>
            <a:ext cx="2980944" cy="384048"/>
          </a:xfrm>
          <a:prstGeom prst="rect">
            <a:avLst/>
          </a:prstGeom>
          <a:noFill/>
          <a:ln/>
        </p:spPr>
        <p:txBody>
          <a:bodyPr wrap="square" lIns="0" tIns="0" rIns="0" bIns="0" rtlCol="0" anchor="ctr"/>
          <a:lstStyle/>
          <a:p>
            <a:pPr indent="0" marL="0">
              <a:buNone/>
            </a:pPr>
            <a:r>
              <a:rPr lang="en-US" sz="2300" b="1" dirty="0">
                <a:solidFill>
                  <a:srgbClr val="0F9B8E"/>
                </a:solidFill>
                <a:latin typeface="맑은 고딕" pitchFamily="34" charset="0"/>
                <a:ea typeface="맑은 고딕" pitchFamily="34" charset="-122"/>
                <a:cs typeface="맑은 고딕" pitchFamily="34" charset="-120"/>
              </a:rPr>
              <a:t>12.5분</a:t>
            </a:r>
            <a:endParaRPr lang="en-US" sz="2300" dirty="0"/>
          </a:p>
        </p:txBody>
      </p:sp>
      <p:sp>
        <p:nvSpPr>
          <p:cNvPr id="24" name="Text 21"/>
          <p:cNvSpPr txBox="1"/>
          <p:nvPr/>
        </p:nvSpPr>
        <p:spPr>
          <a:xfrm>
            <a:off x="8567928" y="3008376"/>
            <a:ext cx="2980944" cy="201168"/>
          </a:xfrm>
          <a:prstGeom prst="rect">
            <a:avLst/>
          </a:prstGeom>
          <a:noFill/>
          <a:ln/>
        </p:spPr>
        <p:txBody>
          <a:bodyPr wrap="square" lIns="0" tIns="0" rIns="0" bIns="0" rtlCol="0" anchor="ctr"/>
          <a:lstStyle/>
          <a:p>
            <a:pPr indent="0" marL="0">
              <a:buNone/>
            </a:pPr>
            <a:r>
              <a:rPr lang="en-US" sz="950" dirty="0">
                <a:solidFill>
                  <a:srgbClr val="9CA3AF"/>
                </a:solidFill>
                <a:latin typeface="맑은 고딕" pitchFamily="34" charset="0"/>
                <a:ea typeface="맑은 고딕" pitchFamily="34" charset="-122"/>
                <a:cs typeface="맑은 고딕" pitchFamily="34" charset="-120"/>
              </a:rPr>
              <a:t>규정 확인 + 회신 작성</a:t>
            </a:r>
            <a:endParaRPr lang="en-US" sz="950" dirty="0"/>
          </a:p>
        </p:txBody>
      </p:sp>
      <p:sp>
        <p:nvSpPr>
          <p:cNvPr id="25" name="Shape 22"/>
          <p:cNvSpPr/>
          <p:nvPr/>
        </p:nvSpPr>
        <p:spPr>
          <a:xfrm>
            <a:off x="4809744" y="3447288"/>
            <a:ext cx="3346704" cy="941832"/>
          </a:xfrm>
          <a:prstGeom prst="roundRect">
            <a:avLst>
              <a:gd name="adj" fmla="val 7767"/>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6" name="Text 23"/>
          <p:cNvSpPr txBox="1"/>
          <p:nvPr/>
        </p:nvSpPr>
        <p:spPr>
          <a:xfrm>
            <a:off x="4992624" y="3529584"/>
            <a:ext cx="2980944" cy="219456"/>
          </a:xfrm>
          <a:prstGeom prst="rect">
            <a:avLst/>
          </a:prstGeom>
          <a:noFill/>
          <a:ln/>
        </p:spPr>
        <p:txBody>
          <a:bodyPr wrap="square" lIns="0" tIns="0" rIns="0" bIns="0" rtlCol="0" anchor="ctr"/>
          <a:lstStyle/>
          <a:p>
            <a:pPr indent="0" marL="0">
              <a:buNone/>
            </a:pPr>
            <a:r>
              <a:rPr lang="en-US" sz="1000" dirty="0">
                <a:solidFill>
                  <a:srgbClr val="6B7280"/>
                </a:solidFill>
                <a:latin typeface="맑은 고딕" pitchFamily="34" charset="0"/>
                <a:ea typeface="맑은 고딕" pitchFamily="34" charset="-122"/>
                <a:cs typeface="맑은 고딕" pitchFamily="34" charset="-120"/>
              </a:rPr>
              <a:t>연간 응대 시간</a:t>
            </a:r>
            <a:endParaRPr lang="en-US" sz="1000" dirty="0"/>
          </a:p>
        </p:txBody>
      </p:sp>
      <p:sp>
        <p:nvSpPr>
          <p:cNvPr id="27" name="Text 24"/>
          <p:cNvSpPr txBox="1"/>
          <p:nvPr/>
        </p:nvSpPr>
        <p:spPr>
          <a:xfrm>
            <a:off x="4992624" y="3730752"/>
            <a:ext cx="2980944" cy="384048"/>
          </a:xfrm>
          <a:prstGeom prst="rect">
            <a:avLst/>
          </a:prstGeom>
          <a:noFill/>
          <a:ln/>
        </p:spPr>
        <p:txBody>
          <a:bodyPr wrap="square" lIns="0" tIns="0" rIns="0" bIns="0" rtlCol="0" anchor="ctr"/>
          <a:lstStyle/>
          <a:p>
            <a:pPr indent="0" marL="0">
              <a:buNone/>
            </a:pPr>
            <a:r>
              <a:rPr lang="en-US" sz="2300" b="1" dirty="0">
                <a:solidFill>
                  <a:srgbClr val="0F9B8E"/>
                </a:solidFill>
                <a:latin typeface="맑은 고딕" pitchFamily="34" charset="0"/>
                <a:ea typeface="맑은 고딕" pitchFamily="34" charset="-122"/>
                <a:cs typeface="맑은 고딕" pitchFamily="34" charset="-120"/>
              </a:rPr>
              <a:t>375시간</a:t>
            </a:r>
            <a:endParaRPr lang="en-US" sz="2300" dirty="0"/>
          </a:p>
        </p:txBody>
      </p:sp>
      <p:sp>
        <p:nvSpPr>
          <p:cNvPr id="28" name="Text 25"/>
          <p:cNvSpPr txBox="1"/>
          <p:nvPr/>
        </p:nvSpPr>
        <p:spPr>
          <a:xfrm>
            <a:off x="4992624" y="4123944"/>
            <a:ext cx="2980944" cy="201168"/>
          </a:xfrm>
          <a:prstGeom prst="rect">
            <a:avLst/>
          </a:prstGeom>
          <a:noFill/>
          <a:ln/>
        </p:spPr>
        <p:txBody>
          <a:bodyPr wrap="square" lIns="0" tIns="0" rIns="0" bIns="0" rtlCol="0" anchor="ctr"/>
          <a:lstStyle/>
          <a:p>
            <a:pPr indent="0" marL="0">
              <a:buNone/>
            </a:pPr>
            <a:r>
              <a:rPr lang="en-US" sz="950" dirty="0">
                <a:solidFill>
                  <a:srgbClr val="9CA3AF"/>
                </a:solidFill>
                <a:latin typeface="맑은 고딕" pitchFamily="34" charset="0"/>
                <a:ea typeface="맑은 고딕" pitchFamily="34" charset="-122"/>
                <a:cs typeface="맑은 고딕" pitchFamily="34" charset="-120"/>
              </a:rPr>
              <a:t>근무일 기준 약 47일</a:t>
            </a:r>
            <a:endParaRPr lang="en-US" sz="950" dirty="0"/>
          </a:p>
        </p:txBody>
      </p:sp>
      <p:sp>
        <p:nvSpPr>
          <p:cNvPr id="29" name="Shape 26"/>
          <p:cNvSpPr/>
          <p:nvPr/>
        </p:nvSpPr>
        <p:spPr>
          <a:xfrm>
            <a:off x="8385048" y="3447288"/>
            <a:ext cx="3346704" cy="941832"/>
          </a:xfrm>
          <a:prstGeom prst="roundRect">
            <a:avLst>
              <a:gd name="adj" fmla="val 7767"/>
            </a:avLst>
          </a:prstGeom>
          <a:solidFill>
            <a:srgbClr val="FBEEE4"/>
          </a:solidFill>
          <a:ln w="12700">
            <a:solidFill>
              <a:srgbClr val="FBEEE4"/>
            </a:solidFill>
            <a:prstDash val="solid"/>
          </a:ln>
          <a:effectLst>
            <a:outerShdw sx="100000" sy="100000" kx="0" ky="0" algn="bl" rotWithShape="0" blurRad="127000" dist="12700" dir="5400000">
              <a:srgbClr val="0F2B46">
                <a:alpha val="10000"/>
              </a:srgbClr>
            </a:outerShdw>
          </a:effectLst>
        </p:spPr>
      </p:sp>
      <p:sp>
        <p:nvSpPr>
          <p:cNvPr id="30" name="Text 27"/>
          <p:cNvSpPr txBox="1"/>
          <p:nvPr/>
        </p:nvSpPr>
        <p:spPr>
          <a:xfrm>
            <a:off x="8567928" y="3529584"/>
            <a:ext cx="2980944" cy="219456"/>
          </a:xfrm>
          <a:prstGeom prst="rect">
            <a:avLst/>
          </a:prstGeom>
          <a:noFill/>
          <a:ln/>
        </p:spPr>
        <p:txBody>
          <a:bodyPr wrap="square" lIns="0" tIns="0" rIns="0" bIns="0" rtlCol="0" anchor="ctr"/>
          <a:lstStyle/>
          <a:p>
            <a:pPr indent="0" marL="0">
              <a:buNone/>
            </a:pPr>
            <a:r>
              <a:rPr lang="en-US" sz="1000" dirty="0">
                <a:solidFill>
                  <a:srgbClr val="6B7280"/>
                </a:solidFill>
                <a:latin typeface="맑은 고딕" pitchFamily="34" charset="0"/>
                <a:ea typeface="맑은 고딕" pitchFamily="34" charset="-122"/>
                <a:cs typeface="맑은 고딕" pitchFamily="34" charset="-120"/>
              </a:rPr>
              <a:t>직원 회신 대기</a:t>
            </a:r>
            <a:endParaRPr lang="en-US" sz="1000" dirty="0"/>
          </a:p>
        </p:txBody>
      </p:sp>
      <p:sp>
        <p:nvSpPr>
          <p:cNvPr id="31" name="Text 28"/>
          <p:cNvSpPr txBox="1"/>
          <p:nvPr/>
        </p:nvSpPr>
        <p:spPr>
          <a:xfrm>
            <a:off x="8567928" y="3730752"/>
            <a:ext cx="2980944" cy="384048"/>
          </a:xfrm>
          <a:prstGeom prst="rect">
            <a:avLst/>
          </a:prstGeom>
          <a:noFill/>
          <a:ln/>
        </p:spPr>
        <p:txBody>
          <a:bodyPr wrap="square" lIns="0" tIns="0" rIns="0" bIns="0" rtlCol="0" anchor="ctr"/>
          <a:lstStyle/>
          <a:p>
            <a:pPr indent="0" marL="0">
              <a:buNone/>
            </a:pPr>
            <a:r>
              <a:rPr lang="en-US" sz="2300" b="1" dirty="0">
                <a:solidFill>
                  <a:srgbClr val="E07B39"/>
                </a:solidFill>
                <a:latin typeface="맑은 고딕" pitchFamily="34" charset="0"/>
                <a:ea typeface="맑은 고딕" pitchFamily="34" charset="-122"/>
                <a:cs typeface="맑은 고딕" pitchFamily="34" charset="-120"/>
              </a:rPr>
              <a:t>1시간~반나절</a:t>
            </a:r>
            <a:endParaRPr lang="en-US" sz="2300" dirty="0"/>
          </a:p>
        </p:txBody>
      </p:sp>
      <p:sp>
        <p:nvSpPr>
          <p:cNvPr id="32" name="Text 29"/>
          <p:cNvSpPr txBox="1"/>
          <p:nvPr/>
        </p:nvSpPr>
        <p:spPr>
          <a:xfrm>
            <a:off x="8567928" y="4123944"/>
            <a:ext cx="2980944" cy="201168"/>
          </a:xfrm>
          <a:prstGeom prst="rect">
            <a:avLst/>
          </a:prstGeom>
          <a:noFill/>
          <a:ln/>
        </p:spPr>
        <p:txBody>
          <a:bodyPr wrap="square" lIns="0" tIns="0" rIns="0" bIns="0" rtlCol="0" anchor="ctr"/>
          <a:lstStyle/>
          <a:p>
            <a:pPr indent="0" marL="0">
              <a:buNone/>
            </a:pPr>
            <a:r>
              <a:rPr lang="en-US" sz="950" dirty="0">
                <a:solidFill>
                  <a:srgbClr val="9CA3AF"/>
                </a:solidFill>
                <a:latin typeface="맑은 고딕" pitchFamily="34" charset="0"/>
                <a:ea typeface="맑은 고딕" pitchFamily="34" charset="-122"/>
                <a:cs typeface="맑은 고딕" pitchFamily="34" charset="-120"/>
              </a:rPr>
              <a:t>문의 후 답을 받기까지</a:t>
            </a:r>
            <a:endParaRPr lang="en-US" sz="950" dirty="0"/>
          </a:p>
        </p:txBody>
      </p:sp>
      <p:sp>
        <p:nvSpPr>
          <p:cNvPr id="33" name="Text 30"/>
          <p:cNvSpPr txBox="1"/>
          <p:nvPr/>
        </p:nvSpPr>
        <p:spPr>
          <a:xfrm>
            <a:off x="502920" y="4498848"/>
            <a:ext cx="2743200" cy="219456"/>
          </a:xfrm>
          <a:prstGeom prst="rect">
            <a:avLst/>
          </a:prstGeom>
          <a:noFill/>
          <a:ln/>
        </p:spPr>
        <p:txBody>
          <a:bodyPr wrap="square" lIns="0" tIns="0" rIns="0" bIns="0" rtlCol="0" anchor="ctr"/>
          <a:lstStyle/>
          <a:p>
            <a:pPr indent="0" marL="0">
              <a:buNone/>
            </a:pPr>
            <a:r>
              <a:rPr lang="en-US" sz="1100" b="1" dirty="0">
                <a:solidFill>
                  <a:srgbClr val="0F2B46"/>
                </a:solidFill>
                <a:latin typeface="맑은 고딕" pitchFamily="34" charset="0"/>
                <a:ea typeface="맑은 고딕" pitchFamily="34" charset="-122"/>
                <a:cs typeface="맑은 고딕" pitchFamily="34" charset="-120"/>
              </a:rPr>
              <a:t>문의 성격 구성</a:t>
            </a:r>
            <a:endParaRPr lang="en-US" sz="1100" dirty="0"/>
          </a:p>
        </p:txBody>
      </p:sp>
      <p:sp>
        <p:nvSpPr>
          <p:cNvPr id="34" name="Shape 31"/>
          <p:cNvSpPr/>
          <p:nvPr/>
        </p:nvSpPr>
        <p:spPr>
          <a:xfrm>
            <a:off x="502920" y="4754880"/>
            <a:ext cx="7828178" cy="402336"/>
          </a:xfrm>
          <a:prstGeom prst="rect">
            <a:avLst/>
          </a:prstGeom>
          <a:solidFill>
            <a:srgbClr val="0F9B8E"/>
          </a:solidFill>
          <a:ln w="12700">
            <a:solidFill>
              <a:srgbClr val="0F9B8E"/>
            </a:solidFill>
            <a:prstDash val="solid"/>
          </a:ln>
        </p:spPr>
      </p:sp>
      <p:sp>
        <p:nvSpPr>
          <p:cNvPr id="35" name="Shape 32"/>
          <p:cNvSpPr/>
          <p:nvPr/>
        </p:nvSpPr>
        <p:spPr>
          <a:xfrm>
            <a:off x="8331098" y="4754880"/>
            <a:ext cx="3354934" cy="402336"/>
          </a:xfrm>
          <a:prstGeom prst="rect">
            <a:avLst/>
          </a:prstGeom>
          <a:solidFill>
            <a:srgbClr val="9CA3AF"/>
          </a:solidFill>
          <a:ln w="12700">
            <a:solidFill>
              <a:srgbClr val="9CA3AF"/>
            </a:solidFill>
            <a:prstDash val="solid"/>
          </a:ln>
        </p:spPr>
      </p:sp>
      <p:sp>
        <p:nvSpPr>
          <p:cNvPr id="36" name="Text 33"/>
          <p:cNvSpPr txBox="1"/>
          <p:nvPr/>
        </p:nvSpPr>
        <p:spPr>
          <a:xfrm>
            <a:off x="502920" y="4754880"/>
            <a:ext cx="7828178"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규정만 확인하면 답이 나오는 문의   70%</a:t>
            </a:r>
            <a:endParaRPr lang="en-US" sz="1150" dirty="0"/>
          </a:p>
        </p:txBody>
      </p:sp>
      <p:sp>
        <p:nvSpPr>
          <p:cNvPr id="37" name="Text 34"/>
          <p:cNvSpPr txBox="1"/>
          <p:nvPr/>
        </p:nvSpPr>
        <p:spPr>
          <a:xfrm>
            <a:off x="8331098" y="4754880"/>
            <a:ext cx="3354934"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판단 필요   30%</a:t>
            </a:r>
            <a:endParaRPr lang="en-US" sz="1150" dirty="0"/>
          </a:p>
        </p:txBody>
      </p:sp>
      <p:sp>
        <p:nvSpPr>
          <p:cNvPr id="38" name="Text 35"/>
          <p:cNvSpPr txBox="1"/>
          <p:nvPr/>
        </p:nvSpPr>
        <p:spPr>
          <a:xfrm>
            <a:off x="502920" y="5184648"/>
            <a:ext cx="7828178" cy="201168"/>
          </a:xfrm>
          <a:prstGeom prst="rect">
            <a:avLst/>
          </a:prstGeom>
          <a:noFill/>
          <a:ln/>
        </p:spPr>
        <p:txBody>
          <a:bodyPr wrap="square" lIns="0" tIns="0" rIns="0" bIns="0" rtlCol="0" anchor="ctr"/>
          <a:lstStyle/>
          <a:p>
            <a:pPr algn="ctr" indent="0" marL="0">
              <a:buNone/>
            </a:pPr>
            <a:r>
              <a:rPr lang="en-US" sz="950" dirty="0">
                <a:solidFill>
                  <a:srgbClr val="6B7280"/>
                </a:solidFill>
                <a:latin typeface="맑은 고딕" pitchFamily="34" charset="0"/>
                <a:ea typeface="맑은 고딕" pitchFamily="34" charset="-122"/>
                <a:cs typeface="맑은 고딕" pitchFamily="34" charset="-120"/>
              </a:rPr>
              <a:t>연 약 263시간 (33일)</a:t>
            </a:r>
            <a:endParaRPr lang="en-US" sz="950" dirty="0"/>
          </a:p>
        </p:txBody>
      </p:sp>
      <p:sp>
        <p:nvSpPr>
          <p:cNvPr id="39" name="Text 36"/>
          <p:cNvSpPr txBox="1"/>
          <p:nvPr/>
        </p:nvSpPr>
        <p:spPr>
          <a:xfrm>
            <a:off x="8331098" y="5184648"/>
            <a:ext cx="3354934" cy="201168"/>
          </a:xfrm>
          <a:prstGeom prst="rect">
            <a:avLst/>
          </a:prstGeom>
          <a:noFill/>
          <a:ln/>
        </p:spPr>
        <p:txBody>
          <a:bodyPr wrap="square" lIns="0" tIns="0" rIns="0" bIns="0" rtlCol="0" anchor="ctr"/>
          <a:lstStyle/>
          <a:p>
            <a:pPr algn="ctr" indent="0" marL="0">
              <a:buNone/>
            </a:pPr>
            <a:r>
              <a:rPr lang="en-US" sz="950" dirty="0">
                <a:solidFill>
                  <a:srgbClr val="6B7280"/>
                </a:solidFill>
                <a:latin typeface="맑은 고딕" pitchFamily="34" charset="0"/>
                <a:ea typeface="맑은 고딕" pitchFamily="34" charset="-122"/>
                <a:cs typeface="맑은 고딕" pitchFamily="34" charset="-120"/>
              </a:rPr>
              <a:t>연 약 112시간 (14일)</a:t>
            </a:r>
            <a:endParaRPr lang="en-US" sz="950" dirty="0"/>
          </a:p>
        </p:txBody>
      </p:sp>
      <p:sp>
        <p:nvSpPr>
          <p:cNvPr id="40" name="Shape 37"/>
          <p:cNvSpPr/>
          <p:nvPr/>
        </p:nvSpPr>
        <p:spPr>
          <a:xfrm>
            <a:off x="502920" y="5541264"/>
            <a:ext cx="11183112" cy="896112"/>
          </a:xfrm>
          <a:prstGeom prst="roundRect">
            <a:avLst>
              <a:gd name="adj" fmla="val 8163"/>
            </a:avLst>
          </a:prstGeom>
          <a:solidFill>
            <a:srgbClr val="0F2B46"/>
          </a:solidFill>
          <a:ln w="12700">
            <a:solidFill>
              <a:srgbClr val="0F2B46"/>
            </a:solidFill>
            <a:prstDash val="solid"/>
          </a:ln>
        </p:spPr>
      </p:sp>
      <p:sp>
        <p:nvSpPr>
          <p:cNvPr id="41" name="Text 38"/>
          <p:cNvSpPr txBox="1"/>
          <p:nvPr/>
        </p:nvSpPr>
        <p:spPr>
          <a:xfrm>
            <a:off x="731520" y="5632704"/>
            <a:ext cx="10725912" cy="329184"/>
          </a:xfrm>
          <a:prstGeom prst="rect">
            <a:avLst/>
          </a:prstGeom>
          <a:noFill/>
          <a:ln/>
        </p:spPr>
        <p:txBody>
          <a:bodyPr wrap="square" lIns="0" tIns="0" rIns="0" bIns="0" rtlCol="0" anchor="ctr"/>
          <a:lstStyle/>
          <a:p>
            <a:pPr indent="0" marL="0">
              <a:buNone/>
            </a:pPr>
            <a:r>
              <a:rPr lang="en-US" sz="1200" b="1" dirty="0">
                <a:solidFill>
                  <a:srgbClr val="0F9B8E"/>
                </a:solidFill>
                <a:latin typeface="맑은 고딕" pitchFamily="34" charset="0"/>
                <a:ea typeface="맑은 고딕" pitchFamily="34" charset="-122"/>
                <a:cs typeface="맑은 고딕" pitchFamily="34" charset="-120"/>
              </a:rPr>
              <a:t>담당자</a:t>
            </a:r>
            <a:pPr indent="0" marL="0">
              <a:buNone/>
            </a:pPr>
            <a:r>
              <a:rPr lang="en-US" sz="1200" dirty="0">
                <a:solidFill>
                  <a:srgbClr val="FFFFFF"/>
                </a:solidFill>
                <a:latin typeface="맑은 고딕" pitchFamily="34" charset="0"/>
                <a:ea typeface="맑은 고딕" pitchFamily="34" charset="-122"/>
                <a:cs typeface="맑은 고딕" pitchFamily="34" charset="-120"/>
              </a:rPr>
              <a:t> 하루 평균 1시간 30분을 문의 응대에 사용, 그중 약 1시간은 규정 확인만으로 답이 나오는 문의</a:t>
            </a:r>
            <a:endParaRPr lang="en-US" sz="1200" dirty="0"/>
          </a:p>
        </p:txBody>
      </p:sp>
      <p:sp>
        <p:nvSpPr>
          <p:cNvPr id="42" name="Text 39"/>
          <p:cNvSpPr txBox="1"/>
          <p:nvPr/>
        </p:nvSpPr>
        <p:spPr>
          <a:xfrm>
            <a:off x="731520" y="5989320"/>
            <a:ext cx="10725912" cy="329184"/>
          </a:xfrm>
          <a:prstGeom prst="rect">
            <a:avLst/>
          </a:prstGeom>
          <a:noFill/>
          <a:ln/>
        </p:spPr>
        <p:txBody>
          <a:bodyPr wrap="square" lIns="0" tIns="0" rIns="0" bIns="0" rtlCol="0" anchor="ctr"/>
          <a:lstStyle/>
          <a:p>
            <a:pPr indent="0" marL="0">
              <a:buNone/>
            </a:pPr>
            <a:r>
              <a:rPr lang="en-US" sz="1200" b="1" dirty="0">
                <a:solidFill>
                  <a:srgbClr val="F0A868"/>
                </a:solidFill>
                <a:latin typeface="맑은 고딕" pitchFamily="34" charset="0"/>
                <a:ea typeface="맑은 고딕" pitchFamily="34" charset="-122"/>
                <a:cs typeface="맑은 고딕" pitchFamily="34" charset="-120"/>
              </a:rPr>
              <a:t>직원</a:t>
            </a:r>
            <a:pPr indent="0" marL="0">
              <a:buNone/>
            </a:pPr>
            <a:r>
              <a:rPr lang="en-US" sz="1200" dirty="0">
                <a:solidFill>
                  <a:srgbClr val="FFFFFF"/>
                </a:solidFill>
                <a:latin typeface="맑은 고딕" pitchFamily="34" charset="0"/>
                <a:ea typeface="맑은 고딕" pitchFamily="34" charset="-122"/>
                <a:cs typeface="맑은 고딕" pitchFamily="34" charset="-120"/>
              </a:rPr>
              <a:t> 문의 후 1시간~반나절 대기 — 경조사·출장 직전처럼 당일 확인이 필요한 상황에서는 실제 차질로 이어짐</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01 문제 정의 · 4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왜 이 문제가 중요한가</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"규정에 답이 있는데 틀리는" 사례가 개발 내내 반복해서 나왔습니다</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457200"/>
                <a:gridCol w="2514600"/>
                <a:gridCol w="2971800"/>
                <a:gridCol w="2834640"/>
                <a:gridCol w="2404872"/>
              </a:tblGrid>
              <a:tr h="384048">
                <a:tc>
                  <a:txBody>
                    <a:bodyPr/>
                    <a:lstStyle/>
                    <a:p>
                      <a:pPr algn="l" indent="0" marL="0">
                        <a:buNone/>
                      </a:pP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질문 상황</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잘못 안내될 뻔한 내용</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규정상 실제 기준</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원인</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84048">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1</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자택이 있는 지역으로 파견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파견비 지급 대상으로 안내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지급 제외 대상</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예외 조항 미검색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2</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출산지원금 문의</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대상·절차만 안내, 금액 누락</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지급표에 금액 명시</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금액이 별도 표에 있어 검색 누락</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3</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"삼촌상을 당했습니다"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배우자 형제자매 기준으로 판정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본인 부모의 형제자매 기준</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해석이 갈리는 호칭</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4</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같은 지역 재부임 시 숙소지원금</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신규 부임 기준으로 2년 초과 지급 단정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재부임은 1년, 합산 3년 이하일 때만 3년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예외 표 미반영</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6" name="Shape 3"/>
          <p:cNvSpPr/>
          <p:nvPr/>
        </p:nvSpPr>
        <p:spPr>
          <a:xfrm>
            <a:off x="502920" y="3703320"/>
            <a:ext cx="6766560" cy="1115568"/>
          </a:xfrm>
          <a:prstGeom prst="roundRect">
            <a:avLst>
              <a:gd name="adj" fmla="val 6557"/>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7" name="Text 4"/>
          <p:cNvSpPr txBox="1"/>
          <p:nvPr/>
        </p:nvSpPr>
        <p:spPr>
          <a:xfrm>
            <a:off x="731520" y="3794760"/>
            <a:ext cx="2743200" cy="237744"/>
          </a:xfrm>
          <a:prstGeom prst="rect">
            <a:avLst/>
          </a:prstGeom>
          <a:noFill/>
          <a:ln/>
        </p:spPr>
        <p:txBody>
          <a:bodyPr wrap="square" lIns="0" tIns="0" rIns="0" bIns="0" rtlCol="0" anchor="ctr"/>
          <a:lstStyle/>
          <a:p>
            <a:pPr indent="0" marL="0">
              <a:buNone/>
            </a:pPr>
            <a:r>
              <a:rPr lang="en-US" sz="1100" b="1" dirty="0">
                <a:solidFill>
                  <a:srgbClr val="0F9B8E"/>
                </a:solidFill>
                <a:latin typeface="맑은 고딕" pitchFamily="34" charset="0"/>
                <a:ea typeface="맑은 고딕" pitchFamily="34" charset="-122"/>
                <a:cs typeface="맑은 고딕" pitchFamily="34" charset="-120"/>
              </a:rPr>
              <a:t>네 사례의 공통점</a:t>
            </a:r>
            <a:endParaRPr lang="en-US" sz="1100" dirty="0"/>
          </a:p>
        </p:txBody>
      </p:sp>
      <p:sp>
        <p:nvSpPr>
          <p:cNvPr id="8" name="Text 5"/>
          <p:cNvSpPr txBox="1"/>
          <p:nvPr/>
        </p:nvSpPr>
        <p:spPr>
          <a:xfrm>
            <a:off x="731520" y="4069080"/>
            <a:ext cx="6309360" cy="658368"/>
          </a:xfrm>
          <a:prstGeom prst="rect">
            <a:avLst/>
          </a:prstGeom>
          <a:noFill/>
          <a:ln/>
        </p:spPr>
        <p:txBody>
          <a:bodyPr wrap="square" lIns="0" tIns="0" rIns="0" bIns="0" rtlCol="0" anchor="ctr"/>
          <a:lstStyle/>
          <a:p>
            <a:pPr indent="0" marL="0">
              <a:lnSpc>
                <a:spcPts val="1800"/>
              </a:lnSpc>
              <a:buNone/>
            </a:pPr>
            <a:r>
              <a:rPr lang="en-US" sz="1250" b="1" dirty="0">
                <a:solidFill>
                  <a:srgbClr val="0F2B46"/>
                </a:solidFill>
                <a:latin typeface="맑은 고딕" pitchFamily="34" charset="0"/>
                <a:ea typeface="맑은 고딕" pitchFamily="34" charset="-122"/>
                <a:cs typeface="맑은 고딕" pitchFamily="34" charset="-120"/>
              </a:rPr>
              <a:t>규정 원문에는 답이 분명히 있었습니다. 틀린 이유는 조항을 잘못 찾았거나, 예외를 놓쳤기 때문입니다.</a:t>
            </a:r>
            <a:endParaRPr lang="en-US" sz="1250" dirty="0"/>
          </a:p>
        </p:txBody>
      </p:sp>
      <p:sp>
        <p:nvSpPr>
          <p:cNvPr id="9" name="Shape 6"/>
          <p:cNvSpPr/>
          <p:nvPr/>
        </p:nvSpPr>
        <p:spPr>
          <a:xfrm>
            <a:off x="7543800" y="3703320"/>
            <a:ext cx="4142232" cy="1115568"/>
          </a:xfrm>
          <a:prstGeom prst="roundRect">
            <a:avLst>
              <a:gd name="adj" fmla="val 6557"/>
            </a:avLst>
          </a:prstGeom>
          <a:solidFill>
            <a:srgbClr val="0F2B46"/>
          </a:solidFill>
          <a:ln w="12700">
            <a:solidFill>
              <a:srgbClr val="0F2B46"/>
            </a:solidFill>
            <a:prstDash val="solid"/>
          </a:ln>
        </p:spPr>
      </p:sp>
      <p:sp>
        <p:nvSpPr>
          <p:cNvPr id="10" name="Text 7"/>
          <p:cNvSpPr txBox="1"/>
          <p:nvPr/>
        </p:nvSpPr>
        <p:spPr>
          <a:xfrm>
            <a:off x="7726680" y="3776472"/>
            <a:ext cx="3776472" cy="969264"/>
          </a:xfrm>
          <a:prstGeom prst="rect">
            <a:avLst/>
          </a:prstGeom>
          <a:noFill/>
          <a:ln/>
        </p:spPr>
        <p:txBody>
          <a:bodyPr wrap="square" lIns="0" tIns="0" rIns="0" bIns="0" rtlCol="0" anchor="ctr"/>
          <a:lstStyle/>
          <a:p>
            <a:pPr indent="0" marL="0">
              <a:lnSpc>
                <a:spcPts val="1800"/>
              </a:lnSpc>
              <a:buNone/>
            </a:pPr>
            <a:r>
              <a:rPr lang="en-US" sz="1150" dirty="0">
                <a:solidFill>
                  <a:srgbClr val="FFFFFF"/>
                </a:solidFill>
                <a:latin typeface="맑은 고딕" pitchFamily="34" charset="0"/>
                <a:ea typeface="맑은 고딕" pitchFamily="34" charset="-122"/>
                <a:cs typeface="맑은 고딕" pitchFamily="34" charset="-120"/>
              </a:rPr>
              <a:t>이것은 AI만의 문제가 아닙니다.</a:t>
            </a:r>
            <a:endParaRPr lang="en-US" sz="1150" dirty="0"/>
          </a:p>
          <a:p>
            <a:pPr indent="0" marL="0">
              <a:lnSpc>
                <a:spcPts val="1800"/>
              </a:lnSpc>
              <a:buNone/>
            </a:pPr>
            <a:r>
              <a:rPr lang="en-US" sz="1150" dirty="0">
                <a:solidFill>
                  <a:srgbClr val="FFFFFF"/>
                </a:solidFill>
                <a:latin typeface="맑은 고딕" pitchFamily="34" charset="0"/>
                <a:ea typeface="맑은 고딕" pitchFamily="34" charset="-122"/>
                <a:cs typeface="맑은 고딕" pitchFamily="34" charset="-120"/>
              </a:rPr>
              <a:t>사람이 응대해도 똑같이 발생하는 실수입니다.</a:t>
            </a:r>
            <a:endParaRPr lang="en-US" sz="1150" dirty="0"/>
          </a:p>
        </p:txBody>
      </p:sp>
      <p:sp>
        <p:nvSpPr>
          <p:cNvPr id="11" name="Text 8"/>
          <p:cNvSpPr txBox="1"/>
          <p:nvPr/>
        </p:nvSpPr>
        <p:spPr>
          <a:xfrm>
            <a:off x="502920" y="5074920"/>
            <a:ext cx="11183112" cy="384048"/>
          </a:xfrm>
          <a:prstGeom prst="rect">
            <a:avLst/>
          </a:prstGeom>
          <a:noFill/>
          <a:ln/>
        </p:spPr>
        <p:txBody>
          <a:bodyPr wrap="square" lIns="0" tIns="0" rIns="0" bIns="0" rtlCol="0" anchor="ctr"/>
          <a:lstStyle/>
          <a:p>
            <a:pPr algn="ctr" indent="0" marL="0">
              <a:buNone/>
            </a:pPr>
            <a:r>
              <a:rPr lang="en-US" sz="1400" b="1" dirty="0">
                <a:solidFill>
                  <a:srgbClr val="0F9B8E"/>
                </a:solidFill>
                <a:latin typeface="맑은 고딕" pitchFamily="34" charset="0"/>
                <a:ea typeface="맑은 고딕" pitchFamily="34" charset="-122"/>
                <a:cs typeface="맑은 고딕" pitchFamily="34" charset="-120"/>
              </a:rPr>
              <a:t>→  그래서 "누가 답하느냐"가 아니라 "근거를 어떻게 찾느냐"를 풀어야 했습니다.</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01 문제 정의 · 5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문제를 바라본 관점과 가설</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"말을 잘 만드는 문제"가 아니라 "근거를 정확히 찾는 문제"로 봤습니다</a:t>
            </a:r>
            <a:endParaRPr lang="en-US" sz="1300" dirty="0"/>
          </a:p>
        </p:txBody>
      </p:sp>
      <p:sp>
        <p:nvSpPr>
          <p:cNvPr id="5" name="Shape 3"/>
          <p:cNvSpPr/>
          <p:nvPr/>
        </p:nvSpPr>
        <p:spPr>
          <a:xfrm>
            <a:off x="502920" y="1325880"/>
            <a:ext cx="3931920" cy="3246120"/>
          </a:xfrm>
          <a:prstGeom prst="roundRect">
            <a:avLst>
              <a:gd name="adj" fmla="val 2254"/>
            </a:avLst>
          </a:prstGeom>
          <a:solidFill>
            <a:srgbClr val="0F2B46"/>
          </a:solidFill>
          <a:ln w="12700">
            <a:solidFill>
              <a:srgbClr val="0F2B46"/>
            </a:solidFill>
            <a:prstDash val="solid"/>
          </a:ln>
        </p:spPr>
      </p:sp>
      <p:sp>
        <p:nvSpPr>
          <p:cNvPr id="6" name="Text 4"/>
          <p:cNvSpPr txBox="1"/>
          <p:nvPr/>
        </p:nvSpPr>
        <p:spPr>
          <a:xfrm>
            <a:off x="758952" y="1536192"/>
            <a:ext cx="3383280" cy="274320"/>
          </a:xfrm>
          <a:prstGeom prst="rect">
            <a:avLst/>
          </a:prstGeom>
          <a:noFill/>
          <a:ln/>
        </p:spPr>
        <p:txBody>
          <a:bodyPr wrap="square" lIns="0" tIns="0" rIns="0" bIns="0" rtlCol="0" anchor="ctr"/>
          <a:lstStyle/>
          <a:p>
            <a:pPr indent="0" marL="0">
              <a:buNone/>
            </a:pPr>
            <a:r>
              <a:rPr lang="en-US" sz="1200" b="1" dirty="0">
                <a:solidFill>
                  <a:srgbClr val="0F9B8E"/>
                </a:solidFill>
                <a:latin typeface="맑은 고딕" pitchFamily="34" charset="0"/>
                <a:ea typeface="맑은 고딕" pitchFamily="34" charset="-122"/>
                <a:cs typeface="맑은 고딕" pitchFamily="34" charset="-120"/>
              </a:rPr>
              <a:t>핵심 가설</a:t>
            </a:r>
            <a:endParaRPr lang="en-US" sz="1200" dirty="0"/>
          </a:p>
        </p:txBody>
      </p:sp>
      <p:sp>
        <p:nvSpPr>
          <p:cNvPr id="7" name="Text 5"/>
          <p:cNvSpPr txBox="1"/>
          <p:nvPr/>
        </p:nvSpPr>
        <p:spPr>
          <a:xfrm>
            <a:off x="758952" y="1920240"/>
            <a:ext cx="3419856" cy="1280160"/>
          </a:xfrm>
          <a:prstGeom prst="rect">
            <a:avLst/>
          </a:prstGeom>
          <a:noFill/>
          <a:ln/>
        </p:spPr>
        <p:txBody>
          <a:bodyPr wrap="square" lIns="0" tIns="0" rIns="0" bIns="0" rtlCol="0" anchor="ctr"/>
          <a:lstStyle/>
          <a:p>
            <a:pPr indent="0" marL="0">
              <a:lnSpc>
                <a:spcPts val="2500"/>
              </a:lnSpc>
              <a:buNone/>
            </a:pPr>
            <a:r>
              <a:rPr lang="en-US" sz="1500" b="1" dirty="0">
                <a:solidFill>
                  <a:srgbClr val="FFFFFF"/>
                </a:solidFill>
                <a:latin typeface="맑은 고딕" pitchFamily="34" charset="0"/>
                <a:ea typeface="맑은 고딕" pitchFamily="34" charset="-122"/>
                <a:cs typeface="맑은 고딕" pitchFamily="34" charset="-120"/>
              </a:rPr>
              <a:t>복리후생 상담의 실패는</a:t>
            </a:r>
            <a:endParaRPr lang="en-US" sz="1500" dirty="0"/>
          </a:p>
          <a:p>
            <a:pPr indent="0" marL="0">
              <a:lnSpc>
                <a:spcPts val="2500"/>
              </a:lnSpc>
              <a:buNone/>
            </a:pPr>
            <a:r>
              <a:rPr lang="en-US" sz="1500" b="1" dirty="0">
                <a:solidFill>
                  <a:srgbClr val="FFFFFF"/>
                </a:solidFill>
                <a:latin typeface="맑은 고딕" pitchFamily="34" charset="0"/>
                <a:ea typeface="맑은 고딕" pitchFamily="34" charset="-122"/>
                <a:cs typeface="맑은 고딕" pitchFamily="34" charset="-120"/>
              </a:rPr>
              <a:t>문장을 잘 못 써서가 아니라,</a:t>
            </a:r>
            <a:endParaRPr lang="en-US" sz="1500" dirty="0"/>
          </a:p>
          <a:p>
            <a:pPr indent="0" marL="0">
              <a:lnSpc>
                <a:spcPts val="2500"/>
              </a:lnSpc>
              <a:buNone/>
            </a:pPr>
            <a:r>
              <a:rPr lang="en-US" sz="1500" b="1" dirty="0">
                <a:solidFill>
                  <a:srgbClr val="FFFFFF"/>
                </a:solidFill>
                <a:latin typeface="맑은 고딕" pitchFamily="34" charset="0"/>
                <a:ea typeface="맑은 고딕" pitchFamily="34" charset="-122"/>
                <a:cs typeface="맑은 고딕" pitchFamily="34" charset="-120"/>
              </a:rPr>
              <a:t>근거가 될 조항을</a:t>
            </a:r>
            <a:endParaRPr lang="en-US" sz="1500" dirty="0"/>
          </a:p>
          <a:p>
            <a:pPr indent="0" marL="0">
              <a:lnSpc>
                <a:spcPts val="2500"/>
              </a:lnSpc>
              <a:buNone/>
            </a:pPr>
            <a:r>
              <a:rPr lang="en-US" sz="1500" b="1" dirty="0">
                <a:solidFill>
                  <a:srgbClr val="FFFFFF"/>
                </a:solidFill>
                <a:latin typeface="맑은 고딕" pitchFamily="34" charset="0"/>
                <a:ea typeface="맑은 고딕" pitchFamily="34" charset="-122"/>
                <a:cs typeface="맑은 고딕" pitchFamily="34" charset="-120"/>
              </a:rPr>
              <a:t>잘못 찾아서 발생한다.</a:t>
            </a:r>
            <a:endParaRPr lang="en-US" sz="1500" dirty="0"/>
          </a:p>
        </p:txBody>
      </p:sp>
      <p:sp>
        <p:nvSpPr>
          <p:cNvPr id="8" name="Shape 6"/>
          <p:cNvSpPr/>
          <p:nvPr/>
        </p:nvSpPr>
        <p:spPr>
          <a:xfrm>
            <a:off x="758952" y="3310128"/>
            <a:ext cx="3419856" cy="0"/>
          </a:xfrm>
          <a:prstGeom prst="line">
            <a:avLst/>
          </a:prstGeom>
          <a:noFill/>
          <a:ln w="12700">
            <a:solidFill>
              <a:srgbClr val="2A5077"/>
            </a:solidFill>
            <a:prstDash val="solid"/>
          </a:ln>
        </p:spPr>
      </p:sp>
      <p:sp>
        <p:nvSpPr>
          <p:cNvPr id="9" name="Text 7"/>
          <p:cNvSpPr txBox="1"/>
          <p:nvPr/>
        </p:nvSpPr>
        <p:spPr>
          <a:xfrm>
            <a:off x="758952" y="3438144"/>
            <a:ext cx="3419856" cy="237744"/>
          </a:xfrm>
          <a:prstGeom prst="rect">
            <a:avLst/>
          </a:prstGeom>
          <a:noFill/>
          <a:ln/>
        </p:spPr>
        <p:txBody>
          <a:bodyPr wrap="square" lIns="0" tIns="0" rIns="0" bIns="0" rtlCol="0" anchor="ctr"/>
          <a:lstStyle/>
          <a:p>
            <a:pPr indent="0" marL="0">
              <a:buNone/>
            </a:pPr>
            <a:r>
              <a:rPr lang="en-US" sz="1050" dirty="0">
                <a:solidFill>
                  <a:srgbClr val="8FA9C4"/>
                </a:solidFill>
                <a:latin typeface="맑은 고딕" pitchFamily="34" charset="0"/>
                <a:ea typeface="맑은 고딕" pitchFamily="34" charset="-122"/>
                <a:cs typeface="맑은 고딕" pitchFamily="34" charset="-120"/>
              </a:rPr>
              <a:t>그래서 노력을 투자한 곳</a:t>
            </a:r>
            <a:endParaRPr lang="en-US" sz="1050" dirty="0"/>
          </a:p>
        </p:txBody>
      </p:sp>
      <p:sp>
        <p:nvSpPr>
          <p:cNvPr id="10" name="Text 8"/>
          <p:cNvSpPr txBox="1"/>
          <p:nvPr/>
        </p:nvSpPr>
        <p:spPr>
          <a:xfrm>
            <a:off x="758952" y="3694176"/>
            <a:ext cx="3419856" cy="749808"/>
          </a:xfrm>
          <a:prstGeom prst="rect">
            <a:avLst/>
          </a:prstGeom>
          <a:noFill/>
          <a:ln/>
        </p:spPr>
        <p:txBody>
          <a:bodyPr wrap="square" lIns="0" tIns="0" rIns="0" bIns="0" rtlCol="0" anchor="ctr"/>
          <a:lstStyle/>
          <a:p>
            <a:pPr indent="0" marL="0">
              <a:lnSpc>
                <a:spcPts val="1900"/>
              </a:lnSpc>
              <a:buNone/>
            </a:pPr>
            <a:r>
              <a:rPr lang="en-US" sz="1200" dirty="0">
                <a:solidFill>
                  <a:srgbClr val="8FA9C4"/>
                </a:solidFill>
                <a:latin typeface="맑은 고딕" pitchFamily="34" charset="0"/>
                <a:ea typeface="맑은 고딕" pitchFamily="34" charset="-122"/>
                <a:cs typeface="맑은 고딕" pitchFamily="34" charset="-120"/>
              </a:rPr>
              <a:t>✕  그럴듯한 답변 문장
</a:t>
            </a:r>
            <a:pPr indent="0" marL="0">
              <a:lnSpc>
                <a:spcPts val="1900"/>
              </a:lnSpc>
              <a:buNone/>
            </a:pPr>
            <a:r>
              <a:rPr lang="en-US" sz="1200" b="1" dirty="0">
                <a:solidFill>
                  <a:srgbClr val="FFFFFF"/>
                </a:solidFill>
                <a:latin typeface="맑은 고딕" pitchFamily="34" charset="0"/>
                <a:ea typeface="맑은 고딕" pitchFamily="34" charset="-122"/>
                <a:cs typeface="맑은 고딕" pitchFamily="34" charset="-120"/>
              </a:rPr>
              <a:t>○  정확한 조항 검색
</a:t>
            </a:r>
            <a:pPr indent="0" marL="0">
              <a:lnSpc>
                <a:spcPts val="1900"/>
              </a:lnSpc>
              <a:buNone/>
            </a:pPr>
            <a:r>
              <a:rPr lang="en-US" sz="1200" b="1" dirty="0">
                <a:solidFill>
                  <a:srgbClr val="FFFFFF"/>
                </a:solidFill>
                <a:latin typeface="맑은 고딕" pitchFamily="34" charset="0"/>
                <a:ea typeface="맑은 고딕" pitchFamily="34" charset="-122"/>
                <a:cs typeface="맑은 고딕" pitchFamily="34" charset="-120"/>
              </a:rPr>
              <a:t>○  근거가 부족하면 멈추는 장치</a:t>
            </a:r>
            <a:endParaRPr lang="en-US" sz="1200" dirty="0"/>
          </a:p>
        </p:txBody>
      </p:sp>
      <p:sp>
        <p:nvSpPr>
          <p:cNvPr id="11" name="Text 9"/>
          <p:cNvSpPr txBox="1"/>
          <p:nvPr/>
        </p:nvSpPr>
        <p:spPr>
          <a:xfrm>
            <a:off x="4809744" y="1325880"/>
            <a:ext cx="6858000" cy="256032"/>
          </a:xfrm>
          <a:prstGeom prst="rect">
            <a:avLst/>
          </a:prstGeom>
          <a:noFill/>
          <a:ln/>
        </p:spPr>
        <p:txBody>
          <a:bodyPr wrap="square" lIns="0" tIns="0" rIns="0" bIns="0" rtlCol="0" anchor="ctr"/>
          <a:lstStyle/>
          <a:p>
            <a:pPr indent="0" marL="0">
              <a:buNone/>
            </a:pPr>
            <a:r>
              <a:rPr lang="en-US" sz="1200" b="1" dirty="0">
                <a:solidFill>
                  <a:srgbClr val="0F2B46"/>
                </a:solidFill>
                <a:latin typeface="맑은 고딕" pitchFamily="34" charset="0"/>
                <a:ea typeface="맑은 고딕" pitchFamily="34" charset="-122"/>
                <a:cs typeface="맑은 고딕" pitchFamily="34" charset="-120"/>
              </a:rPr>
              <a:t>여기서 도출한 3가지 설계 원칙</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09744" y="1627632"/>
          <a:ext cx="6876288" cy="914400"/>
        </p:xfrm>
        <a:graphic>
          <a:graphicData uri="http://schemas.openxmlformats.org/drawingml/2006/table">
            <a:tbl>
              <a:tblPr/>
              <a:tblGrid>
                <a:gridCol w="2103120"/>
                <a:gridCol w="2578608"/>
                <a:gridCol w="2194560"/>
              </a:tblGrid>
              <a:tr h="41148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원칙</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구현에 반영된 형태</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411480">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1. 근거 위에서만 답한다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검색된 조항에 없는 금액·기한·자격을 새로 만들지 않는다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답변 생성 단계가 검색 결과만 입력으로 받음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11480">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2. 확신 없으면 멈춘다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단정하는 대신 되묻거나 담당자에게 넘긴다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답변 생성 전 근거 판정 단계를 별도로 둠</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11480">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3. 매번 숫자로 확인한다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고친 것이 다시 깨지지 않는지 검증한다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회귀 평가셋 62문항 + 답변 고정 36건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13" name="Text 10"/>
          <p:cNvSpPr txBox="1"/>
          <p:nvPr/>
        </p:nvSpPr>
        <p:spPr>
          <a:xfrm>
            <a:off x="502920" y="4800600"/>
            <a:ext cx="5486400" cy="256032"/>
          </a:xfrm>
          <a:prstGeom prst="rect">
            <a:avLst/>
          </a:prstGeom>
          <a:noFill/>
          <a:ln/>
        </p:spPr>
        <p:txBody>
          <a:bodyPr wrap="square" lIns="0" tIns="0" rIns="0" bIns="0" rtlCol="0" anchor="ctr"/>
          <a:lstStyle/>
          <a:p>
            <a:pPr indent="0" marL="0">
              <a:buNone/>
            </a:pPr>
            <a:r>
              <a:rPr lang="en-US" sz="1200" b="1" dirty="0">
                <a:solidFill>
                  <a:srgbClr val="0F2B46"/>
                </a:solidFill>
                <a:latin typeface="맑은 고딕" pitchFamily="34" charset="0"/>
                <a:ea typeface="맑은 고딕" pitchFamily="34" charset="-122"/>
                <a:cs typeface="맑은 고딕" pitchFamily="34" charset="-120"/>
              </a:rPr>
              <a:t>왜 이 4개 제도부터인가</a:t>
            </a:r>
            <a:endParaRPr lang="en-US" sz="12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02920" y="5102352"/>
          <a:ext cx="11183112" cy="914400"/>
        </p:xfrm>
        <a:graphic>
          <a:graphicData uri="http://schemas.openxmlformats.org/drawingml/2006/table">
            <a:tbl>
              <a:tblPr/>
              <a:tblGrid>
                <a:gridCol w="2011680"/>
                <a:gridCol w="4206240"/>
                <a:gridCol w="4965192"/>
              </a:tblGrid>
              <a:tr h="32004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선정 기준</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설명</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해당 제도의 특징</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2004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문의 빈도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전 직원 대상이라 반복 문의가 가장 많음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월 150건 문의의 대부분이 이 4개 제도에 집중</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004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조항 세분화</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상황·관계·기간별로 조항이 잘게 나뉨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경조금은 관계별, 여비는 국내/해외별로 분리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004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검증 가능성</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 원문을 확보해 정답 대조가 가능</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6개 문서 전체를 텍스트로 확보 완료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02 구현 내용 · 6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전체 처리 흐름</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질문 하나가 네 단계를 거쳐 "근거가 붙은 답변"이 됩니다</a:t>
            </a:r>
            <a:endParaRPr lang="en-US" sz="1300" dirty="0"/>
          </a:p>
        </p:txBody>
      </p:sp>
      <p:sp>
        <p:nvSpPr>
          <p:cNvPr id="5" name="Shape 3"/>
          <p:cNvSpPr/>
          <p:nvPr/>
        </p:nvSpPr>
        <p:spPr>
          <a:xfrm>
            <a:off x="502920" y="1325880"/>
            <a:ext cx="2624328" cy="1371600"/>
          </a:xfrm>
          <a:prstGeom prst="roundRect">
            <a:avLst>
              <a:gd name="adj" fmla="val 5333"/>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6" name="Shape 4"/>
          <p:cNvSpPr/>
          <p:nvPr/>
        </p:nvSpPr>
        <p:spPr>
          <a:xfrm>
            <a:off x="667512" y="1481328"/>
            <a:ext cx="292608" cy="292608"/>
          </a:xfrm>
          <a:prstGeom prst="ellipse">
            <a:avLst/>
          </a:prstGeom>
          <a:solidFill>
            <a:srgbClr val="0F9B8E"/>
          </a:solidFill>
          <a:ln w="12700">
            <a:solidFill>
              <a:srgbClr val="0F9B8E"/>
            </a:solidFill>
            <a:prstDash val="solid"/>
          </a:ln>
        </p:spPr>
      </p:sp>
      <p:sp>
        <p:nvSpPr>
          <p:cNvPr id="7" name="Text 5"/>
          <p:cNvSpPr txBox="1"/>
          <p:nvPr/>
        </p:nvSpPr>
        <p:spPr>
          <a:xfrm>
            <a:off x="667512" y="1481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8" name="Text 6"/>
          <p:cNvSpPr txBox="1"/>
          <p:nvPr/>
        </p:nvSpPr>
        <p:spPr>
          <a:xfrm>
            <a:off x="1033272" y="1463040"/>
            <a:ext cx="1938528" cy="329184"/>
          </a:xfrm>
          <a:prstGeom prst="rect">
            <a:avLst/>
          </a:prstGeom>
          <a:noFill/>
          <a:ln/>
        </p:spPr>
        <p:txBody>
          <a:bodyPr wrap="square" lIns="0" tIns="0" rIns="0" bIns="0" rtlCol="0" anchor="ctr"/>
          <a:lstStyle/>
          <a:p>
            <a:pPr indent="0" marL="0">
              <a:buNone/>
            </a:pPr>
            <a:r>
              <a:rPr lang="en-US" sz="1300" b="1" dirty="0">
                <a:solidFill>
                  <a:srgbClr val="0F2B46"/>
                </a:solidFill>
                <a:latin typeface="맑은 고딕" pitchFamily="34" charset="0"/>
                <a:ea typeface="맑은 고딕" pitchFamily="34" charset="-122"/>
                <a:cs typeface="맑은 고딕" pitchFamily="34" charset="-120"/>
              </a:rPr>
              <a:t>질문 다시 쓰기</a:t>
            </a:r>
            <a:endParaRPr lang="en-US" sz="1300" dirty="0"/>
          </a:p>
        </p:txBody>
      </p:sp>
      <p:sp>
        <p:nvSpPr>
          <p:cNvPr id="9" name="Text 7"/>
          <p:cNvSpPr txBox="1"/>
          <p:nvPr/>
        </p:nvSpPr>
        <p:spPr>
          <a:xfrm>
            <a:off x="667512" y="1828800"/>
            <a:ext cx="2295144" cy="219456"/>
          </a:xfrm>
          <a:prstGeom prst="rect">
            <a:avLst/>
          </a:prstGeom>
          <a:noFill/>
          <a:ln/>
        </p:spPr>
        <p:txBody>
          <a:bodyPr wrap="square" lIns="0" tIns="0" rIns="0" bIns="0" rtlCol="0" anchor="ctr"/>
          <a:lstStyle/>
          <a:p>
            <a:pPr indent="0" marL="0">
              <a:buNone/>
            </a:pPr>
            <a:r>
              <a:rPr lang="en-US" sz="1000" i="1" dirty="0">
                <a:solidFill>
                  <a:srgbClr val="0F9B8E"/>
                </a:solidFill>
                <a:latin typeface="맑은 고딕" pitchFamily="34" charset="0"/>
                <a:ea typeface="맑은 고딕" pitchFamily="34" charset="-122"/>
                <a:cs typeface="맑은 고딕" pitchFamily="34" charset="-120"/>
              </a:rPr>
              <a:t>resolve</a:t>
            </a:r>
            <a:endParaRPr lang="en-US" sz="1000" dirty="0"/>
          </a:p>
        </p:txBody>
      </p:sp>
      <p:sp>
        <p:nvSpPr>
          <p:cNvPr id="10" name="Text 8"/>
          <p:cNvSpPr txBox="1"/>
          <p:nvPr/>
        </p:nvSpPr>
        <p:spPr>
          <a:xfrm>
            <a:off x="667512" y="2066544"/>
            <a:ext cx="2295144" cy="512064"/>
          </a:xfrm>
          <a:prstGeom prst="rect">
            <a:avLst/>
          </a:prstGeom>
          <a:noFill/>
          <a:ln/>
        </p:spPr>
        <p:txBody>
          <a:bodyPr wrap="square" lIns="0" tIns="0" rIns="0" bIns="0" rtlCol="0" anchor="ctr"/>
          <a:lstStyle/>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이전 대화를 반영해</a:t>
            </a:r>
            <a:endParaRPr lang="en-US" sz="1050" dirty="0"/>
          </a:p>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완결된 문장으로</a:t>
            </a:r>
            <a:endParaRPr lang="en-US" sz="1050" dirty="0"/>
          </a:p>
        </p:txBody>
      </p:sp>
      <p:sp>
        <p:nvSpPr>
          <p:cNvPr id="11" name="Shape 9"/>
          <p:cNvSpPr/>
          <p:nvPr/>
        </p:nvSpPr>
        <p:spPr>
          <a:xfrm>
            <a:off x="3145536" y="1947672"/>
            <a:ext cx="192024" cy="128016"/>
          </a:xfrm>
          <a:prstGeom prst="rightArrow">
            <a:avLst/>
          </a:prstGeom>
          <a:solidFill>
            <a:srgbClr val="9CA3AF"/>
          </a:solidFill>
          <a:ln w="12700">
            <a:solidFill>
              <a:srgbClr val="9CA3AF"/>
            </a:solidFill>
            <a:prstDash val="solid"/>
          </a:ln>
        </p:spPr>
      </p:sp>
      <p:sp>
        <p:nvSpPr>
          <p:cNvPr id="12" name="Shape 10"/>
          <p:cNvSpPr/>
          <p:nvPr/>
        </p:nvSpPr>
        <p:spPr>
          <a:xfrm>
            <a:off x="3355848" y="1325880"/>
            <a:ext cx="2624328" cy="1371600"/>
          </a:xfrm>
          <a:prstGeom prst="roundRect">
            <a:avLst>
              <a:gd name="adj" fmla="val 5333"/>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3" name="Shape 11"/>
          <p:cNvSpPr/>
          <p:nvPr/>
        </p:nvSpPr>
        <p:spPr>
          <a:xfrm>
            <a:off x="3520440" y="1481328"/>
            <a:ext cx="292608" cy="292608"/>
          </a:xfrm>
          <a:prstGeom prst="ellipse">
            <a:avLst/>
          </a:prstGeom>
          <a:solidFill>
            <a:srgbClr val="0F9B8E"/>
          </a:solidFill>
          <a:ln w="12700">
            <a:solidFill>
              <a:srgbClr val="0F9B8E"/>
            </a:solidFill>
            <a:prstDash val="solid"/>
          </a:ln>
        </p:spPr>
      </p:sp>
      <p:sp>
        <p:nvSpPr>
          <p:cNvPr id="14" name="Text 12"/>
          <p:cNvSpPr txBox="1"/>
          <p:nvPr/>
        </p:nvSpPr>
        <p:spPr>
          <a:xfrm>
            <a:off x="3520440" y="1481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15" name="Text 13"/>
          <p:cNvSpPr txBox="1"/>
          <p:nvPr/>
        </p:nvSpPr>
        <p:spPr>
          <a:xfrm>
            <a:off x="3886200" y="1463040"/>
            <a:ext cx="1938528" cy="329184"/>
          </a:xfrm>
          <a:prstGeom prst="rect">
            <a:avLst/>
          </a:prstGeom>
          <a:noFill/>
          <a:ln/>
        </p:spPr>
        <p:txBody>
          <a:bodyPr wrap="square" lIns="0" tIns="0" rIns="0" bIns="0" rtlCol="0" anchor="ctr"/>
          <a:lstStyle/>
          <a:p>
            <a:pPr indent="0" marL="0">
              <a:buNone/>
            </a:pPr>
            <a:r>
              <a:rPr lang="en-US" sz="1300" b="1" dirty="0">
                <a:solidFill>
                  <a:srgbClr val="0F2B46"/>
                </a:solidFill>
                <a:latin typeface="맑은 고딕" pitchFamily="34" charset="0"/>
                <a:ea typeface="맑은 고딕" pitchFamily="34" charset="-122"/>
                <a:cs typeface="맑은 고딕" pitchFamily="34" charset="-120"/>
              </a:rPr>
              <a:t>규정 검색</a:t>
            </a:r>
            <a:endParaRPr lang="en-US" sz="1300" dirty="0"/>
          </a:p>
        </p:txBody>
      </p:sp>
      <p:sp>
        <p:nvSpPr>
          <p:cNvPr id="16" name="Text 14"/>
          <p:cNvSpPr txBox="1"/>
          <p:nvPr/>
        </p:nvSpPr>
        <p:spPr>
          <a:xfrm>
            <a:off x="3520440" y="1828800"/>
            <a:ext cx="2295144" cy="219456"/>
          </a:xfrm>
          <a:prstGeom prst="rect">
            <a:avLst/>
          </a:prstGeom>
          <a:noFill/>
          <a:ln/>
        </p:spPr>
        <p:txBody>
          <a:bodyPr wrap="square" lIns="0" tIns="0" rIns="0" bIns="0" rtlCol="0" anchor="ctr"/>
          <a:lstStyle/>
          <a:p>
            <a:pPr indent="0" marL="0">
              <a:buNone/>
            </a:pPr>
            <a:r>
              <a:rPr lang="en-US" sz="1000" i="1" dirty="0">
                <a:solidFill>
                  <a:srgbClr val="0F9B8E"/>
                </a:solidFill>
                <a:latin typeface="맑은 고딕" pitchFamily="34" charset="0"/>
                <a:ea typeface="맑은 고딕" pitchFamily="34" charset="-122"/>
                <a:cs typeface="맑은 고딕" pitchFamily="34" charset="-120"/>
              </a:rPr>
              <a:t>retrieve</a:t>
            </a:r>
            <a:endParaRPr lang="en-US" sz="1000" dirty="0"/>
          </a:p>
        </p:txBody>
      </p:sp>
      <p:sp>
        <p:nvSpPr>
          <p:cNvPr id="17" name="Text 15"/>
          <p:cNvSpPr txBox="1"/>
          <p:nvPr/>
        </p:nvSpPr>
        <p:spPr>
          <a:xfrm>
            <a:off x="3520440" y="2066544"/>
            <a:ext cx="2295144" cy="512064"/>
          </a:xfrm>
          <a:prstGeom prst="rect">
            <a:avLst/>
          </a:prstGeom>
          <a:noFill/>
          <a:ln/>
        </p:spPr>
        <p:txBody>
          <a:bodyPr wrap="square" lIns="0" tIns="0" rIns="0" bIns="0" rtlCol="0" anchor="ctr"/>
          <a:lstStyle/>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135개 조항 중</a:t>
            </a:r>
            <a:endParaRPr lang="en-US" sz="1050" dirty="0"/>
          </a:p>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관련 조항 검색</a:t>
            </a:r>
            <a:endParaRPr lang="en-US" sz="1050" dirty="0"/>
          </a:p>
        </p:txBody>
      </p:sp>
      <p:sp>
        <p:nvSpPr>
          <p:cNvPr id="18" name="Shape 16"/>
          <p:cNvSpPr/>
          <p:nvPr/>
        </p:nvSpPr>
        <p:spPr>
          <a:xfrm>
            <a:off x="5998464" y="1947672"/>
            <a:ext cx="192024" cy="128016"/>
          </a:xfrm>
          <a:prstGeom prst="rightArrow">
            <a:avLst/>
          </a:prstGeom>
          <a:solidFill>
            <a:srgbClr val="9CA3AF"/>
          </a:solidFill>
          <a:ln w="12700">
            <a:solidFill>
              <a:srgbClr val="9CA3AF"/>
            </a:solidFill>
            <a:prstDash val="solid"/>
          </a:ln>
        </p:spPr>
      </p:sp>
      <p:sp>
        <p:nvSpPr>
          <p:cNvPr id="19" name="Shape 17"/>
          <p:cNvSpPr/>
          <p:nvPr/>
        </p:nvSpPr>
        <p:spPr>
          <a:xfrm>
            <a:off x="6208776" y="1325880"/>
            <a:ext cx="2624328" cy="1371600"/>
          </a:xfrm>
          <a:prstGeom prst="roundRect">
            <a:avLst>
              <a:gd name="adj" fmla="val 5333"/>
            </a:avLst>
          </a:prstGeom>
          <a:solidFill>
            <a:srgbClr val="E6F5F3"/>
          </a:solidFill>
          <a:ln w="22225">
            <a:solidFill>
              <a:srgbClr val="0F9B8E"/>
            </a:solidFill>
            <a:prstDash val="solid"/>
          </a:ln>
          <a:effectLst>
            <a:outerShdw sx="100000" sy="100000" kx="0" ky="0" algn="bl" rotWithShape="0" blurRad="127000" dist="12700" dir="5400000">
              <a:srgbClr val="0F2B46">
                <a:alpha val="10000"/>
              </a:srgbClr>
            </a:outerShdw>
          </a:effectLst>
        </p:spPr>
      </p:sp>
      <p:sp>
        <p:nvSpPr>
          <p:cNvPr id="20" name="Shape 18"/>
          <p:cNvSpPr/>
          <p:nvPr/>
        </p:nvSpPr>
        <p:spPr>
          <a:xfrm>
            <a:off x="6373368" y="1481328"/>
            <a:ext cx="292608" cy="292608"/>
          </a:xfrm>
          <a:prstGeom prst="ellipse">
            <a:avLst/>
          </a:prstGeom>
          <a:solidFill>
            <a:srgbClr val="0F9B8E"/>
          </a:solidFill>
          <a:ln w="12700">
            <a:solidFill>
              <a:srgbClr val="0F9B8E"/>
            </a:solidFill>
            <a:prstDash val="solid"/>
          </a:ln>
        </p:spPr>
      </p:sp>
      <p:sp>
        <p:nvSpPr>
          <p:cNvPr id="21" name="Text 19"/>
          <p:cNvSpPr txBox="1"/>
          <p:nvPr/>
        </p:nvSpPr>
        <p:spPr>
          <a:xfrm>
            <a:off x="6373368" y="1481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2" name="Text 20"/>
          <p:cNvSpPr txBox="1"/>
          <p:nvPr/>
        </p:nvSpPr>
        <p:spPr>
          <a:xfrm>
            <a:off x="6739128" y="1463040"/>
            <a:ext cx="1938528" cy="329184"/>
          </a:xfrm>
          <a:prstGeom prst="rect">
            <a:avLst/>
          </a:prstGeom>
          <a:noFill/>
          <a:ln/>
        </p:spPr>
        <p:txBody>
          <a:bodyPr wrap="square" lIns="0" tIns="0" rIns="0" bIns="0" rtlCol="0" anchor="ctr"/>
          <a:lstStyle/>
          <a:p>
            <a:pPr indent="0" marL="0">
              <a:buNone/>
            </a:pPr>
            <a:r>
              <a:rPr lang="en-US" sz="1300" b="1" dirty="0">
                <a:solidFill>
                  <a:srgbClr val="0F2B46"/>
                </a:solidFill>
                <a:latin typeface="맑은 고딕" pitchFamily="34" charset="0"/>
                <a:ea typeface="맑은 고딕" pitchFamily="34" charset="-122"/>
                <a:cs typeface="맑은 고딕" pitchFamily="34" charset="-120"/>
              </a:rPr>
              <a:t>근거 판정</a:t>
            </a:r>
            <a:endParaRPr lang="en-US" sz="1300" dirty="0"/>
          </a:p>
        </p:txBody>
      </p:sp>
      <p:sp>
        <p:nvSpPr>
          <p:cNvPr id="23" name="Text 21"/>
          <p:cNvSpPr txBox="1"/>
          <p:nvPr/>
        </p:nvSpPr>
        <p:spPr>
          <a:xfrm>
            <a:off x="6373368" y="1828800"/>
            <a:ext cx="2295144" cy="219456"/>
          </a:xfrm>
          <a:prstGeom prst="rect">
            <a:avLst/>
          </a:prstGeom>
          <a:noFill/>
          <a:ln/>
        </p:spPr>
        <p:txBody>
          <a:bodyPr wrap="square" lIns="0" tIns="0" rIns="0" bIns="0" rtlCol="0" anchor="ctr"/>
          <a:lstStyle/>
          <a:p>
            <a:pPr indent="0" marL="0">
              <a:buNone/>
            </a:pPr>
            <a:r>
              <a:rPr lang="en-US" sz="1000" i="1" dirty="0">
                <a:solidFill>
                  <a:srgbClr val="0F9B8E"/>
                </a:solidFill>
                <a:latin typeface="맑은 고딕" pitchFamily="34" charset="0"/>
                <a:ea typeface="맑은 고딕" pitchFamily="34" charset="-122"/>
                <a:cs typeface="맑은 고딕" pitchFamily="34" charset="-120"/>
              </a:rPr>
              <a:t>analyze</a:t>
            </a:r>
            <a:endParaRPr lang="en-US" sz="1000" dirty="0"/>
          </a:p>
        </p:txBody>
      </p:sp>
      <p:sp>
        <p:nvSpPr>
          <p:cNvPr id="24" name="Text 22"/>
          <p:cNvSpPr txBox="1"/>
          <p:nvPr/>
        </p:nvSpPr>
        <p:spPr>
          <a:xfrm>
            <a:off x="6373368" y="2066544"/>
            <a:ext cx="2295144" cy="512064"/>
          </a:xfrm>
          <a:prstGeom prst="rect">
            <a:avLst/>
          </a:prstGeom>
          <a:noFill/>
          <a:ln/>
        </p:spPr>
        <p:txBody>
          <a:bodyPr wrap="square" lIns="0" tIns="0" rIns="0" bIns="0" rtlCol="0" anchor="ctr"/>
          <a:lstStyle/>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"이 근거로 답할 수</a:t>
            </a:r>
            <a:endParaRPr lang="en-US" sz="1050" dirty="0"/>
          </a:p>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있는가"를 판단</a:t>
            </a:r>
            <a:endParaRPr lang="en-US" sz="1050" dirty="0"/>
          </a:p>
        </p:txBody>
      </p:sp>
      <p:sp>
        <p:nvSpPr>
          <p:cNvPr id="25" name="Shape 23"/>
          <p:cNvSpPr/>
          <p:nvPr/>
        </p:nvSpPr>
        <p:spPr>
          <a:xfrm>
            <a:off x="8851392" y="1947672"/>
            <a:ext cx="192024" cy="128016"/>
          </a:xfrm>
          <a:prstGeom prst="rightArrow">
            <a:avLst/>
          </a:prstGeom>
          <a:solidFill>
            <a:srgbClr val="9CA3AF"/>
          </a:solidFill>
          <a:ln w="12700">
            <a:solidFill>
              <a:srgbClr val="9CA3AF"/>
            </a:solidFill>
            <a:prstDash val="solid"/>
          </a:ln>
        </p:spPr>
      </p:sp>
      <p:sp>
        <p:nvSpPr>
          <p:cNvPr id="26" name="Shape 24"/>
          <p:cNvSpPr/>
          <p:nvPr/>
        </p:nvSpPr>
        <p:spPr>
          <a:xfrm>
            <a:off x="9061704" y="1325880"/>
            <a:ext cx="2624328" cy="1371600"/>
          </a:xfrm>
          <a:prstGeom prst="roundRect">
            <a:avLst>
              <a:gd name="adj" fmla="val 5333"/>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7" name="Shape 25"/>
          <p:cNvSpPr/>
          <p:nvPr/>
        </p:nvSpPr>
        <p:spPr>
          <a:xfrm>
            <a:off x="9226296" y="1481328"/>
            <a:ext cx="292608" cy="292608"/>
          </a:xfrm>
          <a:prstGeom prst="ellipse">
            <a:avLst/>
          </a:prstGeom>
          <a:solidFill>
            <a:srgbClr val="0F9B8E"/>
          </a:solidFill>
          <a:ln w="12700">
            <a:solidFill>
              <a:srgbClr val="0F9B8E"/>
            </a:solidFill>
            <a:prstDash val="solid"/>
          </a:ln>
        </p:spPr>
      </p:sp>
      <p:sp>
        <p:nvSpPr>
          <p:cNvPr id="28" name="Text 26"/>
          <p:cNvSpPr txBox="1"/>
          <p:nvPr/>
        </p:nvSpPr>
        <p:spPr>
          <a:xfrm>
            <a:off x="9226296" y="1481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a:t>
            </a:r>
            <a:endParaRPr lang="en-US" sz="1200" dirty="0"/>
          </a:p>
        </p:txBody>
      </p:sp>
      <p:sp>
        <p:nvSpPr>
          <p:cNvPr id="29" name="Text 27"/>
          <p:cNvSpPr txBox="1"/>
          <p:nvPr/>
        </p:nvSpPr>
        <p:spPr>
          <a:xfrm>
            <a:off x="9592056" y="1463040"/>
            <a:ext cx="1938528" cy="329184"/>
          </a:xfrm>
          <a:prstGeom prst="rect">
            <a:avLst/>
          </a:prstGeom>
          <a:noFill/>
          <a:ln/>
        </p:spPr>
        <p:txBody>
          <a:bodyPr wrap="square" lIns="0" tIns="0" rIns="0" bIns="0" rtlCol="0" anchor="ctr"/>
          <a:lstStyle/>
          <a:p>
            <a:pPr indent="0" marL="0">
              <a:buNone/>
            </a:pPr>
            <a:r>
              <a:rPr lang="en-US" sz="1300" b="1" dirty="0">
                <a:solidFill>
                  <a:srgbClr val="0F2B46"/>
                </a:solidFill>
                <a:latin typeface="맑은 고딕" pitchFamily="34" charset="0"/>
                <a:ea typeface="맑은 고딕" pitchFamily="34" charset="-122"/>
                <a:cs typeface="맑은 고딕" pitchFamily="34" charset="-120"/>
              </a:rPr>
              <a:t>답변 생성</a:t>
            </a:r>
            <a:endParaRPr lang="en-US" sz="1300" dirty="0"/>
          </a:p>
        </p:txBody>
      </p:sp>
      <p:sp>
        <p:nvSpPr>
          <p:cNvPr id="30" name="Text 28"/>
          <p:cNvSpPr txBox="1"/>
          <p:nvPr/>
        </p:nvSpPr>
        <p:spPr>
          <a:xfrm>
            <a:off x="9226296" y="1828800"/>
            <a:ext cx="2295144" cy="219456"/>
          </a:xfrm>
          <a:prstGeom prst="rect">
            <a:avLst/>
          </a:prstGeom>
          <a:noFill/>
          <a:ln/>
        </p:spPr>
        <p:txBody>
          <a:bodyPr wrap="square" lIns="0" tIns="0" rIns="0" bIns="0" rtlCol="0" anchor="ctr"/>
          <a:lstStyle/>
          <a:p>
            <a:pPr indent="0" marL="0">
              <a:buNone/>
            </a:pPr>
            <a:r>
              <a:rPr lang="en-US" sz="1000" i="1" dirty="0">
                <a:solidFill>
                  <a:srgbClr val="0F9B8E"/>
                </a:solidFill>
                <a:latin typeface="맑은 고딕" pitchFamily="34" charset="0"/>
                <a:ea typeface="맑은 고딕" pitchFamily="34" charset="-122"/>
                <a:cs typeface="맑은 고딕" pitchFamily="34" charset="-120"/>
              </a:rPr>
              <a:t>generate</a:t>
            </a:r>
            <a:endParaRPr lang="en-US" sz="1000" dirty="0"/>
          </a:p>
        </p:txBody>
      </p:sp>
      <p:sp>
        <p:nvSpPr>
          <p:cNvPr id="31" name="Text 29"/>
          <p:cNvSpPr txBox="1"/>
          <p:nvPr/>
        </p:nvSpPr>
        <p:spPr>
          <a:xfrm>
            <a:off x="9226296" y="2066544"/>
            <a:ext cx="2295144" cy="512064"/>
          </a:xfrm>
          <a:prstGeom prst="rect">
            <a:avLst/>
          </a:prstGeom>
          <a:noFill/>
          <a:ln/>
        </p:spPr>
        <p:txBody>
          <a:bodyPr wrap="square" lIns="0" tIns="0" rIns="0" bIns="0" rtlCol="0" anchor="ctr"/>
          <a:lstStyle/>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검색된 조항만 사용</a:t>
            </a:r>
            <a:endParaRPr lang="en-US" sz="1050" dirty="0"/>
          </a:p>
          <a:p>
            <a:pPr indent="0" marL="0">
              <a:lnSpc>
                <a:spcPts val="1500"/>
              </a:lnSpc>
              <a:buNone/>
            </a:pPr>
            <a:r>
              <a:rPr lang="en-US" sz="1050" dirty="0">
                <a:solidFill>
                  <a:srgbClr val="6B7280"/>
                </a:solidFill>
                <a:latin typeface="맑은 고딕" pitchFamily="34" charset="0"/>
                <a:ea typeface="맑은 고딕" pitchFamily="34" charset="-122"/>
                <a:cs typeface="맑은 고딕" pitchFamily="34" charset="-120"/>
              </a:rPr>
              <a:t>+ 근거 링크 표시</a:t>
            </a:r>
            <a:endParaRPr lang="en-US" sz="1050" dirty="0"/>
          </a:p>
        </p:txBody>
      </p:sp>
      <p:sp>
        <p:nvSpPr>
          <p:cNvPr id="32" name="Text 30"/>
          <p:cNvSpPr txBox="1"/>
          <p:nvPr/>
        </p:nvSpPr>
        <p:spPr>
          <a:xfrm>
            <a:off x="502920" y="2852928"/>
            <a:ext cx="6400800" cy="237744"/>
          </a:xfrm>
          <a:prstGeom prst="rect">
            <a:avLst/>
          </a:prstGeom>
          <a:noFill/>
          <a:ln/>
        </p:spPr>
        <p:txBody>
          <a:bodyPr wrap="square" lIns="0" tIns="0" rIns="0" bIns="0" rtlCol="0" anchor="ctr"/>
          <a:lstStyle/>
          <a:p>
            <a:pPr indent="0" marL="0">
              <a:buNone/>
            </a:pPr>
            <a:r>
              <a:rPr lang="en-US" sz="1100" b="1" dirty="0">
                <a:solidFill>
                  <a:srgbClr val="0F2B46"/>
                </a:solidFill>
                <a:latin typeface="맑은 고딕" pitchFamily="34" charset="0"/>
                <a:ea typeface="맑은 고딕" pitchFamily="34" charset="-122"/>
                <a:cs typeface="맑은 고딕" pitchFamily="34" charset="-120"/>
              </a:rPr>
              <a:t>판정 결과에 따라 세 갈래로 나뉩니다</a:t>
            </a:r>
            <a:endParaRPr lang="en-US" sz="1100" dirty="0"/>
          </a:p>
        </p:txBody>
      </p:sp>
      <p:sp>
        <p:nvSpPr>
          <p:cNvPr id="33" name="Shape 31"/>
          <p:cNvSpPr/>
          <p:nvPr/>
        </p:nvSpPr>
        <p:spPr>
          <a:xfrm>
            <a:off x="502920" y="3127248"/>
            <a:ext cx="3566160" cy="713232"/>
          </a:xfrm>
          <a:prstGeom prst="roundRect">
            <a:avLst>
              <a:gd name="adj" fmla="val 10256"/>
            </a:avLst>
          </a:prstGeom>
          <a:solidFill>
            <a:srgbClr val="E6F5F3"/>
          </a:solidFill>
          <a:ln w="12700">
            <a:solidFill>
              <a:srgbClr val="E6F5F3"/>
            </a:solidFill>
            <a:prstDash val="solid"/>
          </a:ln>
          <a:effectLst>
            <a:outerShdw sx="100000" sy="100000" kx="0" ky="0" algn="bl" rotWithShape="0" blurRad="127000" dist="12700" dir="5400000">
              <a:srgbClr val="0F2B46">
                <a:alpha val="10000"/>
              </a:srgbClr>
            </a:outerShdw>
          </a:effectLst>
        </p:spPr>
      </p:sp>
      <p:sp>
        <p:nvSpPr>
          <p:cNvPr id="34" name="Text 32"/>
          <p:cNvSpPr txBox="1"/>
          <p:nvPr/>
        </p:nvSpPr>
        <p:spPr>
          <a:xfrm>
            <a:off x="667512" y="3200400"/>
            <a:ext cx="3236976" cy="256032"/>
          </a:xfrm>
          <a:prstGeom prst="rect">
            <a:avLst/>
          </a:prstGeom>
          <a:noFill/>
          <a:ln/>
        </p:spPr>
        <p:txBody>
          <a:bodyPr wrap="square" lIns="0" tIns="0" rIns="0" bIns="0" rtlCol="0" anchor="ctr"/>
          <a:lstStyle/>
          <a:p>
            <a:pPr indent="0" marL="0">
              <a:buNone/>
            </a:pPr>
            <a:r>
              <a:rPr lang="en-US" sz="1200" b="1" dirty="0">
                <a:solidFill>
                  <a:srgbClr val="0F9B8E"/>
                </a:solidFill>
                <a:latin typeface="맑은 고딕" pitchFamily="34" charset="0"/>
                <a:ea typeface="맑은 고딕" pitchFamily="34" charset="-122"/>
                <a:cs typeface="맑은 고딕" pitchFamily="34" charset="-120"/>
              </a:rPr>
              <a:t>근거 충분</a:t>
            </a:r>
            <a:endParaRPr lang="en-US" sz="1200" dirty="0"/>
          </a:p>
        </p:txBody>
      </p:sp>
      <p:sp>
        <p:nvSpPr>
          <p:cNvPr id="35" name="Text 33"/>
          <p:cNvSpPr txBox="1"/>
          <p:nvPr/>
        </p:nvSpPr>
        <p:spPr>
          <a:xfrm>
            <a:off x="667512" y="3456432"/>
            <a:ext cx="3236976" cy="274320"/>
          </a:xfrm>
          <a:prstGeom prst="rect">
            <a:avLst/>
          </a:prstGeom>
          <a:noFill/>
          <a:ln/>
        </p:spPr>
        <p:txBody>
          <a:bodyPr wrap="square" lIns="0" tIns="0" rIns="0" bIns="0" rtlCol="0" anchor="ctr"/>
          <a:lstStyle/>
          <a:p>
            <a:pPr indent="0" marL="0">
              <a:buNone/>
            </a:pPr>
            <a:r>
              <a:rPr lang="en-US" sz="1050" dirty="0">
                <a:solidFill>
                  <a:srgbClr val="6B7280"/>
                </a:solidFill>
                <a:latin typeface="맑은 고딕" pitchFamily="34" charset="0"/>
                <a:ea typeface="맑은 고딕" pitchFamily="34" charset="-122"/>
                <a:cs typeface="맑은 고딕" pitchFamily="34" charset="-120"/>
              </a:rPr>
              <a:t>답변 + 근거 링크 표시</a:t>
            </a:r>
            <a:endParaRPr lang="en-US" sz="1050" dirty="0"/>
          </a:p>
        </p:txBody>
      </p:sp>
      <p:sp>
        <p:nvSpPr>
          <p:cNvPr id="36" name="Shape 34"/>
          <p:cNvSpPr/>
          <p:nvPr/>
        </p:nvSpPr>
        <p:spPr>
          <a:xfrm>
            <a:off x="4325112" y="3127248"/>
            <a:ext cx="3566160" cy="713232"/>
          </a:xfrm>
          <a:prstGeom prst="roundRect">
            <a:avLst>
              <a:gd name="adj" fmla="val 10256"/>
            </a:avLst>
          </a:prstGeom>
          <a:solidFill>
            <a:srgbClr val="FBEEE4"/>
          </a:solidFill>
          <a:ln w="12700">
            <a:solidFill>
              <a:srgbClr val="FBEEE4"/>
            </a:solidFill>
            <a:prstDash val="solid"/>
          </a:ln>
          <a:effectLst>
            <a:outerShdw sx="100000" sy="100000" kx="0" ky="0" algn="bl" rotWithShape="0" blurRad="127000" dist="12700" dir="5400000">
              <a:srgbClr val="0F2B46">
                <a:alpha val="10000"/>
              </a:srgbClr>
            </a:outerShdw>
          </a:effectLst>
        </p:spPr>
      </p:sp>
      <p:sp>
        <p:nvSpPr>
          <p:cNvPr id="37" name="Text 35"/>
          <p:cNvSpPr txBox="1"/>
          <p:nvPr/>
        </p:nvSpPr>
        <p:spPr>
          <a:xfrm>
            <a:off x="4489704" y="3200400"/>
            <a:ext cx="3236976" cy="256032"/>
          </a:xfrm>
          <a:prstGeom prst="rect">
            <a:avLst/>
          </a:prstGeom>
          <a:noFill/>
          <a:ln/>
        </p:spPr>
        <p:txBody>
          <a:bodyPr wrap="square" lIns="0" tIns="0" rIns="0" bIns="0" rtlCol="0" anchor="ctr"/>
          <a:lstStyle/>
          <a:p>
            <a:pPr indent="0" marL="0">
              <a:buNone/>
            </a:pPr>
            <a:r>
              <a:rPr lang="en-US" sz="1200" b="1" dirty="0">
                <a:solidFill>
                  <a:srgbClr val="E07B39"/>
                </a:solidFill>
                <a:latin typeface="맑은 고딕" pitchFamily="34" charset="0"/>
                <a:ea typeface="맑은 고딕" pitchFamily="34" charset="-122"/>
                <a:cs typeface="맑은 고딕" pitchFamily="34" charset="-120"/>
              </a:rPr>
              <a:t>정보 부족</a:t>
            </a:r>
            <a:endParaRPr lang="en-US" sz="1200" dirty="0"/>
          </a:p>
        </p:txBody>
      </p:sp>
      <p:sp>
        <p:nvSpPr>
          <p:cNvPr id="38" name="Text 36"/>
          <p:cNvSpPr txBox="1"/>
          <p:nvPr/>
        </p:nvSpPr>
        <p:spPr>
          <a:xfrm>
            <a:off x="4489704" y="3456432"/>
            <a:ext cx="3236976" cy="274320"/>
          </a:xfrm>
          <a:prstGeom prst="rect">
            <a:avLst/>
          </a:prstGeom>
          <a:noFill/>
          <a:ln/>
        </p:spPr>
        <p:txBody>
          <a:bodyPr wrap="square" lIns="0" tIns="0" rIns="0" bIns="0" rtlCol="0" anchor="ctr"/>
          <a:lstStyle/>
          <a:p>
            <a:pPr indent="0" marL="0">
              <a:buNone/>
            </a:pPr>
            <a:r>
              <a:rPr lang="en-US" sz="1050" dirty="0">
                <a:solidFill>
                  <a:srgbClr val="6B7280"/>
                </a:solidFill>
                <a:latin typeface="맑은 고딕" pitchFamily="34" charset="0"/>
                <a:ea typeface="맑은 고딕" pitchFamily="34" charset="-122"/>
                <a:cs typeface="맑은 고딕" pitchFamily="34" charset="-120"/>
              </a:rPr>
              <a:t>되묻기 — 무엇이 필요한지 안내</a:t>
            </a:r>
            <a:endParaRPr lang="en-US" sz="1050" dirty="0"/>
          </a:p>
        </p:txBody>
      </p:sp>
      <p:sp>
        <p:nvSpPr>
          <p:cNvPr id="39" name="Shape 37"/>
          <p:cNvSpPr/>
          <p:nvPr/>
        </p:nvSpPr>
        <p:spPr>
          <a:xfrm>
            <a:off x="8147304" y="3127248"/>
            <a:ext cx="3566160" cy="713232"/>
          </a:xfrm>
          <a:prstGeom prst="roundRect">
            <a:avLst>
              <a:gd name="adj" fmla="val 10256"/>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40" name="Text 38"/>
          <p:cNvSpPr txBox="1"/>
          <p:nvPr/>
        </p:nvSpPr>
        <p:spPr>
          <a:xfrm>
            <a:off x="8311896" y="3200400"/>
            <a:ext cx="3236976" cy="256032"/>
          </a:xfrm>
          <a:prstGeom prst="rect">
            <a:avLst/>
          </a:prstGeom>
          <a:noFill/>
          <a:ln/>
        </p:spPr>
        <p:txBody>
          <a:bodyPr wrap="square" lIns="0" tIns="0" rIns="0" bIns="0" rtlCol="0" anchor="ctr"/>
          <a:lstStyle/>
          <a:p>
            <a:pPr indent="0" marL="0">
              <a:buNone/>
            </a:pPr>
            <a:r>
              <a:rPr lang="en-US" sz="1200" b="1" dirty="0">
                <a:solidFill>
                  <a:srgbClr val="6B7280"/>
                </a:solidFill>
                <a:latin typeface="맑은 고딕" pitchFamily="34" charset="0"/>
                <a:ea typeface="맑은 고딕" pitchFamily="34" charset="-122"/>
                <a:cs typeface="맑은 고딕" pitchFamily="34" charset="-120"/>
              </a:rPr>
              <a:t>규정 범위 밖</a:t>
            </a:r>
            <a:endParaRPr lang="en-US" sz="1200" dirty="0"/>
          </a:p>
        </p:txBody>
      </p:sp>
      <p:sp>
        <p:nvSpPr>
          <p:cNvPr id="41" name="Text 39"/>
          <p:cNvSpPr txBox="1"/>
          <p:nvPr/>
        </p:nvSpPr>
        <p:spPr>
          <a:xfrm>
            <a:off x="8311896" y="3456432"/>
            <a:ext cx="3236976" cy="274320"/>
          </a:xfrm>
          <a:prstGeom prst="rect">
            <a:avLst/>
          </a:prstGeom>
          <a:noFill/>
          <a:ln/>
        </p:spPr>
        <p:txBody>
          <a:bodyPr wrap="square" lIns="0" tIns="0" rIns="0" bIns="0" rtlCol="0" anchor="ctr"/>
          <a:lstStyle/>
          <a:p>
            <a:pPr indent="0" marL="0">
              <a:buNone/>
            </a:pPr>
            <a:r>
              <a:rPr lang="en-US" sz="1050" dirty="0">
                <a:solidFill>
                  <a:srgbClr val="6B7280"/>
                </a:solidFill>
                <a:latin typeface="맑은 고딕" pitchFamily="34" charset="0"/>
                <a:ea typeface="맑은 고딕" pitchFamily="34" charset="-122"/>
                <a:cs typeface="맑은 고딕" pitchFamily="34" charset="-120"/>
              </a:rPr>
              <a:t>담당자 문의 초안 생성</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4069080"/>
          <a:ext cx="11183112" cy="914400"/>
        </p:xfrm>
        <a:graphic>
          <a:graphicData uri="http://schemas.openxmlformats.org/drawingml/2006/table">
            <a:tbl>
              <a:tblPr/>
              <a:tblGrid>
                <a:gridCol w="2011680"/>
                <a:gridCol w="5120640"/>
                <a:gridCol w="4050792"/>
              </a:tblGrid>
              <a:tr h="36576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하는 일</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이 단계를 따로 둔 이유</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65760">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① 질문 다시 쓰기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"해외출장입니다" 같은 짧은 답을 앞 대화와 합쳐 완결된 질문으로 만듦</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뒤의 세 단계가 모두 같은 문장을 보게 하려고</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65760">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② 규정 검색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단어 검색과 의미 검색을 함께 써서 관련 조항을 찾음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규정에 없는 표현('환갑','이사비')으로 물어도 찾기 위해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65760">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③ 근거 판정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찾은 조항으로 답할 수 있는지, 무엇이 부족한지 먼저 판단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근거 없는 답변을 원천 차단 — 생성과 판정을 분리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65760">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④ 답변 생성</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판정을 통과한 조항만 근거로 답변 작성</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실제 사용한 조항만 화면에 링크로 표시하기 위해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02 구현 내용 · 7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사용 기술</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새로운 도구를 많이 쓰기보다, 각 도구가 맡을 역할을 분명히 했습니다</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6309360" cy="914400"/>
        </p:xfrm>
        <a:graphic>
          <a:graphicData uri="http://schemas.openxmlformats.org/drawingml/2006/table">
            <a:tbl>
              <a:tblPr/>
              <a:tblGrid>
                <a:gridCol w="1920240"/>
                <a:gridCol w="1417320"/>
                <a:gridCol w="2971800"/>
              </a:tblGrid>
              <a:tr h="384048">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기술</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역할</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선택 이유</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Python 단일 파일</a:t>
                      </a:r>
                      <a:endParaRPr lang="en-US" sz="1050" dirty="0">
                        <a:latin typeface="맑은 고딕" charset="0"/>
                        <a:ea typeface="맑은 고딕" charset="0"/>
                        <a:cs typeface="맑은 고딕" charset="0"/>
                      </a:endParaRPr>
                    </a:p>
                    <a:p>
                      <a:pPr indent="0" marL="0">
                        <a:buNone/>
                      </a:pPr>
                      <a:r>
                        <a:rPr lang="en-US" sz="1050" b="1" dirty="0">
                          <a:solidFill>
                            <a:srgbClr val="0F2B46"/>
                          </a:solidFill>
                          <a:latin typeface="맑은 고딕" pitchFamily="34" charset="0"/>
                          <a:ea typeface="맑은 고딕" pitchFamily="34" charset="-122"/>
                          <a:cs typeface="맑은 고딕" pitchFamily="34" charset="-120"/>
                        </a:rPr>
                        <a:t>(app.py 약 1,950줄)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전체 로직</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파일을 나누면 흐름 추적이 어려워, 한 파일에서 단계별 함수로 분리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LangGraph</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4단계 연결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문제가 생긴 단계만 따로 고치고 측정 가능</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OpenAI Embedding</a:t>
                      </a:r>
                      <a:endParaRPr lang="en-US" sz="1050" dirty="0">
                        <a:latin typeface="맑은 고딕" charset="0"/>
                        <a:ea typeface="맑은 고딕" charset="0"/>
                        <a:cs typeface="맑은 고딕" charset="0"/>
                      </a:endParaRPr>
                    </a:p>
                    <a:p>
                      <a:pPr indent="0" marL="0">
                        <a:buNone/>
                      </a:pPr>
                      <a:r>
                        <a:rPr lang="en-US" sz="1050" b="1" dirty="0">
                          <a:solidFill>
                            <a:srgbClr val="0F2B46"/>
                          </a:solidFill>
                          <a:latin typeface="맑은 고딕" pitchFamily="34" charset="0"/>
                          <a:ea typeface="맑은 고딕" pitchFamily="34" charset="-122"/>
                          <a:cs typeface="맑은 고딕" pitchFamily="34" charset="-120"/>
                        </a:rPr>
                        <a:t>(text-embedding-3-small)</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의미 검색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규정과 다른 표현으로 물어도 관련 조항을 찾기 위해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OpenAI Responses API</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재작성·판정·생성</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세 역할에 각각 다른 지시문을 주어 분리 운영</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하이브리드 검색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조항 검색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어느 한쪽만으로는 놓치는 질문이 있어 두 점수를 결합</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HTML 단일 화면</a:t>
                      </a:r>
                      <a:endParaRPr lang="en-US" sz="1050" dirty="0">
                        <a:latin typeface="맑은 고딕" charset="0"/>
                        <a:ea typeface="맑은 고딕" charset="0"/>
                        <a:cs typeface="맑은 고딕" charset="0"/>
                      </a:endParaRPr>
                    </a:p>
                    <a:p>
                      <a:pPr indent="0" marL="0">
                        <a:buNone/>
                      </a:pPr>
                      <a:r>
                        <a:rPr lang="en-US" sz="1050" b="1" dirty="0">
                          <a:solidFill>
                            <a:srgbClr val="0F2B46"/>
                          </a:solidFill>
                          <a:latin typeface="맑은 고딕" pitchFamily="34" charset="0"/>
                          <a:ea typeface="맑은 고딕" pitchFamily="34" charset="-122"/>
                          <a:cs typeface="맑은 고딕" pitchFamily="34" charset="-120"/>
                        </a:rPr>
                        <a:t>(index.html)</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상담 UI</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상담·근거 링크·문의 초안을 한 화면에서 확인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.env 환경변수</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API 키 관리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키를 코드·로그·커밋에 남기지 않기 위해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6" name="Text 3"/>
          <p:cNvSpPr txBox="1"/>
          <p:nvPr/>
        </p:nvSpPr>
        <p:spPr>
          <a:xfrm>
            <a:off x="7086600" y="1325880"/>
            <a:ext cx="4599432" cy="256032"/>
          </a:xfrm>
          <a:prstGeom prst="rect">
            <a:avLst/>
          </a:prstGeom>
          <a:noFill/>
          <a:ln/>
        </p:spPr>
        <p:txBody>
          <a:bodyPr wrap="square" lIns="0" tIns="0" rIns="0" bIns="0" rtlCol="0" anchor="ctr"/>
          <a:lstStyle/>
          <a:p>
            <a:pPr indent="0" marL="0">
              <a:buNone/>
            </a:pPr>
            <a:r>
              <a:rPr lang="en-US" sz="1200" b="1" dirty="0">
                <a:solidFill>
                  <a:srgbClr val="0F2B46"/>
                </a:solidFill>
                <a:latin typeface="맑은 고딕" pitchFamily="34" charset="0"/>
                <a:ea typeface="맑은 고딕" pitchFamily="34" charset="-122"/>
                <a:cs typeface="맑은 고딕" pitchFamily="34" charset="-120"/>
              </a:rPr>
              <a:t>두 검색 방식을 함께 쓰는 이유</a:t>
            </a:r>
            <a:endParaRPr lang="en-US" sz="1200" dirty="0"/>
          </a:p>
        </p:txBody>
      </p:sp>
      <p:sp>
        <p:nvSpPr>
          <p:cNvPr id="7" name="Shape 4"/>
          <p:cNvSpPr/>
          <p:nvPr/>
        </p:nvSpPr>
        <p:spPr>
          <a:xfrm>
            <a:off x="7086600" y="1645920"/>
            <a:ext cx="2212848" cy="1572768"/>
          </a:xfrm>
          <a:prstGeom prst="roundRect">
            <a:avLst>
              <a:gd name="adj" fmla="val 4651"/>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8" name="Text 5"/>
          <p:cNvSpPr txBox="1"/>
          <p:nvPr/>
        </p:nvSpPr>
        <p:spPr>
          <a:xfrm>
            <a:off x="7232904" y="1737360"/>
            <a:ext cx="1920240" cy="256032"/>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키워드 검색</a:t>
            </a:r>
            <a:endParaRPr lang="en-US" sz="1150" dirty="0"/>
          </a:p>
        </p:txBody>
      </p:sp>
      <p:sp>
        <p:nvSpPr>
          <p:cNvPr id="9" name="Text 6"/>
          <p:cNvSpPr txBox="1"/>
          <p:nvPr/>
        </p:nvSpPr>
        <p:spPr>
          <a:xfrm>
            <a:off x="7232904" y="2011680"/>
            <a:ext cx="1920240" cy="658368"/>
          </a:xfrm>
          <a:prstGeom prst="rect">
            <a:avLst/>
          </a:prstGeom>
          <a:noFill/>
          <a:ln/>
        </p:spPr>
        <p:txBody>
          <a:bodyPr wrap="square" lIns="0" tIns="0" rIns="0" bIns="0" rtlCol="0" anchor="ctr"/>
          <a:lstStyle/>
          <a:p>
            <a:pPr indent="0" marL="0">
              <a:lnSpc>
                <a:spcPts val="1400"/>
              </a:lnSpc>
              <a:buNone/>
            </a:pPr>
            <a:r>
              <a:rPr lang="en-US" sz="950" dirty="0">
                <a:solidFill>
                  <a:srgbClr val="2F6F66"/>
                </a:solidFill>
                <a:latin typeface="맑은 고딕" pitchFamily="34" charset="0"/>
                <a:ea typeface="맑은 고딕" pitchFamily="34" charset="-122"/>
                <a:cs typeface="맑은 고딕" pitchFamily="34" charset="-120"/>
              </a:rPr>
              <a:t>○ "파견비" 같은 정확한 용어를</a:t>
            </a:r>
            <a:endParaRPr lang="en-US" sz="950" dirty="0"/>
          </a:p>
          <a:p>
            <a:pPr indent="0" marL="0">
              <a:lnSpc>
                <a:spcPts val="1400"/>
              </a:lnSpc>
              <a:buNone/>
            </a:pPr>
            <a:r>
              <a:rPr lang="en-US" sz="950" dirty="0">
                <a:solidFill>
                  <a:srgbClr val="2F6F66"/>
                </a:solidFill>
                <a:latin typeface="맑은 고딕" pitchFamily="34" charset="0"/>
                <a:ea typeface="맑은 고딕" pitchFamily="34" charset="-122"/>
                <a:cs typeface="맑은 고딕" pitchFamily="34" charset="-120"/>
              </a:rPr>
              <a:t>    놓치지 않음</a:t>
            </a:r>
            <a:endParaRPr lang="en-US" sz="950" dirty="0"/>
          </a:p>
        </p:txBody>
      </p:sp>
      <p:sp>
        <p:nvSpPr>
          <p:cNvPr id="10" name="Text 7"/>
          <p:cNvSpPr txBox="1"/>
          <p:nvPr/>
        </p:nvSpPr>
        <p:spPr>
          <a:xfrm>
            <a:off x="7232904" y="2706624"/>
            <a:ext cx="1920240" cy="420624"/>
          </a:xfrm>
          <a:prstGeom prst="rect">
            <a:avLst/>
          </a:prstGeom>
          <a:noFill/>
          <a:ln/>
        </p:spPr>
        <p:txBody>
          <a:bodyPr wrap="square" lIns="0" tIns="0" rIns="0" bIns="0" rtlCol="0" anchor="ctr"/>
          <a:lstStyle/>
          <a:p>
            <a:pPr indent="0" marL="0">
              <a:lnSpc>
                <a:spcPts val="1400"/>
              </a:lnSpc>
              <a:buNone/>
            </a:pPr>
            <a:r>
              <a:rPr lang="en-US" sz="950" dirty="0">
                <a:solidFill>
                  <a:srgbClr val="E07B39"/>
                </a:solidFill>
                <a:latin typeface="맑은 고딕" pitchFamily="34" charset="0"/>
                <a:ea typeface="맑은 고딕" pitchFamily="34" charset="-122"/>
                <a:cs typeface="맑은 고딕" pitchFamily="34" charset="-120"/>
              </a:rPr>
              <a:t>✕ 표현이 다르면 못 찾음</a:t>
            </a:r>
            <a:endParaRPr lang="en-US" sz="950" dirty="0"/>
          </a:p>
        </p:txBody>
      </p:sp>
      <p:sp>
        <p:nvSpPr>
          <p:cNvPr id="11" name="Shape 8"/>
          <p:cNvSpPr/>
          <p:nvPr/>
        </p:nvSpPr>
        <p:spPr>
          <a:xfrm>
            <a:off x="9473184" y="1645920"/>
            <a:ext cx="2212848" cy="1572768"/>
          </a:xfrm>
          <a:prstGeom prst="roundRect">
            <a:avLst>
              <a:gd name="adj" fmla="val 4651"/>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2" name="Text 9"/>
          <p:cNvSpPr txBox="1"/>
          <p:nvPr/>
        </p:nvSpPr>
        <p:spPr>
          <a:xfrm>
            <a:off x="9619488" y="1737360"/>
            <a:ext cx="1920240" cy="256032"/>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의미 검색</a:t>
            </a:r>
            <a:endParaRPr lang="en-US" sz="1150" dirty="0"/>
          </a:p>
        </p:txBody>
      </p:sp>
      <p:sp>
        <p:nvSpPr>
          <p:cNvPr id="13" name="Text 10"/>
          <p:cNvSpPr txBox="1"/>
          <p:nvPr/>
        </p:nvSpPr>
        <p:spPr>
          <a:xfrm>
            <a:off x="9619488" y="2011680"/>
            <a:ext cx="1920240" cy="658368"/>
          </a:xfrm>
          <a:prstGeom prst="rect">
            <a:avLst/>
          </a:prstGeom>
          <a:noFill/>
          <a:ln/>
        </p:spPr>
        <p:txBody>
          <a:bodyPr wrap="square" lIns="0" tIns="0" rIns="0" bIns="0" rtlCol="0" anchor="ctr"/>
          <a:lstStyle/>
          <a:p>
            <a:pPr indent="0" marL="0">
              <a:lnSpc>
                <a:spcPts val="1400"/>
              </a:lnSpc>
              <a:buNone/>
            </a:pPr>
            <a:r>
              <a:rPr lang="en-US" sz="950" dirty="0">
                <a:solidFill>
                  <a:srgbClr val="2F6F66"/>
                </a:solidFill>
                <a:latin typeface="맑은 고딕" pitchFamily="34" charset="0"/>
                <a:ea typeface="맑은 고딕" pitchFamily="34" charset="-122"/>
                <a:cs typeface="맑은 고딕" pitchFamily="34" charset="-120"/>
              </a:rPr>
              <a:t>○ '환갑'→'회갑', '이사비'→'이전비'</a:t>
            </a:r>
            <a:endParaRPr lang="en-US" sz="950" dirty="0"/>
          </a:p>
          <a:p>
            <a:pPr indent="0" marL="0">
              <a:lnSpc>
                <a:spcPts val="1400"/>
              </a:lnSpc>
              <a:buNone/>
            </a:pPr>
            <a:r>
              <a:rPr lang="en-US" sz="950" dirty="0">
                <a:solidFill>
                  <a:srgbClr val="2F6F66"/>
                </a:solidFill>
                <a:latin typeface="맑은 고딕" pitchFamily="34" charset="0"/>
                <a:ea typeface="맑은 고딕" pitchFamily="34" charset="-122"/>
                <a:cs typeface="맑은 고딕" pitchFamily="34" charset="-120"/>
              </a:rPr>
              <a:t>    뜻이 통하면 찾아냄</a:t>
            </a:r>
            <a:endParaRPr lang="en-US" sz="950" dirty="0"/>
          </a:p>
        </p:txBody>
      </p:sp>
      <p:sp>
        <p:nvSpPr>
          <p:cNvPr id="14" name="Text 11"/>
          <p:cNvSpPr txBox="1"/>
          <p:nvPr/>
        </p:nvSpPr>
        <p:spPr>
          <a:xfrm>
            <a:off x="9619488" y="2706624"/>
            <a:ext cx="1920240" cy="420624"/>
          </a:xfrm>
          <a:prstGeom prst="rect">
            <a:avLst/>
          </a:prstGeom>
          <a:noFill/>
          <a:ln/>
        </p:spPr>
        <p:txBody>
          <a:bodyPr wrap="square" lIns="0" tIns="0" rIns="0" bIns="0" rtlCol="0" anchor="ctr"/>
          <a:lstStyle/>
          <a:p>
            <a:pPr indent="0" marL="0">
              <a:lnSpc>
                <a:spcPts val="1400"/>
              </a:lnSpc>
              <a:buNone/>
            </a:pPr>
            <a:r>
              <a:rPr lang="en-US" sz="950" dirty="0">
                <a:solidFill>
                  <a:srgbClr val="E07B39"/>
                </a:solidFill>
                <a:latin typeface="맑은 고딕" pitchFamily="34" charset="0"/>
                <a:ea typeface="맑은 고딕" pitchFamily="34" charset="-122"/>
                <a:cs typeface="맑은 고딕" pitchFamily="34" charset="-120"/>
              </a:rPr>
              <a:t>✕ 고유 용어에서 엉뚱한 조항</a:t>
            </a:r>
            <a:endParaRPr lang="en-US" sz="950" dirty="0"/>
          </a:p>
        </p:txBody>
      </p:sp>
      <p:sp>
        <p:nvSpPr>
          <p:cNvPr id="15" name="Shape 12"/>
          <p:cNvSpPr/>
          <p:nvPr/>
        </p:nvSpPr>
        <p:spPr>
          <a:xfrm>
            <a:off x="7086600" y="3364992"/>
            <a:ext cx="4599432" cy="914400"/>
          </a:xfrm>
          <a:prstGeom prst="roundRect">
            <a:avLst>
              <a:gd name="adj" fmla="val 8000"/>
            </a:avLst>
          </a:prstGeom>
          <a:solidFill>
            <a:srgbClr val="0F9B8E"/>
          </a:solidFill>
          <a:ln w="12700">
            <a:solidFill>
              <a:srgbClr val="0F9B8E"/>
            </a:solidFill>
            <a:prstDash val="solid"/>
          </a:ln>
        </p:spPr>
      </p:sp>
      <p:sp>
        <p:nvSpPr>
          <p:cNvPr id="16" name="Text 13"/>
          <p:cNvSpPr txBox="1"/>
          <p:nvPr/>
        </p:nvSpPr>
        <p:spPr>
          <a:xfrm>
            <a:off x="7269480" y="3456432"/>
            <a:ext cx="4233672" cy="310896"/>
          </a:xfrm>
          <a:prstGeom prst="rect">
            <a:avLst/>
          </a:prstGeom>
          <a:noFill/>
          <a:ln/>
        </p:spPr>
        <p:txBody>
          <a:bodyPr wrap="square" lIns="0" tIns="0" rIns="0" bIns="0"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결합  —  의미 0.8 : 키워드 0.2</a:t>
            </a:r>
            <a:endParaRPr lang="en-US" sz="1350" dirty="0"/>
          </a:p>
        </p:txBody>
      </p:sp>
      <p:sp>
        <p:nvSpPr>
          <p:cNvPr id="17" name="Text 14"/>
          <p:cNvSpPr txBox="1"/>
          <p:nvPr/>
        </p:nvSpPr>
        <p:spPr>
          <a:xfrm>
            <a:off x="7269480" y="3785616"/>
            <a:ext cx="4233672" cy="384048"/>
          </a:xfrm>
          <a:prstGeom prst="rect">
            <a:avLst/>
          </a:prstGeom>
          <a:noFill/>
          <a:ln/>
        </p:spPr>
        <p:txBody>
          <a:bodyPr wrap="square" lIns="0" tIns="0" rIns="0" bIns="0" rtlCol="0" anchor="ctr"/>
          <a:lstStyle/>
          <a:p>
            <a:pPr indent="0" marL="0">
              <a:buNone/>
            </a:pPr>
            <a:r>
              <a:rPr lang="en-US" sz="1050" dirty="0">
                <a:solidFill>
                  <a:srgbClr val="D6F0EC"/>
                </a:solidFill>
                <a:latin typeface="맑은 고딕" pitchFamily="34" charset="0"/>
                <a:ea typeface="맑은 고딕" pitchFamily="34" charset="-122"/>
                <a:cs typeface="맑은 고딕" pitchFamily="34" charset="-120"/>
              </a:rPr>
              <a:t>두 점수를 합산해 순위 결정 · 비율은 44문항으로 직접 측정</a:t>
            </a:r>
            <a:endParaRPr lang="en-US" sz="1050" dirty="0"/>
          </a:p>
        </p:txBody>
      </p:sp>
      <p:sp>
        <p:nvSpPr>
          <p:cNvPr id="18" name="Shape 15"/>
          <p:cNvSpPr/>
          <p:nvPr/>
        </p:nvSpPr>
        <p:spPr>
          <a:xfrm>
            <a:off x="7086600" y="4443984"/>
            <a:ext cx="2212848" cy="914400"/>
          </a:xfrm>
          <a:prstGeom prst="roundRect">
            <a:avLst>
              <a:gd name="adj" fmla="val 8000"/>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9" name="Text 16"/>
          <p:cNvSpPr txBox="1"/>
          <p:nvPr/>
        </p:nvSpPr>
        <p:spPr>
          <a:xfrm>
            <a:off x="7232904" y="4517136"/>
            <a:ext cx="1920240" cy="201168"/>
          </a:xfrm>
          <a:prstGeom prst="rect">
            <a:avLst/>
          </a:prstGeom>
          <a:noFill/>
          <a:ln/>
        </p:spPr>
        <p:txBody>
          <a:bodyPr wrap="square" lIns="0" tIns="0" rIns="0" bIns="0" rtlCol="0" anchor="ctr"/>
          <a:lstStyle/>
          <a:p>
            <a:pPr indent="0" marL="0">
              <a:buNone/>
            </a:pPr>
            <a:r>
              <a:rPr lang="en-US" sz="950" dirty="0">
                <a:solidFill>
                  <a:srgbClr val="6B7280"/>
                </a:solidFill>
                <a:latin typeface="맑은 고딕" pitchFamily="34" charset="0"/>
                <a:ea typeface="맑은 고딕" pitchFamily="34" charset="-122"/>
                <a:cs typeface="맑은 고딕" pitchFamily="34" charset="-120"/>
              </a:rPr>
              <a:t>코드 규모</a:t>
            </a:r>
            <a:endParaRPr lang="en-US" sz="950" dirty="0"/>
          </a:p>
        </p:txBody>
      </p:sp>
      <p:sp>
        <p:nvSpPr>
          <p:cNvPr id="20" name="Text 17"/>
          <p:cNvSpPr txBox="1"/>
          <p:nvPr/>
        </p:nvSpPr>
        <p:spPr>
          <a:xfrm>
            <a:off x="7232904" y="4709160"/>
            <a:ext cx="1920240" cy="384048"/>
          </a:xfrm>
          <a:prstGeom prst="rect">
            <a:avLst/>
          </a:prstGeom>
          <a:noFill/>
          <a:ln/>
        </p:spPr>
        <p:txBody>
          <a:bodyPr wrap="square" lIns="0" tIns="0" rIns="0" bIns="0" rtlCol="0" anchor="ctr"/>
          <a:lstStyle/>
          <a:p>
            <a:pPr indent="0" marL="0">
              <a:buNone/>
            </a:pPr>
            <a:r>
              <a:rPr lang="en-US" sz="2100" b="1" dirty="0">
                <a:solidFill>
                  <a:srgbClr val="0F9B8E"/>
                </a:solidFill>
                <a:latin typeface="맑은 고딕" pitchFamily="34" charset="0"/>
                <a:ea typeface="맑은 고딕" pitchFamily="34" charset="-122"/>
                <a:cs typeface="맑은 고딕" pitchFamily="34" charset="-120"/>
              </a:rPr>
              <a:t>1,950줄</a:t>
            </a:r>
            <a:endParaRPr lang="en-US" sz="2100" dirty="0"/>
          </a:p>
        </p:txBody>
      </p:sp>
      <p:sp>
        <p:nvSpPr>
          <p:cNvPr id="21" name="Text 18"/>
          <p:cNvSpPr txBox="1"/>
          <p:nvPr/>
        </p:nvSpPr>
        <p:spPr>
          <a:xfrm>
            <a:off x="7232904" y="5102352"/>
            <a:ext cx="1920240" cy="201168"/>
          </a:xfrm>
          <a:prstGeom prst="rect">
            <a:avLst/>
          </a:prstGeom>
          <a:noFill/>
          <a:ln/>
        </p:spPr>
        <p:txBody>
          <a:bodyPr wrap="square" lIns="0" tIns="0" rIns="0" bIns="0" rtlCol="0" anchor="ctr"/>
          <a:lstStyle/>
          <a:p>
            <a:pPr indent="0" marL="0">
              <a:buNone/>
            </a:pPr>
            <a:r>
              <a:rPr lang="en-US" sz="900" dirty="0">
                <a:solidFill>
                  <a:srgbClr val="9CA3AF"/>
                </a:solidFill>
                <a:latin typeface="맑은 고딕" pitchFamily="34" charset="0"/>
                <a:ea typeface="맑은 고딕" pitchFamily="34" charset="-122"/>
                <a:cs typeface="맑은 고딕" pitchFamily="34" charset="-120"/>
              </a:rPr>
              <a:t>단일 파이썬 파일</a:t>
            </a:r>
            <a:endParaRPr lang="en-US" sz="900" dirty="0"/>
          </a:p>
        </p:txBody>
      </p:sp>
      <p:sp>
        <p:nvSpPr>
          <p:cNvPr id="22" name="Shape 19"/>
          <p:cNvSpPr/>
          <p:nvPr/>
        </p:nvSpPr>
        <p:spPr>
          <a:xfrm>
            <a:off x="9473184" y="4443984"/>
            <a:ext cx="2212848" cy="914400"/>
          </a:xfrm>
          <a:prstGeom prst="roundRect">
            <a:avLst>
              <a:gd name="adj" fmla="val 8000"/>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3" name="Text 20"/>
          <p:cNvSpPr txBox="1"/>
          <p:nvPr/>
        </p:nvSpPr>
        <p:spPr>
          <a:xfrm>
            <a:off x="9619488" y="4517136"/>
            <a:ext cx="1920240" cy="201168"/>
          </a:xfrm>
          <a:prstGeom prst="rect">
            <a:avLst/>
          </a:prstGeom>
          <a:noFill/>
          <a:ln/>
        </p:spPr>
        <p:txBody>
          <a:bodyPr wrap="square" lIns="0" tIns="0" rIns="0" bIns="0" rtlCol="0" anchor="ctr"/>
          <a:lstStyle/>
          <a:p>
            <a:pPr indent="0" marL="0">
              <a:buNone/>
            </a:pPr>
            <a:r>
              <a:rPr lang="en-US" sz="950" dirty="0">
                <a:solidFill>
                  <a:srgbClr val="6B7280"/>
                </a:solidFill>
                <a:latin typeface="맑은 고딕" pitchFamily="34" charset="0"/>
                <a:ea typeface="맑은 고딕" pitchFamily="34" charset="-122"/>
                <a:cs typeface="맑은 고딕" pitchFamily="34" charset="-120"/>
              </a:rPr>
              <a:t>처리 단계</a:t>
            </a:r>
            <a:endParaRPr lang="en-US" sz="950" dirty="0"/>
          </a:p>
        </p:txBody>
      </p:sp>
      <p:sp>
        <p:nvSpPr>
          <p:cNvPr id="24" name="Text 21"/>
          <p:cNvSpPr txBox="1"/>
          <p:nvPr/>
        </p:nvSpPr>
        <p:spPr>
          <a:xfrm>
            <a:off x="9619488" y="4709160"/>
            <a:ext cx="1920240" cy="384048"/>
          </a:xfrm>
          <a:prstGeom prst="rect">
            <a:avLst/>
          </a:prstGeom>
          <a:noFill/>
          <a:ln/>
        </p:spPr>
        <p:txBody>
          <a:bodyPr wrap="square" lIns="0" tIns="0" rIns="0" bIns="0" rtlCol="0" anchor="ctr"/>
          <a:lstStyle/>
          <a:p>
            <a:pPr indent="0" marL="0">
              <a:buNone/>
            </a:pPr>
            <a:r>
              <a:rPr lang="en-US" sz="2100" b="1" dirty="0">
                <a:solidFill>
                  <a:srgbClr val="0F9B8E"/>
                </a:solidFill>
                <a:latin typeface="맑은 고딕" pitchFamily="34" charset="0"/>
                <a:ea typeface="맑은 고딕" pitchFamily="34" charset="-122"/>
                <a:cs typeface="맑은 고딕" pitchFamily="34" charset="-120"/>
              </a:rPr>
              <a:t>4단계</a:t>
            </a:r>
            <a:endParaRPr lang="en-US" sz="2100" dirty="0"/>
          </a:p>
        </p:txBody>
      </p:sp>
      <p:sp>
        <p:nvSpPr>
          <p:cNvPr id="25" name="Text 22"/>
          <p:cNvSpPr txBox="1"/>
          <p:nvPr/>
        </p:nvSpPr>
        <p:spPr>
          <a:xfrm>
            <a:off x="9619488" y="5102352"/>
            <a:ext cx="1920240" cy="201168"/>
          </a:xfrm>
          <a:prstGeom prst="rect">
            <a:avLst/>
          </a:prstGeom>
          <a:noFill/>
          <a:ln/>
        </p:spPr>
        <p:txBody>
          <a:bodyPr wrap="square" lIns="0" tIns="0" rIns="0" bIns="0" rtlCol="0" anchor="ctr"/>
          <a:lstStyle/>
          <a:p>
            <a:pPr indent="0" marL="0">
              <a:buNone/>
            </a:pPr>
            <a:r>
              <a:rPr lang="en-US" sz="900" dirty="0">
                <a:solidFill>
                  <a:srgbClr val="9CA3AF"/>
                </a:solidFill>
                <a:latin typeface="맑은 고딕" pitchFamily="34" charset="0"/>
                <a:ea typeface="맑은 고딕" pitchFamily="34" charset="-122"/>
                <a:cs typeface="맑은 고딕" pitchFamily="34" charset="-120"/>
              </a:rPr>
              <a:t>LangGraph 노드</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02 구현 내용 · 8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교육 내용과 프로젝트의 연결</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매주 배운 개념이 다음 주 구현의 재료가 됐습니다</a:t>
            </a:r>
            <a:endParaRPr lang="en-US" sz="1300" dirty="0"/>
          </a:p>
        </p:txBody>
      </p:sp>
      <p:sp>
        <p:nvSpPr>
          <p:cNvPr id="5" name="Shape 3"/>
          <p:cNvSpPr/>
          <p:nvPr/>
        </p:nvSpPr>
        <p:spPr>
          <a:xfrm>
            <a:off x="1783080" y="1572768"/>
            <a:ext cx="8622792" cy="0"/>
          </a:xfrm>
          <a:prstGeom prst="line">
            <a:avLst/>
          </a:prstGeom>
          <a:noFill/>
          <a:ln w="25400">
            <a:solidFill>
              <a:srgbClr val="E5E7EB"/>
            </a:solidFill>
            <a:prstDash val="solid"/>
          </a:ln>
        </p:spPr>
      </p:sp>
      <p:sp>
        <p:nvSpPr>
          <p:cNvPr id="6" name="Shape 4"/>
          <p:cNvSpPr/>
          <p:nvPr/>
        </p:nvSpPr>
        <p:spPr>
          <a:xfrm>
            <a:off x="1800225" y="1472184"/>
            <a:ext cx="201168" cy="201168"/>
          </a:xfrm>
          <a:prstGeom prst="ellipse">
            <a:avLst/>
          </a:prstGeom>
          <a:solidFill>
            <a:srgbClr val="9CA3AF"/>
          </a:solidFill>
          <a:ln w="25400">
            <a:solidFill>
              <a:srgbClr val="FFFFFF"/>
            </a:solidFill>
            <a:prstDash val="solid"/>
          </a:ln>
        </p:spPr>
      </p:sp>
      <p:sp>
        <p:nvSpPr>
          <p:cNvPr id="7" name="Text 5"/>
          <p:cNvSpPr txBox="1"/>
          <p:nvPr/>
        </p:nvSpPr>
        <p:spPr>
          <a:xfrm>
            <a:off x="502920" y="1700784"/>
            <a:ext cx="2795778" cy="237744"/>
          </a:xfrm>
          <a:prstGeom prst="rect">
            <a:avLst/>
          </a:prstGeom>
          <a:noFill/>
          <a:ln/>
        </p:spPr>
        <p:txBody>
          <a:bodyPr wrap="square" lIns="0" tIns="0" rIns="0" bIns="0" rtlCol="0" anchor="ctr"/>
          <a:lstStyle/>
          <a:p>
            <a:pPr algn="ctr" indent="0" marL="0">
              <a:buNone/>
            </a:pPr>
            <a:r>
              <a:rPr lang="en-US" sz="1250" b="1" dirty="0">
                <a:solidFill>
                  <a:srgbClr val="0F2B46"/>
                </a:solidFill>
                <a:latin typeface="맑은 고딕" pitchFamily="34" charset="0"/>
                <a:ea typeface="맑은 고딕" pitchFamily="34" charset="-122"/>
                <a:cs typeface="맑은 고딕" pitchFamily="34" charset="-120"/>
              </a:rPr>
              <a:t>1주차</a:t>
            </a:r>
            <a:endParaRPr lang="en-US" sz="1250" dirty="0"/>
          </a:p>
        </p:txBody>
      </p:sp>
      <p:sp>
        <p:nvSpPr>
          <p:cNvPr id="8" name="Text 6"/>
          <p:cNvSpPr txBox="1"/>
          <p:nvPr/>
        </p:nvSpPr>
        <p:spPr>
          <a:xfrm>
            <a:off x="502920" y="1938528"/>
            <a:ext cx="2795778" cy="219456"/>
          </a:xfrm>
          <a:prstGeom prst="rect">
            <a:avLst/>
          </a:prstGeom>
          <a:noFill/>
          <a:ln/>
        </p:spPr>
        <p:txBody>
          <a:bodyPr wrap="square" lIns="0" tIns="0" rIns="0" bIns="0" rtlCol="0" anchor="ctr"/>
          <a:lstStyle/>
          <a:p>
            <a:pPr algn="ctr" indent="0" marL="0">
              <a:buNone/>
            </a:pPr>
            <a:r>
              <a:rPr lang="en-US" sz="1000" dirty="0">
                <a:solidFill>
                  <a:srgbClr val="6B7280"/>
                </a:solidFill>
                <a:latin typeface="맑은 고딕" pitchFamily="34" charset="0"/>
                <a:ea typeface="맑은 고딕" pitchFamily="34" charset="-122"/>
                <a:cs typeface="맑은 고딕" pitchFamily="34" charset="-120"/>
              </a:rPr>
              <a:t>기초 · 보안</a:t>
            </a:r>
            <a:endParaRPr lang="en-US" sz="1000" dirty="0"/>
          </a:p>
        </p:txBody>
      </p:sp>
      <p:sp>
        <p:nvSpPr>
          <p:cNvPr id="9" name="Shape 7"/>
          <p:cNvSpPr/>
          <p:nvPr/>
        </p:nvSpPr>
        <p:spPr>
          <a:xfrm>
            <a:off x="4596003" y="1472184"/>
            <a:ext cx="201168" cy="201168"/>
          </a:xfrm>
          <a:prstGeom prst="ellipse">
            <a:avLst/>
          </a:prstGeom>
          <a:solidFill>
            <a:srgbClr val="9CA3AF"/>
          </a:solidFill>
          <a:ln w="25400">
            <a:solidFill>
              <a:srgbClr val="FFFFFF"/>
            </a:solidFill>
            <a:prstDash val="solid"/>
          </a:ln>
        </p:spPr>
      </p:sp>
      <p:sp>
        <p:nvSpPr>
          <p:cNvPr id="10" name="Text 8"/>
          <p:cNvSpPr txBox="1"/>
          <p:nvPr/>
        </p:nvSpPr>
        <p:spPr>
          <a:xfrm>
            <a:off x="3298698" y="1700784"/>
            <a:ext cx="2795778" cy="237744"/>
          </a:xfrm>
          <a:prstGeom prst="rect">
            <a:avLst/>
          </a:prstGeom>
          <a:noFill/>
          <a:ln/>
        </p:spPr>
        <p:txBody>
          <a:bodyPr wrap="square" lIns="0" tIns="0" rIns="0" bIns="0" rtlCol="0" anchor="ctr"/>
          <a:lstStyle/>
          <a:p>
            <a:pPr algn="ctr" indent="0" marL="0">
              <a:buNone/>
            </a:pPr>
            <a:r>
              <a:rPr lang="en-US" sz="1250" b="1" dirty="0">
                <a:solidFill>
                  <a:srgbClr val="0F2B46"/>
                </a:solidFill>
                <a:latin typeface="맑은 고딕" pitchFamily="34" charset="0"/>
                <a:ea typeface="맑은 고딕" pitchFamily="34" charset="-122"/>
                <a:cs typeface="맑은 고딕" pitchFamily="34" charset="-120"/>
              </a:rPr>
              <a:t>2주차</a:t>
            </a:r>
            <a:endParaRPr lang="en-US" sz="1250" dirty="0"/>
          </a:p>
        </p:txBody>
      </p:sp>
      <p:sp>
        <p:nvSpPr>
          <p:cNvPr id="11" name="Text 9"/>
          <p:cNvSpPr txBox="1"/>
          <p:nvPr/>
        </p:nvSpPr>
        <p:spPr>
          <a:xfrm>
            <a:off x="3298698" y="1938528"/>
            <a:ext cx="2795778" cy="219456"/>
          </a:xfrm>
          <a:prstGeom prst="rect">
            <a:avLst/>
          </a:prstGeom>
          <a:noFill/>
          <a:ln/>
        </p:spPr>
        <p:txBody>
          <a:bodyPr wrap="square" lIns="0" tIns="0" rIns="0" bIns="0" rtlCol="0" anchor="ctr"/>
          <a:lstStyle/>
          <a:p>
            <a:pPr algn="ctr" indent="0" marL="0">
              <a:buNone/>
            </a:pPr>
            <a:r>
              <a:rPr lang="en-US" sz="1000" dirty="0">
                <a:solidFill>
                  <a:srgbClr val="6B7280"/>
                </a:solidFill>
                <a:latin typeface="맑은 고딕" pitchFamily="34" charset="0"/>
                <a:ea typeface="맑은 고딕" pitchFamily="34" charset="-122"/>
                <a:cs typeface="맑은 고딕" pitchFamily="34" charset="-120"/>
              </a:rPr>
              <a:t>구조 만들기</a:t>
            </a:r>
            <a:endParaRPr lang="en-US" sz="1000" dirty="0"/>
          </a:p>
        </p:txBody>
      </p:sp>
      <p:sp>
        <p:nvSpPr>
          <p:cNvPr id="12" name="Shape 10"/>
          <p:cNvSpPr/>
          <p:nvPr/>
        </p:nvSpPr>
        <p:spPr>
          <a:xfrm>
            <a:off x="7391781" y="1472184"/>
            <a:ext cx="201168" cy="201168"/>
          </a:xfrm>
          <a:prstGeom prst="ellipse">
            <a:avLst/>
          </a:prstGeom>
          <a:solidFill>
            <a:srgbClr val="9CA3AF"/>
          </a:solidFill>
          <a:ln w="25400">
            <a:solidFill>
              <a:srgbClr val="FFFFFF"/>
            </a:solidFill>
            <a:prstDash val="solid"/>
          </a:ln>
        </p:spPr>
      </p:sp>
      <p:sp>
        <p:nvSpPr>
          <p:cNvPr id="13" name="Text 11"/>
          <p:cNvSpPr txBox="1"/>
          <p:nvPr/>
        </p:nvSpPr>
        <p:spPr>
          <a:xfrm>
            <a:off x="6094476" y="1700784"/>
            <a:ext cx="2795778" cy="237744"/>
          </a:xfrm>
          <a:prstGeom prst="rect">
            <a:avLst/>
          </a:prstGeom>
          <a:noFill/>
          <a:ln/>
        </p:spPr>
        <p:txBody>
          <a:bodyPr wrap="square" lIns="0" tIns="0" rIns="0" bIns="0" rtlCol="0" anchor="ctr"/>
          <a:lstStyle/>
          <a:p>
            <a:pPr algn="ctr" indent="0" marL="0">
              <a:buNone/>
            </a:pPr>
            <a:r>
              <a:rPr lang="en-US" sz="1250" b="1" dirty="0">
                <a:solidFill>
                  <a:srgbClr val="0F2B46"/>
                </a:solidFill>
                <a:latin typeface="맑은 고딕" pitchFamily="34" charset="0"/>
                <a:ea typeface="맑은 고딕" pitchFamily="34" charset="-122"/>
                <a:cs typeface="맑은 고딕" pitchFamily="34" charset="-120"/>
              </a:rPr>
              <a:t>3주차</a:t>
            </a:r>
            <a:endParaRPr lang="en-US" sz="1250" dirty="0"/>
          </a:p>
        </p:txBody>
      </p:sp>
      <p:sp>
        <p:nvSpPr>
          <p:cNvPr id="14" name="Text 12"/>
          <p:cNvSpPr txBox="1"/>
          <p:nvPr/>
        </p:nvSpPr>
        <p:spPr>
          <a:xfrm>
            <a:off x="6094476" y="1938528"/>
            <a:ext cx="2795778" cy="219456"/>
          </a:xfrm>
          <a:prstGeom prst="rect">
            <a:avLst/>
          </a:prstGeom>
          <a:noFill/>
          <a:ln/>
        </p:spPr>
        <p:txBody>
          <a:bodyPr wrap="square" lIns="0" tIns="0" rIns="0" bIns="0" rtlCol="0" anchor="ctr"/>
          <a:lstStyle/>
          <a:p>
            <a:pPr algn="ctr" indent="0" marL="0">
              <a:buNone/>
            </a:pPr>
            <a:r>
              <a:rPr lang="en-US" sz="1000" dirty="0">
                <a:solidFill>
                  <a:srgbClr val="6B7280"/>
                </a:solidFill>
                <a:latin typeface="맑은 고딕" pitchFamily="34" charset="0"/>
                <a:ea typeface="맑은 고딕" pitchFamily="34" charset="-122"/>
                <a:cs typeface="맑은 고딕" pitchFamily="34" charset="-120"/>
              </a:rPr>
              <a:t>품질 높이기</a:t>
            </a:r>
            <a:endParaRPr lang="en-US" sz="1000" dirty="0"/>
          </a:p>
        </p:txBody>
      </p:sp>
      <p:sp>
        <p:nvSpPr>
          <p:cNvPr id="15" name="Shape 13"/>
          <p:cNvSpPr/>
          <p:nvPr/>
        </p:nvSpPr>
        <p:spPr>
          <a:xfrm>
            <a:off x="10187559" y="1472184"/>
            <a:ext cx="201168" cy="201168"/>
          </a:xfrm>
          <a:prstGeom prst="ellipse">
            <a:avLst/>
          </a:prstGeom>
          <a:solidFill>
            <a:srgbClr val="0F9B8E"/>
          </a:solidFill>
          <a:ln w="25400">
            <a:solidFill>
              <a:srgbClr val="FFFFFF"/>
            </a:solidFill>
            <a:prstDash val="solid"/>
          </a:ln>
        </p:spPr>
      </p:sp>
      <p:sp>
        <p:nvSpPr>
          <p:cNvPr id="16" name="Text 14"/>
          <p:cNvSpPr txBox="1"/>
          <p:nvPr/>
        </p:nvSpPr>
        <p:spPr>
          <a:xfrm>
            <a:off x="8890254" y="1700784"/>
            <a:ext cx="2795778" cy="237744"/>
          </a:xfrm>
          <a:prstGeom prst="rect">
            <a:avLst/>
          </a:prstGeom>
          <a:noFill/>
          <a:ln/>
        </p:spPr>
        <p:txBody>
          <a:bodyPr wrap="square" lIns="0" tIns="0" rIns="0" bIns="0" rtlCol="0" anchor="ctr"/>
          <a:lstStyle/>
          <a:p>
            <a:pPr algn="ctr" indent="0" marL="0">
              <a:buNone/>
            </a:pPr>
            <a:r>
              <a:rPr lang="en-US" sz="1250" b="1" dirty="0">
                <a:solidFill>
                  <a:srgbClr val="0F9B8E"/>
                </a:solidFill>
                <a:latin typeface="맑은 고딕" pitchFamily="34" charset="0"/>
                <a:ea typeface="맑은 고딕" pitchFamily="34" charset="-122"/>
                <a:cs typeface="맑은 고딕" pitchFamily="34" charset="-120"/>
              </a:rPr>
              <a:t>4주차</a:t>
            </a:r>
            <a:endParaRPr lang="en-US" sz="1250" dirty="0"/>
          </a:p>
        </p:txBody>
      </p:sp>
      <p:sp>
        <p:nvSpPr>
          <p:cNvPr id="17" name="Text 15"/>
          <p:cNvSpPr txBox="1"/>
          <p:nvPr/>
        </p:nvSpPr>
        <p:spPr>
          <a:xfrm>
            <a:off x="8890254" y="1938528"/>
            <a:ext cx="2795778" cy="219456"/>
          </a:xfrm>
          <a:prstGeom prst="rect">
            <a:avLst/>
          </a:prstGeom>
          <a:noFill/>
          <a:ln/>
        </p:spPr>
        <p:txBody>
          <a:bodyPr wrap="square" lIns="0" tIns="0" rIns="0" bIns="0" rtlCol="0" anchor="ctr"/>
          <a:lstStyle/>
          <a:p>
            <a:pPr algn="ctr" indent="0" marL="0">
              <a:buNone/>
            </a:pPr>
            <a:r>
              <a:rPr lang="en-US" sz="1000" dirty="0">
                <a:solidFill>
                  <a:srgbClr val="6B7280"/>
                </a:solidFill>
                <a:latin typeface="맑은 고딕" pitchFamily="34" charset="0"/>
                <a:ea typeface="맑은 고딕" pitchFamily="34" charset="-122"/>
                <a:cs typeface="맑은 고딕" pitchFamily="34" charset="-120"/>
              </a:rPr>
              <a:t>검증 · 서비스화</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11183112" cy="914400"/>
        </p:xfrm>
        <a:graphic>
          <a:graphicData uri="http://schemas.openxmlformats.org/drawingml/2006/table">
            <a:tbl>
              <a:tblPr/>
              <a:tblGrid>
                <a:gridCol w="868680"/>
                <a:gridCol w="2514600"/>
                <a:gridCol w="5715000"/>
                <a:gridCol w="2084832"/>
              </a:tblGrid>
              <a:tr h="384048">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주차</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배운 것</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이 프로젝트에 적용한 내용</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산출물</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1주차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파이썬 · API 호출 · 환경변수</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API 키를 코드에 직접 쓰지 않고 .env로 분리. 외부 프레임워크 없이 표준 문법으로 구현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키 노출 없는 코드베이스</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2주차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RAG · LangGraph · 프론트/백엔드</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 6개 문서를 제목 계층 기준 135개 조항으로 분리. 4단계 그래프 연결 후 웹 화면 연동</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동작하는 상담 파이프라인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3주차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RAG 성능 개선 · AI Agent 설계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"재작성→검색→판정→생성"으로 역할 분리. 판정을 따로 둬서 근거가 부족하면 답을 만들지 않고 멈추게 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근거 없는 답변 차단 구조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4주차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자료 검증 · 서비스 완성</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대표 질문 62문항(회귀 44 + 실사용 18)으로 검색 품질을 수치로 측정하고, 그 결과를 반영해 웹 화면까지 완성</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측정 가능한 품질 지표</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19" name="Text 16"/>
          <p:cNvSpPr txBox="1"/>
          <p:nvPr/>
        </p:nvSpPr>
        <p:spPr>
          <a:xfrm>
            <a:off x="502920" y="4709160"/>
            <a:ext cx="5486400" cy="256032"/>
          </a:xfrm>
          <a:prstGeom prst="rect">
            <a:avLst/>
          </a:prstGeom>
          <a:noFill/>
          <a:ln/>
        </p:spPr>
        <p:txBody>
          <a:bodyPr wrap="square" lIns="0" tIns="0" rIns="0" bIns="0" rtlCol="0" anchor="ctr"/>
          <a:lstStyle/>
          <a:p>
            <a:pPr indent="0" marL="0">
              <a:buNone/>
            </a:pPr>
            <a:r>
              <a:rPr lang="en-US" sz="1200" b="1" dirty="0">
                <a:solidFill>
                  <a:srgbClr val="0F2B46"/>
                </a:solidFill>
                <a:latin typeface="맑은 고딕" pitchFamily="34" charset="0"/>
                <a:ea typeface="맑은 고딕" pitchFamily="34" charset="-122"/>
                <a:cs typeface="맑은 고딕" pitchFamily="34" charset="-120"/>
              </a:rPr>
              <a:t>선택한 방식과 검토한 대안</a:t>
            </a:r>
            <a:endParaRPr lang="en-US" sz="12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502920" y="5010912"/>
          <a:ext cx="11183112" cy="914400"/>
        </p:xfrm>
        <a:graphic>
          <a:graphicData uri="http://schemas.openxmlformats.org/drawingml/2006/table">
            <a:tbl>
              <a:tblPr/>
              <a:tblGrid>
                <a:gridCol w="2286000"/>
                <a:gridCol w="2651760"/>
                <a:gridCol w="6245352"/>
              </a:tblGrid>
              <a:tr h="292608">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선택</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검토한 대안</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선택 이유</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292608">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LangGraph 4단계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함수를 순서대로 호출</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단계가 분리돼야 어느 단계가 틀렸는지 따로 측정·수정 가능</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92608">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키워드 + 의미 결합</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의미 검색 단독</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의미 단독은 '파견비' 같은 고유 용어에서 오히려 순위가 밀림</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92608">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판정 단계 분리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하나의 프롬프트로 처리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"모르면 말하지 마"라고 지시하는 것보다 구조로 막는 편이 안정적</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02 구현 내용 · 9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시행착오에서 배운 것</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좋아 보이던 최적화가 실제로는 반대 결과를 낸 경우가 세 번 있었습니다</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457200"/>
                <a:gridCol w="2194560"/>
                <a:gridCol w="3794760"/>
                <a:gridCol w="2377440"/>
                <a:gridCol w="2359152"/>
              </a:tblGrid>
              <a:tr h="411480">
                <a:tc>
                  <a:txBody>
                    <a:bodyPr/>
                    <a:lstStyle/>
                    <a:p>
                      <a:pPr algn="l" indent="0" marL="0">
                        <a:buNone/>
                      </a:pP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시도한 것</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실제로 일어난 일</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원인</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어떻게 고쳤나</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411480">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1</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질문의 단어로 제도를 미리 골라내기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"출장 가면 숙소는 회사가 잡아주나요?"가 '숙소'라는 단어 때문에 숙소지원금 규정에 갇힘. 실제 답은 여비관리기준에 있었음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단어로 검색 범위를 미리 좁히면 정답이 범위 밖으로 밀려남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0F9B8E"/>
                          </a:solidFill>
                          <a:latin typeface="맑은 고딕" pitchFamily="34" charset="0"/>
                          <a:ea typeface="맑은 고딕" pitchFamily="34" charset="-122"/>
                          <a:cs typeface="맑은 고딕" pitchFamily="34" charset="-120"/>
                        </a:rPr>
                        <a:t>단어 사전 분류를 삭제하고, 검색 관련도 점수로 판단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11480">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2</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이전 대화를 이어갈지 단어로 판단하기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"해외출장입니다"는 '출장'이 걸려 필요한 맥락이 끊겼고, "부모님 상 당했는데"는 단어가 안 걸려 지난 환갑 주제가 남았음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낱말 유무 판별은 양방향으로 틀림</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0F9B8E"/>
                          </a:solidFill>
                          <a:latin typeface="맑은 고딕" pitchFamily="34" charset="0"/>
                          <a:ea typeface="맑은 고딕" pitchFamily="34" charset="-122"/>
                          <a:cs typeface="맑은 고딕" pitchFamily="34" charset="-120"/>
                        </a:rPr>
                        <a:t>앞 대화를 반영해 질문 자체를 다시 쓰는 방식으로 통일</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11480">
                <a:tc>
                  <a:txBody>
                    <a:bodyPr/>
                    <a:lstStyle/>
                    <a:p>
                      <a:pPr algn="ctr" indent="0" marL="0">
                        <a:buNone/>
                      </a:pPr>
                      <a:r>
                        <a:rPr lang="en-US" sz="1050" b="1" dirty="0">
                          <a:solidFill>
                            <a:srgbClr val="E07B39"/>
                          </a:solidFill>
                          <a:latin typeface="맑은 고딕" pitchFamily="34" charset="0"/>
                          <a:ea typeface="맑은 고딕" pitchFamily="34" charset="-122"/>
                          <a:cs typeface="맑은 고딕" pitchFamily="34" charset="-120"/>
                        </a:rPr>
                        <a:t>3</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자주 나오는 답을 고정 문구로 저장</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재부임 기준(1년·합산 3년)을 모른 채 신규 부임 표를 그대로 써서 2년 초과 지급을 단정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E07B39"/>
                          </a:solidFill>
                          <a:latin typeface="맑은 고딕" pitchFamily="34" charset="0"/>
                          <a:ea typeface="맑은 고딕" pitchFamily="34" charset="-122"/>
                          <a:cs typeface="맑은 고딕" pitchFamily="34" charset="-120"/>
                        </a:rPr>
                        <a:t>고정 문구가 답을 반환하면 검색·판정 경로로 내려갈 기회가 없음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0F9B8E"/>
                          </a:solidFill>
                          <a:latin typeface="맑은 고딕" pitchFamily="34" charset="0"/>
                          <a:ea typeface="맑은 고딕" pitchFamily="34" charset="-122"/>
                          <a:cs typeface="맑은 고딕" pitchFamily="34" charset="-120"/>
                        </a:rPr>
                        <a:t>고정 규칙 노드를 삭제. 모든 질문이 같은 경로를 지나게 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6" name="Shape 3"/>
          <p:cNvSpPr/>
          <p:nvPr/>
        </p:nvSpPr>
        <p:spPr>
          <a:xfrm>
            <a:off x="502920" y="4224528"/>
            <a:ext cx="6766560" cy="1417320"/>
          </a:xfrm>
          <a:prstGeom prst="roundRect">
            <a:avLst>
              <a:gd name="adj" fmla="val 5161"/>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7" name="Text 4"/>
          <p:cNvSpPr txBox="1"/>
          <p:nvPr/>
        </p:nvSpPr>
        <p:spPr>
          <a:xfrm>
            <a:off x="731520" y="4334256"/>
            <a:ext cx="6309360" cy="256032"/>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미리 좁히기  vs  전부 검색 후 점수로 판단</a:t>
            </a:r>
            <a:endParaRPr lang="en-US" sz="1150" dirty="0"/>
          </a:p>
        </p:txBody>
      </p:sp>
      <p:sp>
        <p:nvSpPr>
          <p:cNvPr id="8" name="Text 5"/>
          <p:cNvSpPr txBox="1"/>
          <p:nvPr/>
        </p:nvSpPr>
        <p:spPr>
          <a:xfrm>
            <a:off x="731520" y="4681728"/>
            <a:ext cx="6309360" cy="320040"/>
          </a:xfrm>
          <a:prstGeom prst="rect">
            <a:avLst/>
          </a:prstGeom>
          <a:noFill/>
          <a:ln/>
        </p:spPr>
        <p:txBody>
          <a:bodyPr wrap="square" lIns="0" tIns="0" rIns="0" bIns="0" rtlCol="0" anchor="ctr"/>
          <a:lstStyle/>
          <a:p>
            <a:pPr indent="0" marL="0">
              <a:buNone/>
            </a:pPr>
            <a:r>
              <a:rPr lang="en-US" sz="1100" b="1" dirty="0">
                <a:solidFill>
                  <a:srgbClr val="E07B39"/>
                </a:solidFill>
                <a:latin typeface="맑은 고딕" pitchFamily="34" charset="0"/>
                <a:ea typeface="맑은 고딕" pitchFamily="34" charset="-122"/>
                <a:cs typeface="맑은 고딕" pitchFamily="34" charset="-120"/>
              </a:rPr>
              <a:t>BEFORE   </a:t>
            </a:r>
            <a:pPr indent="0" marL="0">
              <a:buNone/>
            </a:pPr>
            <a:r>
              <a:rPr lang="en-US" sz="1100" dirty="0">
                <a:solidFill>
                  <a:srgbClr val="555555"/>
                </a:solidFill>
                <a:latin typeface="맑은 고딕" pitchFamily="34" charset="0"/>
                <a:ea typeface="맑은 고딕" pitchFamily="34" charset="-122"/>
                <a:cs typeface="맑은 고딕" pitchFamily="34" charset="-120"/>
              </a:rPr>
              <a:t>질문 → [단어 판별] → 숙소 규정만 검색 → 정답이 범위 밖  ✕</a:t>
            </a:r>
            <a:endParaRPr lang="en-US" sz="1100" dirty="0"/>
          </a:p>
        </p:txBody>
      </p:sp>
      <p:sp>
        <p:nvSpPr>
          <p:cNvPr id="9" name="Text 6"/>
          <p:cNvSpPr txBox="1"/>
          <p:nvPr/>
        </p:nvSpPr>
        <p:spPr>
          <a:xfrm>
            <a:off x="731520" y="5084064"/>
            <a:ext cx="6309360" cy="320040"/>
          </a:xfrm>
          <a:prstGeom prst="rect">
            <a:avLst/>
          </a:prstGeom>
          <a:noFill/>
          <a:ln/>
        </p:spPr>
        <p:txBody>
          <a:bodyPr wrap="square" lIns="0" tIns="0" rIns="0" bIns="0" rtlCol="0" anchor="ctr"/>
          <a:lstStyle/>
          <a:p>
            <a:pPr indent="0" marL="0">
              <a:buNone/>
            </a:pPr>
            <a:r>
              <a:rPr lang="en-US" sz="1100" b="1" dirty="0">
                <a:solidFill>
                  <a:srgbClr val="0F9B8E"/>
                </a:solidFill>
                <a:latin typeface="맑은 고딕" pitchFamily="34" charset="0"/>
                <a:ea typeface="맑은 고딕" pitchFamily="34" charset="-122"/>
                <a:cs typeface="맑은 고딕" pitchFamily="34" charset="-120"/>
              </a:rPr>
              <a:t>AFTER      </a:t>
            </a:r>
            <a:pPr indent="0" marL="0">
              <a:buNone/>
            </a:pPr>
            <a:r>
              <a:rPr lang="en-US" sz="1100" dirty="0">
                <a:solidFill>
                  <a:srgbClr val="555555"/>
                </a:solidFill>
                <a:latin typeface="맑은 고딕" pitchFamily="34" charset="0"/>
                <a:ea typeface="맑은 고딕" pitchFamily="34" charset="-122"/>
                <a:cs typeface="맑은 고딕" pitchFamily="34" charset="-120"/>
              </a:rPr>
              <a:t>질문 → [전체 135개 조항 검색] → 관련도 상위 조항  ○</a:t>
            </a:r>
            <a:endParaRPr lang="en-US" sz="1100" dirty="0"/>
          </a:p>
        </p:txBody>
      </p:sp>
      <p:sp>
        <p:nvSpPr>
          <p:cNvPr id="10" name="Shape 7"/>
          <p:cNvSpPr/>
          <p:nvPr/>
        </p:nvSpPr>
        <p:spPr>
          <a:xfrm>
            <a:off x="7543800" y="4224528"/>
            <a:ext cx="4142232" cy="1417320"/>
          </a:xfrm>
          <a:prstGeom prst="roundRect">
            <a:avLst>
              <a:gd name="adj" fmla="val 5161"/>
            </a:avLst>
          </a:prstGeom>
          <a:solidFill>
            <a:srgbClr val="0F2B46"/>
          </a:solidFill>
          <a:ln w="12700">
            <a:solidFill>
              <a:srgbClr val="0F2B46"/>
            </a:solidFill>
            <a:prstDash val="solid"/>
          </a:ln>
        </p:spPr>
      </p:sp>
      <p:sp>
        <p:nvSpPr>
          <p:cNvPr id="11" name="Text 8"/>
          <p:cNvSpPr txBox="1"/>
          <p:nvPr/>
        </p:nvSpPr>
        <p:spPr>
          <a:xfrm>
            <a:off x="7754112" y="4334256"/>
            <a:ext cx="3749040" cy="237744"/>
          </a:xfrm>
          <a:prstGeom prst="rect">
            <a:avLst/>
          </a:prstGeom>
          <a:noFill/>
          <a:ln/>
        </p:spPr>
        <p:txBody>
          <a:bodyPr wrap="square" lIns="0" tIns="0" rIns="0" bIns="0" rtlCol="0" anchor="ctr"/>
          <a:lstStyle/>
          <a:p>
            <a:pPr indent="0" marL="0">
              <a:buNone/>
            </a:pPr>
            <a:r>
              <a:rPr lang="en-US" sz="1100" b="1" dirty="0">
                <a:solidFill>
                  <a:srgbClr val="0F9B8E"/>
                </a:solidFill>
                <a:latin typeface="맑은 고딕" pitchFamily="34" charset="0"/>
                <a:ea typeface="맑은 고딕" pitchFamily="34" charset="-122"/>
                <a:cs typeface="맑은 고딕" pitchFamily="34" charset="-120"/>
              </a:rPr>
              <a:t>배운 것</a:t>
            </a:r>
            <a:endParaRPr lang="en-US" sz="1100" dirty="0"/>
          </a:p>
        </p:txBody>
      </p:sp>
      <p:sp>
        <p:nvSpPr>
          <p:cNvPr id="12" name="Text 9"/>
          <p:cNvSpPr txBox="1"/>
          <p:nvPr/>
        </p:nvSpPr>
        <p:spPr>
          <a:xfrm>
            <a:off x="7754112" y="4608576"/>
            <a:ext cx="3749040" cy="914400"/>
          </a:xfrm>
          <a:prstGeom prst="rect">
            <a:avLst/>
          </a:prstGeom>
          <a:noFill/>
          <a:ln/>
        </p:spPr>
        <p:txBody>
          <a:bodyPr wrap="square" lIns="0" tIns="0" rIns="0" bIns="0" rtlCol="0" anchor="ctr"/>
          <a:lstStyle/>
          <a:p>
            <a:pPr indent="0" marL="0">
              <a:lnSpc>
                <a:spcPts val="1700"/>
              </a:lnSpc>
              <a:buNone/>
            </a:pPr>
            <a:r>
              <a:rPr lang="en-US" sz="1100" dirty="0">
                <a:solidFill>
                  <a:srgbClr val="FFFFFF"/>
                </a:solidFill>
                <a:latin typeface="맑은 고딕" pitchFamily="34" charset="0"/>
                <a:ea typeface="맑은 고딕" pitchFamily="34" charset="-122"/>
                <a:cs typeface="맑은 고딕" pitchFamily="34" charset="-120"/>
              </a:rPr>
              <a:t>"미리 좁혀서 빠르게"는 대부분 손해였습니다.</a:t>
            </a:r>
            <a:endParaRPr lang="en-US" sz="1100" dirty="0"/>
          </a:p>
          <a:p>
            <a:pPr indent="0" marL="0">
              <a:lnSpc>
                <a:spcPts val="1700"/>
              </a:lnSpc>
              <a:buNone/>
            </a:pPr>
            <a:r>
              <a:rPr lang="en-US" sz="1100" dirty="0">
                <a:solidFill>
                  <a:srgbClr val="FFFFFF"/>
                </a:solidFill>
                <a:latin typeface="맑은 고딕" pitchFamily="34" charset="0"/>
                <a:ea typeface="맑은 고딕" pitchFamily="34" charset="-122"/>
                <a:cs typeface="맑은 고딕" pitchFamily="34" charset="-120"/>
              </a:rPr>
              <a:t>규칙으로 앞질러 판단할수록 정답이 범위 밖으로 밀렸고,</a:t>
            </a:r>
            <a:endParaRPr lang="en-US" sz="1100" dirty="0"/>
          </a:p>
          <a:p>
            <a:pPr indent="0" marL="0">
              <a:lnSpc>
                <a:spcPts val="1700"/>
              </a:lnSpc>
              <a:buNone/>
            </a:pPr>
            <a:r>
              <a:rPr lang="en-US" sz="1100" dirty="0">
                <a:solidFill>
                  <a:srgbClr val="FFFFFF"/>
                </a:solidFill>
                <a:latin typeface="맑은 고딕" pitchFamily="34" charset="0"/>
                <a:ea typeface="맑은 고딕" pitchFamily="34" charset="-122"/>
                <a:cs typeface="맑은 고딕" pitchFamily="34" charset="-120"/>
              </a:rPr>
              <a:t>틀려도 조용히 틀렸습니다.</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02 구현 내용 · 10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멘토링 · 코칭 피드백 반영</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"데이터 전처리가 검색 품질을 결정한다"는 지적에서 시작됐습니다</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3749040"/>
                <a:gridCol w="3749040"/>
                <a:gridCol w="3685032"/>
              </a:tblGrid>
              <a:tr h="50292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받은 피드백</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반영 과정</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결과 · 변화</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502920">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RAG 데이터를 .txt → .md로 바꾼 결과를 검토받는 자리에서, 청킹이 #(최상위 헤딩) 단위로만 동작해 ##~### 하위 계층이 반영되지 않는다는 지적. 청크가 계층 맥락을 잃어 상위 분류와 무관한 문맥에 매칭될 위험</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청킹 프롬프트를 헤딩 depth 기준으로 재설계. 계층별 경로(path)를 만들어 본문 청크에 메타데이터로 결합. 제목 단계가 건너뛰어져도 실제 상위 제목만 경로에 남김</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각 청크가 '파일 &gt; 장 &gt; 절 &gt; 조항' 경로를 갖게 됨. 화면의 '확인한 규정' 링크가 조항 경로로 표시되고, 다른 제도 규정이 섞이는 오매칭이 줄었음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502920">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(피드백 확장) 동일 방식이 다른 규정에도 필요하다는 판단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숙소지원금 운영기준 등 나머지 규정도 .txt에서 제목 계층 Markdown으로 정립하고 원문과 대조. 검색 대상·전용 필터·근거 라벨을 Markdown 파일명 기준으로 정비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 6개 문서가 같은 구조로 통일. 규정을 고칠 때 청킹 코드가 아니라 문서만 고치면 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502920">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(반영 후 후속 조치) 경로가 검색에 실제로 기여하는지 확인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경로 + 본문을 함께 임베딩한 뒤 검색 가중치를 44문항으로 재측정. VECTOR_WEIGHT 0.5 → 0.8</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hit@1 45.5% → 63.6%, MRR 0.639 → 0.744.</a:t>
                      </a:r>
                      <a:pPr indent="0" marL="0">
                        <a:buNone/>
                      </a:pPr>
                      <a:r>
                        <a:rPr lang="en-US" sz="1050" dirty="0">
                          <a:solidFill>
                            <a:srgbClr val="E07B39"/>
                          </a:solidFill>
                          <a:latin typeface="맑은 고딕" pitchFamily="34" charset="0"/>
                          <a:ea typeface="맑은 고딕" pitchFamily="34" charset="-122"/>
                          <a:cs typeface="맑은 고딕" pitchFamily="34" charset="-120"/>
                        </a:rPr>
                        <a:t> 대신 부모 서두가 첫 자식에 합쳐지며 별첨 표가 흡수되는 새 문제를 발견(미해결)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6" name="Shape 3"/>
          <p:cNvSpPr/>
          <p:nvPr/>
        </p:nvSpPr>
        <p:spPr>
          <a:xfrm>
            <a:off x="502920" y="4315968"/>
            <a:ext cx="11183112" cy="731520"/>
          </a:xfrm>
          <a:prstGeom prst="roundRect">
            <a:avLst>
              <a:gd name="adj" fmla="val 10000"/>
            </a:avLst>
          </a:prstGeom>
          <a:solidFill>
            <a:srgbClr val="E6F5F3"/>
          </a:solidFill>
          <a:ln w="12700">
            <a:solidFill>
              <a:srgbClr val="E6F5F3"/>
            </a:solidFill>
            <a:prstDash val="solid"/>
          </a:ln>
        </p:spPr>
      </p:sp>
      <p:sp>
        <p:nvSpPr>
          <p:cNvPr id="7" name="Text 4"/>
          <p:cNvSpPr txBox="1"/>
          <p:nvPr/>
        </p:nvSpPr>
        <p:spPr>
          <a:xfrm>
            <a:off x="777240" y="4315968"/>
            <a:ext cx="10634472" cy="731520"/>
          </a:xfrm>
          <a:prstGeom prst="rect">
            <a:avLst/>
          </a:prstGeom>
          <a:noFill/>
          <a:ln/>
        </p:spPr>
        <p:txBody>
          <a:bodyPr wrap="square" lIns="0" tIns="0" rIns="0" bIns="0" rtlCol="0" anchor="ctr"/>
          <a:lstStyle/>
          <a:p>
            <a:pPr indent="0" marL="0">
              <a:buNone/>
            </a:pPr>
            <a:r>
              <a:rPr lang="en-US" sz="1300" b="1" dirty="0">
                <a:solidFill>
                  <a:srgbClr val="0F9B8E"/>
                </a:solidFill>
                <a:latin typeface="맑은 고딕" pitchFamily="34" charset="0"/>
                <a:ea typeface="맑은 고딕" pitchFamily="34" charset="-122"/>
                <a:cs typeface="맑은 고딕" pitchFamily="34" charset="-120"/>
              </a:rPr>
              <a:t>핵심 전환   </a:t>
            </a:r>
            <a:pPr indent="0" marL="0">
              <a:buNone/>
            </a:pPr>
            <a:r>
              <a:rPr lang="en-US" sz="1300" b="1" dirty="0">
                <a:solidFill>
                  <a:srgbClr val="0F2B46"/>
                </a:solidFill>
                <a:latin typeface="맑은 고딕" pitchFamily="34" charset="0"/>
                <a:ea typeface="맑은 고딕" pitchFamily="34" charset="-122"/>
                <a:cs typeface="맑은 고딕" pitchFamily="34" charset="-120"/>
              </a:rPr>
              <a:t>전처리를 '포맷 변환'이 아니라 '검색 품질을 결정하는 설계'로 보게 됐습니다.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03 결과 및 시연 · 11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결과 시연 — 해외출장 전날 이동</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"몰랐을 땐 없다고 하고, 알려주자 찾아냅니다"  ·  2026-09-14 실제 실행 결과</a:t>
            </a:r>
            <a:endParaRPr lang="en-US" sz="1300" dirty="0"/>
          </a:p>
        </p:txBody>
      </p:sp>
      <p:sp>
        <p:nvSpPr>
          <p:cNvPr id="5" name="Shape 3"/>
          <p:cNvSpPr/>
          <p:nvPr/>
        </p:nvSpPr>
        <p:spPr>
          <a:xfrm>
            <a:off x="502920" y="1325880"/>
            <a:ext cx="5029200" cy="3566160"/>
          </a:xfrm>
          <a:prstGeom prst="roundRect">
            <a:avLst>
              <a:gd name="adj" fmla="val 2051"/>
            </a:avLst>
          </a:prstGeom>
          <a:solidFill>
            <a:srgbClr val="F5F7FA"/>
          </a:solidFill>
          <a:ln w="12700">
            <a:solidFill>
              <a:srgbClr val="E5E7EB"/>
            </a:solidFill>
            <a:prstDash val="dash"/>
          </a:ln>
        </p:spPr>
      </p:sp>
      <p:sp>
        <p:nvSpPr>
          <p:cNvPr id="6" name="Shape 4"/>
          <p:cNvSpPr/>
          <p:nvPr/>
        </p:nvSpPr>
        <p:spPr>
          <a:xfrm>
            <a:off x="2743200" y="2514600"/>
            <a:ext cx="548640" cy="548640"/>
          </a:xfrm>
          <a:prstGeom prst="ellipse">
            <a:avLst/>
          </a:prstGeom>
          <a:solidFill>
            <a:srgbClr val="0F9B8E"/>
          </a:solidFill>
          <a:ln w="12700">
            <a:solidFill>
              <a:srgbClr val="0F9B8E"/>
            </a:solidFill>
            <a:prstDash val="solid"/>
          </a:ln>
        </p:spPr>
      </p:sp>
      <p:sp>
        <p:nvSpPr>
          <p:cNvPr id="7" name="Shape 5"/>
          <p:cNvSpPr/>
          <p:nvPr/>
        </p:nvSpPr>
        <p:spPr>
          <a:xfrm rot="5400000">
            <a:off x="2944368" y="2651760"/>
            <a:ext cx="237744" cy="274320"/>
          </a:xfrm>
          <a:prstGeom prst="triangle">
            <a:avLst/>
          </a:prstGeom>
          <a:solidFill>
            <a:srgbClr val="FFFFFF"/>
          </a:solidFill>
          <a:ln w="12700">
            <a:solidFill>
              <a:srgbClr val="FFFFFF"/>
            </a:solidFill>
            <a:prstDash val="solid"/>
          </a:ln>
        </p:spPr>
      </p:sp>
      <p:sp>
        <p:nvSpPr>
          <p:cNvPr id="8" name="Text 6"/>
          <p:cNvSpPr txBox="1"/>
          <p:nvPr/>
        </p:nvSpPr>
        <p:spPr>
          <a:xfrm>
            <a:off x="502920" y="3246120"/>
            <a:ext cx="5029200" cy="274320"/>
          </a:xfrm>
          <a:prstGeom prst="rect">
            <a:avLst/>
          </a:prstGeom>
          <a:noFill/>
          <a:ln/>
        </p:spPr>
        <p:txBody>
          <a:bodyPr wrap="square" lIns="0" tIns="0" rIns="0" bIns="0" rtlCol="0" anchor="ctr"/>
          <a:lstStyle/>
          <a:p>
            <a:pPr algn="ctr" indent="0" marL="0">
              <a:buNone/>
            </a:pPr>
            <a:r>
              <a:rPr lang="en-US" sz="1300" b="1" dirty="0">
                <a:solidFill>
                  <a:srgbClr val="0F2B46"/>
                </a:solidFill>
                <a:latin typeface="맑은 고딕" pitchFamily="34" charset="0"/>
                <a:ea typeface="맑은 고딕" pitchFamily="34" charset="-122"/>
                <a:cs typeface="맑은 고딕" pitchFamily="34" charset="-120"/>
              </a:rPr>
              <a:t>시연 영상 삽입 자리</a:t>
            </a:r>
            <a:endParaRPr lang="en-US" sz="1300" dirty="0"/>
          </a:p>
        </p:txBody>
      </p:sp>
      <p:sp>
        <p:nvSpPr>
          <p:cNvPr id="9" name="Text 7"/>
          <p:cNvSpPr txBox="1"/>
          <p:nvPr/>
        </p:nvSpPr>
        <p:spPr>
          <a:xfrm>
            <a:off x="502920" y="3547872"/>
            <a:ext cx="5029200" cy="548640"/>
          </a:xfrm>
          <a:prstGeom prst="rect">
            <a:avLst/>
          </a:prstGeom>
          <a:noFill/>
          <a:ln/>
        </p:spPr>
        <p:txBody>
          <a:bodyPr wrap="square" lIns="0" tIns="0" rIns="0" bIns="0" rtlCol="0" anchor="ctr"/>
          <a:lstStyle/>
          <a:p>
            <a:pPr algn="ctr" indent="0" marL="0">
              <a:lnSpc>
                <a:spcPts val="1500"/>
              </a:lnSpc>
              <a:buNone/>
            </a:pPr>
            <a:r>
              <a:rPr lang="en-US" sz="1000" dirty="0">
                <a:solidFill>
                  <a:srgbClr val="6B7280"/>
                </a:solidFill>
                <a:latin typeface="맑은 고딕" pitchFamily="34" charset="0"/>
                <a:ea typeface="맑은 고딕" pitchFamily="34" charset="-122"/>
                <a:cs typeface="맑은 고딕" pitchFamily="34" charset="-120"/>
              </a:rPr>
              <a:t>16:9 / 권장 길이 50~60초</a:t>
            </a:r>
            <a:endParaRPr lang="en-US" sz="1000" dirty="0"/>
          </a:p>
          <a:p>
            <a:pPr algn="ctr" indent="0" marL="0">
              <a:lnSpc>
                <a:spcPts val="1500"/>
              </a:lnSpc>
              <a:buNone/>
            </a:pPr>
            <a:r>
              <a:rPr lang="en-US" sz="1000" dirty="0">
                <a:solidFill>
                  <a:srgbClr val="6B7280"/>
                </a:solidFill>
                <a:latin typeface="맑은 고딕" pitchFamily="34" charset="0"/>
                <a:ea typeface="맑은 고딕" pitchFamily="34" charset="-122"/>
                <a:cs typeface="맑은 고딕" pitchFamily="34" charset="-120"/>
              </a:rPr>
              <a:t>삽입 &gt; 화면 녹화  또는  삽입 &gt; 비디오 &gt; 이 디바이스</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760720" y="1325880"/>
          <a:ext cx="5925312" cy="914400"/>
        </p:xfrm>
        <a:graphic>
          <a:graphicData uri="http://schemas.openxmlformats.org/drawingml/2006/table">
            <a:tbl>
              <a:tblPr/>
              <a:tblGrid>
                <a:gridCol w="384048"/>
                <a:gridCol w="2240280"/>
                <a:gridCol w="3300984"/>
              </a:tblGrid>
              <a:tr h="457200">
                <a:tc>
                  <a:txBody>
                    <a:bodyPr/>
                    <a:lstStyle/>
                    <a:p>
                      <a:pPr algn="l" indent="0" marL="0">
                        <a:buNone/>
                      </a:pP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화면에서 하는 것</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실제로 나오는 결과</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457200">
                <a:tc>
                  <a:txBody>
                    <a:bodyPr/>
                    <a:lstStyle/>
                    <a:p>
                      <a:pPr algn="ctr" indent="0" marL="0">
                        <a:buNone/>
                      </a:pPr>
                      <a:r>
                        <a:rPr lang="en-US" sz="1050" b="1" dirty="0">
                          <a:solidFill>
                            <a:srgbClr val="0F9B8E"/>
                          </a:solidFill>
                          <a:latin typeface="맑은 고딕" pitchFamily="34" charset="0"/>
                          <a:ea typeface="맑은 고딕" pitchFamily="34" charset="-122"/>
                          <a:cs typeface="맑은 고딕" pitchFamily="34" charset="-120"/>
                        </a:rPr>
                        <a:t>1</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질문 입력 — 9/11 미리 수도권 이동 후 주말을 보내고 9/14 인천공항으로 가는 일정의 교통비 정산 문의</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조항 번호 없이 실제 업무 메일처럼 길게 물어도 처리됨</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57200">
                <a:tc>
                  <a:txBody>
                    <a:bodyPr/>
                    <a:lstStyle/>
                    <a:p>
                      <a:pPr algn="ctr" indent="0" marL="0">
                        <a:buNone/>
                      </a:pPr>
                      <a:r>
                        <a:rPr lang="en-US" sz="1050" b="1" dirty="0">
                          <a:solidFill>
                            <a:srgbClr val="0F9B8E"/>
                          </a:solidFill>
                          <a:latin typeface="맑은 고딕" pitchFamily="34" charset="0"/>
                          <a:ea typeface="맑은 고딕" pitchFamily="34" charset="-122"/>
                          <a:cs typeface="맑은 고딕" pitchFamily="34" charset="-120"/>
                        </a:rPr>
                        <a:t>2</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첫 답변 확인</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b="1" dirty="0">
                          <a:solidFill>
                            <a:srgbClr val="0F2B46"/>
                          </a:solidFill>
                          <a:latin typeface="맑은 고딕" pitchFamily="34" charset="0"/>
                          <a:ea typeface="맑은 고딕" pitchFamily="34" charset="-122"/>
                          <a:cs typeface="맑은 고딕" pitchFamily="34" charset="-120"/>
                        </a:rPr>
                        <a:t>"사전 개인 이동·KTX·공항버스 정산 기준이 근거에 직접 제시되어 있지 않다"</a:t>
                      </a:r>
                      <a:pPr indent="0" marL="0">
                        <a:buNone/>
                      </a:pPr>
                      <a:r>
                        <a:rPr lang="en-US" sz="950" dirty="0">
                          <a:solidFill>
                            <a:srgbClr val="333333"/>
                          </a:solidFill>
                          <a:latin typeface="맑은 고딕" pitchFamily="34" charset="0"/>
                          <a:ea typeface="맑은 고딕" pitchFamily="34" charset="-122"/>
                          <a:cs typeface="맑은 고딕" pitchFamily="34" charset="-120"/>
                        </a:rPr>
                        <a:t> → 확인이 필요한 내용 3가지를 되물음</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57200">
                <a:tc>
                  <a:txBody>
                    <a:bodyPr/>
                    <a:lstStyle/>
                    <a:p>
                      <a:pPr algn="ctr" indent="0" marL="0">
                        <a:buNone/>
                      </a:pPr>
                      <a:r>
                        <a:rPr lang="en-US" sz="1050" b="1" dirty="0">
                          <a:solidFill>
                            <a:srgbClr val="0F9B8E"/>
                          </a:solidFill>
                          <a:latin typeface="맑은 고딕" pitchFamily="34" charset="0"/>
                          <a:ea typeface="맑은 고딕" pitchFamily="34" charset="-122"/>
                          <a:cs typeface="맑은 고딕" pitchFamily="34" charset="-120"/>
                        </a:rPr>
                        <a:t>3</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후속 질문 — "해외출장입니다"</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국외여비 전일 이동 조항을 찾아내 답변이 바뀌고, 되물을 항목이 </a:t>
                      </a:r>
                      <a:pPr indent="0" marL="0">
                        <a:buNone/>
                      </a:pPr>
                      <a:r>
                        <a:rPr lang="en-US" sz="950" b="1" dirty="0">
                          <a:solidFill>
                            <a:srgbClr val="0F9B8E"/>
                          </a:solidFill>
                          <a:latin typeface="맑은 고딕" pitchFamily="34" charset="0"/>
                          <a:ea typeface="맑은 고딕" pitchFamily="34" charset="-122"/>
                          <a:cs typeface="맑은 고딕" pitchFamily="34" charset="-120"/>
                        </a:rPr>
                        <a:t>3개 → 2개로 감소</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457200">
                <a:tc>
                  <a:txBody>
                    <a:bodyPr/>
                    <a:lstStyle/>
                    <a:p>
                      <a:pPr algn="ctr" indent="0" marL="0">
                        <a:buNone/>
                      </a:pPr>
                      <a:r>
                        <a:rPr lang="en-US" sz="1050" b="1" dirty="0">
                          <a:solidFill>
                            <a:srgbClr val="0F9B8E"/>
                          </a:solidFill>
                          <a:latin typeface="맑은 고딕" pitchFamily="34" charset="0"/>
                          <a:ea typeface="맑은 고딕" pitchFamily="34" charset="-122"/>
                          <a:cs typeface="맑은 고딕" pitchFamily="34" charset="-120"/>
                        </a:rPr>
                        <a:t>4</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'확인한 규정' 링크 확인</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333333"/>
                          </a:solidFill>
                          <a:latin typeface="맑은 고딕" pitchFamily="34" charset="0"/>
                          <a:ea typeface="맑은 고딕" pitchFamily="34" charset="-122"/>
                          <a:cs typeface="맑은 고딕" pitchFamily="34" charset="-120"/>
                        </a:rPr>
                        <a:t>검토한 17개 조항이 파일 단위 2개 링크로 정리 (숙소지원금·경조금은 섞이지 않음)</a:t>
                      </a:r>
                      <a:endParaRPr lang="en-US" sz="9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11" name="Text 8"/>
          <p:cNvSpPr txBox="1"/>
          <p:nvPr/>
        </p:nvSpPr>
        <p:spPr>
          <a:xfrm>
            <a:off x="502920" y="5029200"/>
            <a:ext cx="5486400" cy="256032"/>
          </a:xfrm>
          <a:prstGeom prst="rect">
            <a:avLst/>
          </a:prstGeom>
          <a:noFill/>
          <a:ln/>
        </p:spPr>
        <p:txBody>
          <a:bodyPr wrap="square" lIns="0" tIns="0" rIns="0" bIns="0" rtlCol="0" anchor="ctr"/>
          <a:lstStyle/>
          <a:p>
            <a:pPr indent="0" marL="0">
              <a:buNone/>
            </a:pPr>
            <a:r>
              <a:rPr lang="en-US" sz="1200" b="1" dirty="0">
                <a:solidFill>
                  <a:srgbClr val="0F2B46"/>
                </a:solidFill>
                <a:latin typeface="맑은 고딕" pitchFamily="34" charset="0"/>
                <a:ea typeface="맑은 고딕" pitchFamily="34" charset="-122"/>
                <a:cs typeface="맑은 고딕" pitchFamily="34" charset="-120"/>
              </a:rPr>
              <a:t>이 답변에서 볼 점 3가지</a:t>
            </a:r>
            <a:endParaRPr lang="en-US" sz="1200" dirty="0"/>
          </a:p>
        </p:txBody>
      </p:sp>
      <p:sp>
        <p:nvSpPr>
          <p:cNvPr id="12" name="Shape 9"/>
          <p:cNvSpPr/>
          <p:nvPr/>
        </p:nvSpPr>
        <p:spPr>
          <a:xfrm>
            <a:off x="502920" y="5330952"/>
            <a:ext cx="3566160" cy="1033272"/>
          </a:xfrm>
          <a:prstGeom prst="roundRect">
            <a:avLst>
              <a:gd name="adj" fmla="val 7080"/>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3" name="Shape 10"/>
          <p:cNvSpPr/>
          <p:nvPr/>
        </p:nvSpPr>
        <p:spPr>
          <a:xfrm>
            <a:off x="658368" y="5440680"/>
            <a:ext cx="256032" cy="256032"/>
          </a:xfrm>
          <a:prstGeom prst="ellipse">
            <a:avLst/>
          </a:prstGeom>
          <a:solidFill>
            <a:srgbClr val="0F9B8E"/>
          </a:solidFill>
          <a:ln w="12700">
            <a:solidFill>
              <a:srgbClr val="0F9B8E"/>
            </a:solidFill>
            <a:prstDash val="solid"/>
          </a:ln>
        </p:spPr>
      </p:sp>
      <p:sp>
        <p:nvSpPr>
          <p:cNvPr id="14" name="Text 11"/>
          <p:cNvSpPr txBox="1"/>
          <p:nvPr/>
        </p:nvSpPr>
        <p:spPr>
          <a:xfrm>
            <a:off x="658368" y="544068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1</a:t>
            </a:r>
            <a:endParaRPr lang="en-US" sz="1000" dirty="0"/>
          </a:p>
        </p:txBody>
      </p:sp>
      <p:sp>
        <p:nvSpPr>
          <p:cNvPr id="15" name="Text 12"/>
          <p:cNvSpPr txBox="1"/>
          <p:nvPr/>
        </p:nvSpPr>
        <p:spPr>
          <a:xfrm>
            <a:off x="987552" y="5422392"/>
            <a:ext cx="2926080" cy="274320"/>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없으면 없다고 말한다</a:t>
            </a:r>
            <a:endParaRPr lang="en-US" sz="1150" dirty="0"/>
          </a:p>
        </p:txBody>
      </p:sp>
      <p:sp>
        <p:nvSpPr>
          <p:cNvPr id="16" name="Text 13"/>
          <p:cNvSpPr txBox="1"/>
          <p:nvPr/>
        </p:nvSpPr>
        <p:spPr>
          <a:xfrm>
            <a:off x="658368" y="5724144"/>
            <a:ext cx="3255264" cy="566928"/>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근거에 기준이 없자 지어내지 않고 "직접 제시되어 있지 않다"고 답한 뒤, 확인이 필요한 3가지를 되물음</a:t>
            </a:r>
            <a:endParaRPr lang="en-US" sz="950" dirty="0"/>
          </a:p>
        </p:txBody>
      </p:sp>
      <p:sp>
        <p:nvSpPr>
          <p:cNvPr id="17" name="Shape 14"/>
          <p:cNvSpPr/>
          <p:nvPr/>
        </p:nvSpPr>
        <p:spPr>
          <a:xfrm>
            <a:off x="4325112" y="5330952"/>
            <a:ext cx="3566160" cy="1033272"/>
          </a:xfrm>
          <a:prstGeom prst="roundRect">
            <a:avLst>
              <a:gd name="adj" fmla="val 7080"/>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8" name="Shape 15"/>
          <p:cNvSpPr/>
          <p:nvPr/>
        </p:nvSpPr>
        <p:spPr>
          <a:xfrm>
            <a:off x="4480560" y="5440680"/>
            <a:ext cx="256032" cy="256032"/>
          </a:xfrm>
          <a:prstGeom prst="ellipse">
            <a:avLst/>
          </a:prstGeom>
          <a:solidFill>
            <a:srgbClr val="0F9B8E"/>
          </a:solidFill>
          <a:ln w="12700">
            <a:solidFill>
              <a:srgbClr val="0F9B8E"/>
            </a:solidFill>
            <a:prstDash val="solid"/>
          </a:ln>
        </p:spPr>
      </p:sp>
      <p:sp>
        <p:nvSpPr>
          <p:cNvPr id="19" name="Text 16"/>
          <p:cNvSpPr txBox="1"/>
          <p:nvPr/>
        </p:nvSpPr>
        <p:spPr>
          <a:xfrm>
            <a:off x="4480560" y="544068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2</a:t>
            </a:r>
            <a:endParaRPr lang="en-US" sz="1000" dirty="0"/>
          </a:p>
        </p:txBody>
      </p:sp>
      <p:sp>
        <p:nvSpPr>
          <p:cNvPr id="20" name="Text 17"/>
          <p:cNvSpPr txBox="1"/>
          <p:nvPr/>
        </p:nvSpPr>
        <p:spPr>
          <a:xfrm>
            <a:off x="4809744" y="5422392"/>
            <a:ext cx="2926080" cy="274320"/>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맥락을 잃지 않는다</a:t>
            </a:r>
            <a:endParaRPr lang="en-US" sz="1150" dirty="0"/>
          </a:p>
        </p:txBody>
      </p:sp>
      <p:sp>
        <p:nvSpPr>
          <p:cNvPr id="21" name="Text 18"/>
          <p:cNvSpPr txBox="1"/>
          <p:nvPr/>
        </p:nvSpPr>
        <p:spPr>
          <a:xfrm>
            <a:off x="4480560" y="5724144"/>
            <a:ext cx="3255264" cy="566928"/>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"해외출장입니다" 한마디에 앞 대화의 9/11·9/14 일정을 유지한 채 국외여비 조항으로 전환 — 되물을 항목 3개→2개</a:t>
            </a:r>
            <a:endParaRPr lang="en-US" sz="950" dirty="0"/>
          </a:p>
        </p:txBody>
      </p:sp>
      <p:sp>
        <p:nvSpPr>
          <p:cNvPr id="22" name="Shape 19"/>
          <p:cNvSpPr/>
          <p:nvPr/>
        </p:nvSpPr>
        <p:spPr>
          <a:xfrm>
            <a:off x="8147304" y="5330952"/>
            <a:ext cx="3566160" cy="1033272"/>
          </a:xfrm>
          <a:prstGeom prst="roundRect">
            <a:avLst>
              <a:gd name="adj" fmla="val 7080"/>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3" name="Shape 20"/>
          <p:cNvSpPr/>
          <p:nvPr/>
        </p:nvSpPr>
        <p:spPr>
          <a:xfrm>
            <a:off x="8302752" y="5440680"/>
            <a:ext cx="256032" cy="256032"/>
          </a:xfrm>
          <a:prstGeom prst="ellipse">
            <a:avLst/>
          </a:prstGeom>
          <a:solidFill>
            <a:srgbClr val="0F9B8E"/>
          </a:solidFill>
          <a:ln w="12700">
            <a:solidFill>
              <a:srgbClr val="0F9B8E"/>
            </a:solidFill>
            <a:prstDash val="solid"/>
          </a:ln>
        </p:spPr>
      </p:sp>
      <p:sp>
        <p:nvSpPr>
          <p:cNvPr id="24" name="Text 21"/>
          <p:cNvSpPr txBox="1"/>
          <p:nvPr/>
        </p:nvSpPr>
        <p:spPr>
          <a:xfrm>
            <a:off x="8302752" y="544068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3</a:t>
            </a:r>
            <a:endParaRPr lang="en-US" sz="1000" dirty="0"/>
          </a:p>
        </p:txBody>
      </p:sp>
      <p:sp>
        <p:nvSpPr>
          <p:cNvPr id="25" name="Text 22"/>
          <p:cNvSpPr txBox="1"/>
          <p:nvPr/>
        </p:nvSpPr>
        <p:spPr>
          <a:xfrm>
            <a:off x="8631936" y="5422392"/>
            <a:ext cx="2926080" cy="274320"/>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근거를 좁혀서 보여준다</a:t>
            </a:r>
            <a:endParaRPr lang="en-US" sz="1150" dirty="0"/>
          </a:p>
        </p:txBody>
      </p:sp>
      <p:sp>
        <p:nvSpPr>
          <p:cNvPr id="26" name="Text 23"/>
          <p:cNvSpPr txBox="1"/>
          <p:nvPr/>
        </p:nvSpPr>
        <p:spPr>
          <a:xfrm>
            <a:off x="8302752" y="5724144"/>
            <a:ext cx="3255264" cy="566928"/>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검토한 17개 조항이 화면엔 파일 단위 2개 링크로 정리. 숙소지원금·경조금은 딸려오지 않음</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03 결과 및 시연 · 12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측정 결과</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감이 아니라 숫자로 확인했습니다</a:t>
            </a:r>
            <a:endParaRPr lang="en-US" sz="1300" dirty="0"/>
          </a:p>
        </p:txBody>
      </p:sp>
      <p:sp>
        <p:nvSpPr>
          <p:cNvPr id="5" name="Text 3"/>
          <p:cNvSpPr txBox="1"/>
          <p:nvPr/>
        </p:nvSpPr>
        <p:spPr>
          <a:xfrm>
            <a:off x="502920" y="1325880"/>
            <a:ext cx="5029200" cy="256032"/>
          </a:xfrm>
          <a:prstGeom prst="rect">
            <a:avLst/>
          </a:prstGeom>
          <a:noFill/>
          <a:ln/>
        </p:spPr>
        <p:txBody>
          <a:bodyPr wrap="square" lIns="0" tIns="0" rIns="0" bIns="0" rtlCol="0" anchor="ctr"/>
          <a:lstStyle/>
          <a:p>
            <a:pPr indent="0" marL="0">
              <a:buNone/>
            </a:pPr>
            <a:r>
              <a:rPr lang="en-US" sz="1200" b="1" dirty="0">
                <a:solidFill>
                  <a:srgbClr val="0F2B46"/>
                </a:solidFill>
                <a:latin typeface="맑은 고딕" pitchFamily="34" charset="0"/>
                <a:ea typeface="맑은 고딕" pitchFamily="34" charset="-122"/>
                <a:cs typeface="맑은 고딕" pitchFamily="34" charset="-120"/>
              </a:rPr>
              <a:t>검색 가중치 조정 전 · 후 (회귀 44문항)</a:t>
            </a:r>
            <a:endParaRPr lang="en-US" sz="1200" dirty="0"/>
          </a:p>
        </p:txBody>
      </p:sp>
      <p:graphicFrame>
        <p:nvGraphicFramePr>
          <p:cNvPr id="6" name="Chart 0" descr=""/>
          <p:cNvGraphicFramePr/>
          <p:nvPr/>
        </p:nvGraphicFramePr>
        <p:xfrm>
          <a:off x="502920" y="1645920"/>
          <a:ext cx="5029200" cy="2103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02920" y="3858768"/>
            <a:ext cx="5029200" cy="658368"/>
          </a:xfrm>
          <a:prstGeom prst="roundRect">
            <a:avLst>
              <a:gd name="adj" fmla="val 8333"/>
            </a:avLst>
          </a:prstGeom>
          <a:solidFill>
            <a:srgbClr val="E6F5F3"/>
          </a:solidFill>
          <a:ln w="12700">
            <a:solidFill>
              <a:srgbClr val="E6F5F3"/>
            </a:solidFill>
            <a:prstDash val="solid"/>
          </a:ln>
        </p:spPr>
      </p:sp>
      <p:sp>
        <p:nvSpPr>
          <p:cNvPr id="8" name="Text 5"/>
          <p:cNvSpPr txBox="1"/>
          <p:nvPr/>
        </p:nvSpPr>
        <p:spPr>
          <a:xfrm>
            <a:off x="731520" y="3858768"/>
            <a:ext cx="4572000" cy="658368"/>
          </a:xfrm>
          <a:prstGeom prst="rect">
            <a:avLst/>
          </a:prstGeom>
          <a:noFill/>
          <a:ln/>
        </p:spPr>
        <p:txBody>
          <a:bodyPr wrap="square" lIns="0" tIns="0" rIns="0" bIns="0" rtlCol="0" anchor="ctr"/>
          <a:lstStyle/>
          <a:p>
            <a:pPr indent="0" marL="0">
              <a:buNone/>
            </a:pPr>
            <a:r>
              <a:rPr lang="en-US" sz="1600" b="1" dirty="0">
                <a:solidFill>
                  <a:srgbClr val="0F9B8E"/>
                </a:solidFill>
                <a:latin typeface="맑은 고딕" pitchFamily="34" charset="0"/>
                <a:ea typeface="맑은 고딕" pitchFamily="34" charset="-122"/>
                <a:cs typeface="맑은 고딕" pitchFamily="34" charset="-120"/>
              </a:rPr>
              <a:t>+18.1%p  </a:t>
            </a:r>
            <a:pPr indent="0" marL="0">
              <a:buNone/>
            </a:pPr>
            <a:r>
              <a:rPr lang="en-US" sz="1200" dirty="0">
                <a:solidFill>
                  <a:srgbClr val="0F2B46"/>
                </a:solidFill>
                <a:latin typeface="맑은 고딕" pitchFamily="34" charset="0"/>
                <a:ea typeface="맑은 고딕" pitchFamily="34" charset="-122"/>
                <a:cs typeface="맑은 고딕" pitchFamily="34" charset="-120"/>
              </a:rPr>
              <a:t>· MRR 0.639 → 0.744 (+0.105)</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806440" y="1325880"/>
          <a:ext cx="5879592" cy="914400"/>
        </p:xfrm>
        <a:graphic>
          <a:graphicData uri="http://schemas.openxmlformats.org/drawingml/2006/table">
            <a:tbl>
              <a:tblPr/>
              <a:tblGrid>
                <a:gridCol w="1005840"/>
                <a:gridCol w="1874520"/>
                <a:gridCol w="1051560"/>
                <a:gridCol w="1947672"/>
              </a:tblGrid>
              <a:tr h="329184">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구분</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측정 항목</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읽는 법</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29184">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업무량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연간 응대 시간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375시간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근무일 47일 · 하루 평균 1시간 30분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업무량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AI 1차 안내 가능 범위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263시간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전체의 70% (근무일 33일)</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속도</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직원 회신 대기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1시간~반나절</a:t>
                      </a:r>
                      <a:endParaRPr lang="en-US" sz="1050" dirty="0">
                        <a:latin typeface="맑은 고딕" charset="0"/>
                        <a:ea typeface="맑은 고딕" charset="0"/>
                        <a:cs typeface="맑은 고딕" charset="0"/>
                      </a:endParaRPr>
                    </a:p>
                    <a:p>
                      <a:pPr indent="0" marL="0">
                        <a:buNone/>
                      </a:pPr>
                      <a:r>
                        <a:rPr lang="en-US" sz="1050" b="1" dirty="0">
                          <a:solidFill>
                            <a:srgbClr val="0F2B46"/>
                          </a:solidFill>
                          <a:latin typeface="맑은 고딕" pitchFamily="34" charset="0"/>
                          <a:ea typeface="맑은 고딕" pitchFamily="34" charset="-122"/>
                          <a:cs typeface="맑은 고딕" pitchFamily="34" charset="-120"/>
                        </a:rPr>
                        <a:t>→ 즉시</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당일 확인이 필요한 문의에서 특히 체감</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검색 품질</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상위 1개 조항이 정답</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63.6%</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첫 번째로 보여준 조항이 정답인 비율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검색 품질</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상위 3개 안에 정답</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81.8%</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10번 중 8번은 상위 3개 안에 답이 있음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검색 품질</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상위 5개 안에 정답</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90.9%</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135개 조항 중 5개로 좁혀짐</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6B7280"/>
                          </a:solidFill>
                          <a:latin typeface="맑은 고딕" pitchFamily="34" charset="0"/>
                          <a:ea typeface="맑은 고딕" pitchFamily="34" charset="-122"/>
                          <a:cs typeface="맑은 고딕" pitchFamily="34" charset="-120"/>
                        </a:rPr>
                        <a:t>검증</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평가셋 규모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62문항</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회귀 44(직접 작성) + 실사용 18(상담 로그)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9184">
                <a:tc>
                  <a:txBody>
                    <a:bodyPr/>
                    <a:lstStyle/>
                    <a:p>
                      <a:pPr indent="0" marL="0">
                        <a:buNone/>
                      </a:pPr>
                      <a:r>
                        <a:rPr lang="en-US" sz="1050" b="1" dirty="0">
                          <a:solidFill>
                            <a:srgbClr val="6B7280"/>
                          </a:solidFill>
                          <a:latin typeface="맑은 고딕" pitchFamily="34" charset="0"/>
                          <a:ea typeface="맑은 고딕" pitchFamily="34" charset="-122"/>
                          <a:cs typeface="맑은 고딕" pitchFamily="34" charset="-120"/>
                        </a:rPr>
                        <a:t>검증</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답변 고정 회귀 테스트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36건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고친 답이 다른 수정으로 깨지는지 매번 확인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10" name="Text 6"/>
          <p:cNvSpPr txBox="1"/>
          <p:nvPr/>
        </p:nvSpPr>
        <p:spPr>
          <a:xfrm>
            <a:off x="502920" y="6080760"/>
            <a:ext cx="11183112" cy="237744"/>
          </a:xfrm>
          <a:prstGeom prst="rect">
            <a:avLst/>
          </a:prstGeom>
          <a:noFill/>
          <a:ln/>
        </p:spPr>
        <p:txBody>
          <a:bodyPr wrap="square" lIns="0" tIns="0" rIns="0" bIns="0" rtlCol="0" anchor="ctr"/>
          <a:lstStyle/>
          <a:p>
            <a:pPr indent="0" marL="0">
              <a:buNone/>
            </a:pPr>
            <a:r>
              <a:rPr lang="en-US" sz="950" dirty="0">
                <a:solidFill>
                  <a:srgbClr val="9CA3AF"/>
                </a:solidFill>
                <a:latin typeface="맑은 고딕" pitchFamily="34" charset="0"/>
                <a:ea typeface="맑은 고딕" pitchFamily="34" charset="-122"/>
                <a:cs typeface="맑은 고딕" pitchFamily="34" charset="-120"/>
              </a:rPr>
              <a:t>※ 업무량은 월 150건·건당 12.5분 기준 추정치, 검색 품질은 2026-09-10 측정값</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03 결과 및 시연 · 13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기대 효과</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담당자 시간이 사라지는 것이 아니라, 판단이 필요한 곳으로 옮겨집니다</a:t>
            </a:r>
            <a:endParaRPr lang="en-US" sz="1300" dirty="0"/>
          </a:p>
        </p:txBody>
      </p:sp>
      <p:sp>
        <p:nvSpPr>
          <p:cNvPr id="5" name="Text 3"/>
          <p:cNvSpPr txBox="1"/>
          <p:nvPr/>
        </p:nvSpPr>
        <p:spPr>
          <a:xfrm>
            <a:off x="502920" y="1325880"/>
            <a:ext cx="5486400" cy="237744"/>
          </a:xfrm>
          <a:prstGeom prst="rect">
            <a:avLst/>
          </a:prstGeom>
          <a:noFill/>
          <a:ln/>
        </p:spPr>
        <p:txBody>
          <a:bodyPr wrap="square" lIns="0" tIns="0" rIns="0" bIns="0" rtlCol="0" anchor="ctr"/>
          <a:lstStyle/>
          <a:p>
            <a:pPr indent="0" marL="0">
              <a:buNone/>
            </a:pPr>
            <a:r>
              <a:rPr lang="en-US" sz="1100" b="1" dirty="0">
                <a:solidFill>
                  <a:srgbClr val="6B7280"/>
                </a:solidFill>
                <a:latin typeface="맑은 고딕" pitchFamily="34" charset="0"/>
                <a:ea typeface="맑은 고딕" pitchFamily="34" charset="-122"/>
                <a:cs typeface="맑은 고딕" pitchFamily="34" charset="-120"/>
              </a:rPr>
              <a:t>BEFORE — 연간 375시간 (근무일 47일)</a:t>
            </a:r>
            <a:endParaRPr lang="en-US" sz="1100" dirty="0"/>
          </a:p>
        </p:txBody>
      </p:sp>
      <p:sp>
        <p:nvSpPr>
          <p:cNvPr id="6" name="Shape 4"/>
          <p:cNvSpPr/>
          <p:nvPr/>
        </p:nvSpPr>
        <p:spPr>
          <a:xfrm>
            <a:off x="502920" y="1600200"/>
            <a:ext cx="7828178" cy="457200"/>
          </a:xfrm>
          <a:prstGeom prst="rect">
            <a:avLst/>
          </a:prstGeom>
          <a:solidFill>
            <a:srgbClr val="E07B39"/>
          </a:solidFill>
          <a:ln w="12700">
            <a:solidFill>
              <a:srgbClr val="E07B39"/>
            </a:solidFill>
            <a:prstDash val="solid"/>
          </a:ln>
        </p:spPr>
      </p:sp>
      <p:sp>
        <p:nvSpPr>
          <p:cNvPr id="7" name="Shape 5"/>
          <p:cNvSpPr/>
          <p:nvPr/>
        </p:nvSpPr>
        <p:spPr>
          <a:xfrm>
            <a:off x="8331098" y="1600200"/>
            <a:ext cx="3354934" cy="457200"/>
          </a:xfrm>
          <a:prstGeom prst="rect">
            <a:avLst/>
          </a:prstGeom>
          <a:solidFill>
            <a:srgbClr val="9CA3AF"/>
          </a:solidFill>
          <a:ln w="12700">
            <a:solidFill>
              <a:srgbClr val="9CA3AF"/>
            </a:solidFill>
            <a:prstDash val="solid"/>
          </a:ln>
        </p:spPr>
      </p:sp>
      <p:sp>
        <p:nvSpPr>
          <p:cNvPr id="8" name="Text 6"/>
          <p:cNvSpPr txBox="1"/>
          <p:nvPr/>
        </p:nvSpPr>
        <p:spPr>
          <a:xfrm>
            <a:off x="502920" y="1600200"/>
            <a:ext cx="782817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단순 확인성 문의   263시간 (33일)</a:t>
            </a:r>
            <a:endParaRPr lang="en-US" sz="1200" dirty="0"/>
          </a:p>
        </p:txBody>
      </p:sp>
      <p:sp>
        <p:nvSpPr>
          <p:cNvPr id="9" name="Text 7"/>
          <p:cNvSpPr txBox="1"/>
          <p:nvPr/>
        </p:nvSpPr>
        <p:spPr>
          <a:xfrm>
            <a:off x="8331098" y="1600200"/>
            <a:ext cx="3354934"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판단 필요   112시간</a:t>
            </a:r>
            <a:endParaRPr lang="en-US" sz="1200" dirty="0"/>
          </a:p>
        </p:txBody>
      </p:sp>
      <p:sp>
        <p:nvSpPr>
          <p:cNvPr id="10" name="Shape 8"/>
          <p:cNvSpPr/>
          <p:nvPr/>
        </p:nvSpPr>
        <p:spPr>
          <a:xfrm>
            <a:off x="5852160" y="2157984"/>
            <a:ext cx="457200" cy="384048"/>
          </a:xfrm>
          <a:prstGeom prst="downArrow">
            <a:avLst/>
          </a:prstGeom>
          <a:solidFill>
            <a:srgbClr val="E5E7EB"/>
          </a:solidFill>
          <a:ln w="12700">
            <a:solidFill>
              <a:srgbClr val="E5E7EB"/>
            </a:solidFill>
            <a:prstDash val="solid"/>
          </a:ln>
        </p:spPr>
      </p:sp>
      <p:sp>
        <p:nvSpPr>
          <p:cNvPr id="11" name="Text 9"/>
          <p:cNvSpPr txBox="1"/>
          <p:nvPr/>
        </p:nvSpPr>
        <p:spPr>
          <a:xfrm>
            <a:off x="502920" y="2633472"/>
            <a:ext cx="5486400" cy="237744"/>
          </a:xfrm>
          <a:prstGeom prst="rect">
            <a:avLst/>
          </a:prstGeom>
          <a:noFill/>
          <a:ln/>
        </p:spPr>
        <p:txBody>
          <a:bodyPr wrap="square" lIns="0" tIns="0" rIns="0" bIns="0" rtlCol="0" anchor="ctr"/>
          <a:lstStyle/>
          <a:p>
            <a:pPr indent="0" marL="0">
              <a:buNone/>
            </a:pPr>
            <a:r>
              <a:rPr lang="en-US" sz="1100" b="1" dirty="0">
                <a:solidFill>
                  <a:srgbClr val="0F9B8E"/>
                </a:solidFill>
                <a:latin typeface="맑은 고딕" pitchFamily="34" charset="0"/>
                <a:ea typeface="맑은 고딕" pitchFamily="34" charset="-122"/>
                <a:cs typeface="맑은 고딕" pitchFamily="34" charset="-120"/>
              </a:rPr>
              <a:t>AFTER — AI가 1차 안내를 맡는 범위</a:t>
            </a:r>
            <a:endParaRPr lang="en-US" sz="1100" dirty="0"/>
          </a:p>
        </p:txBody>
      </p:sp>
      <p:sp>
        <p:nvSpPr>
          <p:cNvPr id="12" name="Shape 10"/>
          <p:cNvSpPr/>
          <p:nvPr/>
        </p:nvSpPr>
        <p:spPr>
          <a:xfrm>
            <a:off x="502920" y="2907792"/>
            <a:ext cx="7828178" cy="457200"/>
          </a:xfrm>
          <a:prstGeom prst="rect">
            <a:avLst/>
          </a:prstGeom>
          <a:solidFill>
            <a:srgbClr val="0F9B8E"/>
          </a:solidFill>
          <a:ln w="12700">
            <a:solidFill>
              <a:srgbClr val="0F9B8E"/>
            </a:solidFill>
            <a:prstDash val="solid"/>
          </a:ln>
        </p:spPr>
      </p:sp>
      <p:sp>
        <p:nvSpPr>
          <p:cNvPr id="13" name="Shape 11"/>
          <p:cNvSpPr/>
          <p:nvPr/>
        </p:nvSpPr>
        <p:spPr>
          <a:xfrm>
            <a:off x="8331098" y="2907792"/>
            <a:ext cx="3354934" cy="457200"/>
          </a:xfrm>
          <a:prstGeom prst="rect">
            <a:avLst/>
          </a:prstGeom>
          <a:solidFill>
            <a:srgbClr val="9CA3AF"/>
          </a:solidFill>
          <a:ln w="12700">
            <a:solidFill>
              <a:srgbClr val="9CA3AF"/>
            </a:solidFill>
            <a:prstDash val="solid"/>
          </a:ln>
        </p:spPr>
      </p:sp>
      <p:sp>
        <p:nvSpPr>
          <p:cNvPr id="14" name="Text 12"/>
          <p:cNvSpPr txBox="1"/>
          <p:nvPr/>
        </p:nvSpPr>
        <p:spPr>
          <a:xfrm>
            <a:off x="502920" y="2907792"/>
            <a:ext cx="782817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AI 1차 안내 대상   263시간 (33일)</a:t>
            </a:r>
            <a:endParaRPr lang="en-US" sz="1200" dirty="0"/>
          </a:p>
        </p:txBody>
      </p:sp>
      <p:sp>
        <p:nvSpPr>
          <p:cNvPr id="15" name="Text 13"/>
          <p:cNvSpPr txBox="1"/>
          <p:nvPr/>
        </p:nvSpPr>
        <p:spPr>
          <a:xfrm>
            <a:off x="8331098" y="2907792"/>
            <a:ext cx="3354934"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담당자 집중   112시간</a:t>
            </a:r>
            <a:endParaRPr lang="en-US" sz="1200" dirty="0"/>
          </a:p>
        </p:txBody>
      </p:sp>
      <p:sp>
        <p:nvSpPr>
          <p:cNvPr id="16" name="Text 14"/>
          <p:cNvSpPr txBox="1"/>
          <p:nvPr/>
        </p:nvSpPr>
        <p:spPr>
          <a:xfrm>
            <a:off x="502920" y="3383280"/>
            <a:ext cx="7828178" cy="219456"/>
          </a:xfrm>
          <a:prstGeom prst="rect">
            <a:avLst/>
          </a:prstGeom>
          <a:noFill/>
          <a:ln/>
        </p:spPr>
        <p:txBody>
          <a:bodyPr wrap="square" lIns="0" tIns="0" rIns="0" bIns="0" rtlCol="0" anchor="ctr"/>
          <a:lstStyle/>
          <a:p>
            <a:pPr algn="ctr" indent="0" marL="0">
              <a:buNone/>
            </a:pPr>
            <a:r>
              <a:rPr lang="en-US" sz="950" dirty="0">
                <a:solidFill>
                  <a:srgbClr val="6B7280"/>
                </a:solidFill>
                <a:latin typeface="맑은 고딕" pitchFamily="34" charset="0"/>
                <a:ea typeface="맑은 고딕" pitchFamily="34" charset="-122"/>
                <a:cs typeface="맑은 고딕" pitchFamily="34" charset="-120"/>
              </a:rPr>
              <a:t>직원이 스스로 확인 / 담당자는 정리된 상태로 접수</a:t>
            </a:r>
            <a:endParaRPr lang="en-US" sz="950" dirty="0"/>
          </a:p>
        </p:txBody>
      </p:sp>
      <p:sp>
        <p:nvSpPr>
          <p:cNvPr id="17" name="Text 15"/>
          <p:cNvSpPr txBox="1"/>
          <p:nvPr/>
        </p:nvSpPr>
        <p:spPr>
          <a:xfrm>
            <a:off x="8331098" y="3383280"/>
            <a:ext cx="3354934" cy="219456"/>
          </a:xfrm>
          <a:prstGeom prst="rect">
            <a:avLst/>
          </a:prstGeom>
          <a:noFill/>
          <a:ln/>
        </p:spPr>
        <p:txBody>
          <a:bodyPr wrap="square" lIns="0" tIns="0" rIns="0" bIns="0" rtlCol="0" anchor="ctr"/>
          <a:lstStyle/>
          <a:p>
            <a:pPr algn="ctr" indent="0" marL="0">
              <a:buNone/>
            </a:pPr>
            <a:r>
              <a:rPr lang="en-US" sz="950" dirty="0">
                <a:solidFill>
                  <a:srgbClr val="6B7280"/>
                </a:solidFill>
                <a:latin typeface="맑은 고딕" pitchFamily="34" charset="0"/>
                <a:ea typeface="맑은 고딕" pitchFamily="34" charset="-122"/>
                <a:cs typeface="맑은 고딕" pitchFamily="34" charset="-120"/>
              </a:rPr>
              <a:t>예외 판단에 집중</a:t>
            </a:r>
            <a:endParaRPr lang="en-US" sz="950" dirty="0"/>
          </a:p>
        </p:txBody>
      </p:sp>
      <p:sp>
        <p:nvSpPr>
          <p:cNvPr id="18" name="Shape 16"/>
          <p:cNvSpPr/>
          <p:nvPr/>
        </p:nvSpPr>
        <p:spPr>
          <a:xfrm>
            <a:off x="502920" y="3840480"/>
            <a:ext cx="3566160" cy="1298448"/>
          </a:xfrm>
          <a:prstGeom prst="roundRect">
            <a:avLst>
              <a:gd name="adj" fmla="val 5634"/>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9" name="Shape 17"/>
          <p:cNvSpPr/>
          <p:nvPr/>
        </p:nvSpPr>
        <p:spPr>
          <a:xfrm>
            <a:off x="658368" y="3959352"/>
            <a:ext cx="749808" cy="274320"/>
          </a:xfrm>
          <a:prstGeom prst="roundRect">
            <a:avLst>
              <a:gd name="adj" fmla="val 16667"/>
            </a:avLst>
          </a:prstGeom>
          <a:solidFill>
            <a:srgbClr val="0F9B8E"/>
          </a:solidFill>
          <a:ln w="12700">
            <a:solidFill>
              <a:srgbClr val="0F9B8E"/>
            </a:solidFill>
            <a:prstDash val="solid"/>
          </a:ln>
        </p:spPr>
      </p:sp>
      <p:sp>
        <p:nvSpPr>
          <p:cNvPr id="20" name="Text 18"/>
          <p:cNvSpPr txBox="1"/>
          <p:nvPr/>
        </p:nvSpPr>
        <p:spPr>
          <a:xfrm>
            <a:off x="658368" y="3959352"/>
            <a:ext cx="74980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직원</a:t>
            </a:r>
            <a:endParaRPr lang="en-US" sz="1050" dirty="0"/>
          </a:p>
        </p:txBody>
      </p:sp>
      <p:sp>
        <p:nvSpPr>
          <p:cNvPr id="21" name="Text 19"/>
          <p:cNvSpPr txBox="1"/>
          <p:nvPr/>
        </p:nvSpPr>
        <p:spPr>
          <a:xfrm>
            <a:off x="1490472" y="3941064"/>
            <a:ext cx="2423160" cy="310896"/>
          </a:xfrm>
          <a:prstGeom prst="rect">
            <a:avLst/>
          </a:prstGeom>
          <a:noFill/>
          <a:ln/>
        </p:spPr>
        <p:txBody>
          <a:bodyPr wrap="square" lIns="0" tIns="0" rIns="0" bIns="0" rtlCol="0" anchor="ct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회신 대기 1시간~반나절 → 즉시</a:t>
            </a:r>
            <a:endParaRPr lang="en-US" sz="1050" dirty="0"/>
          </a:p>
        </p:txBody>
      </p:sp>
      <p:sp>
        <p:nvSpPr>
          <p:cNvPr id="22" name="Text 20"/>
          <p:cNvSpPr txBox="1"/>
          <p:nvPr/>
        </p:nvSpPr>
        <p:spPr>
          <a:xfrm>
            <a:off x="658368" y="4315968"/>
            <a:ext cx="3255264" cy="713232"/>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규정집을 처음부터 읽지 않고 대화로 확인. 경조사·출장 직전처럼 당일 확인이 필요한 상황에서 특히 효과</a:t>
            </a:r>
            <a:endParaRPr lang="en-US" sz="950" dirty="0"/>
          </a:p>
        </p:txBody>
      </p:sp>
      <p:sp>
        <p:nvSpPr>
          <p:cNvPr id="23" name="Shape 21"/>
          <p:cNvSpPr/>
          <p:nvPr/>
        </p:nvSpPr>
        <p:spPr>
          <a:xfrm>
            <a:off x="4325112" y="3840480"/>
            <a:ext cx="3566160" cy="1298448"/>
          </a:xfrm>
          <a:prstGeom prst="roundRect">
            <a:avLst>
              <a:gd name="adj" fmla="val 5634"/>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4" name="Shape 22"/>
          <p:cNvSpPr/>
          <p:nvPr/>
        </p:nvSpPr>
        <p:spPr>
          <a:xfrm>
            <a:off x="4480560" y="3959352"/>
            <a:ext cx="749808" cy="274320"/>
          </a:xfrm>
          <a:prstGeom prst="roundRect">
            <a:avLst>
              <a:gd name="adj" fmla="val 16667"/>
            </a:avLst>
          </a:prstGeom>
          <a:solidFill>
            <a:srgbClr val="0F9B8E"/>
          </a:solidFill>
          <a:ln w="12700">
            <a:solidFill>
              <a:srgbClr val="0F9B8E"/>
            </a:solidFill>
            <a:prstDash val="solid"/>
          </a:ln>
        </p:spPr>
      </p:sp>
      <p:sp>
        <p:nvSpPr>
          <p:cNvPr id="25" name="Text 23"/>
          <p:cNvSpPr txBox="1"/>
          <p:nvPr/>
        </p:nvSpPr>
        <p:spPr>
          <a:xfrm>
            <a:off x="4480560" y="3959352"/>
            <a:ext cx="74980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담당자</a:t>
            </a:r>
            <a:endParaRPr lang="en-US" sz="1050" dirty="0"/>
          </a:p>
        </p:txBody>
      </p:sp>
      <p:sp>
        <p:nvSpPr>
          <p:cNvPr id="26" name="Text 24"/>
          <p:cNvSpPr txBox="1"/>
          <p:nvPr/>
        </p:nvSpPr>
        <p:spPr>
          <a:xfrm>
            <a:off x="5312664" y="3941064"/>
            <a:ext cx="2423160" cy="310896"/>
          </a:xfrm>
          <a:prstGeom prst="rect">
            <a:avLst/>
          </a:prstGeom>
          <a:noFill/>
          <a:ln/>
        </p:spPr>
        <p:txBody>
          <a:bodyPr wrap="square" lIns="0" tIns="0" rIns="0" bIns="0" rtlCol="0" anchor="ct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연 263시간(33일)이 1차 안내로 전환</a:t>
            </a:r>
            <a:endParaRPr lang="en-US" sz="1050" dirty="0"/>
          </a:p>
        </p:txBody>
      </p:sp>
      <p:sp>
        <p:nvSpPr>
          <p:cNvPr id="27" name="Text 25"/>
          <p:cNvSpPr txBox="1"/>
          <p:nvPr/>
        </p:nvSpPr>
        <p:spPr>
          <a:xfrm>
            <a:off x="4480560" y="4315968"/>
            <a:ext cx="3255264" cy="713232"/>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단순 확인성 문의가 줄어 판단이 필요한 112시간에 집중</a:t>
            </a:r>
            <a:endParaRPr lang="en-US" sz="950" dirty="0"/>
          </a:p>
        </p:txBody>
      </p:sp>
      <p:sp>
        <p:nvSpPr>
          <p:cNvPr id="28" name="Shape 26"/>
          <p:cNvSpPr/>
          <p:nvPr/>
        </p:nvSpPr>
        <p:spPr>
          <a:xfrm>
            <a:off x="8147304" y="3840480"/>
            <a:ext cx="3566160" cy="1298448"/>
          </a:xfrm>
          <a:prstGeom prst="roundRect">
            <a:avLst>
              <a:gd name="adj" fmla="val 5634"/>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29" name="Shape 27"/>
          <p:cNvSpPr/>
          <p:nvPr/>
        </p:nvSpPr>
        <p:spPr>
          <a:xfrm>
            <a:off x="8302752" y="3959352"/>
            <a:ext cx="749808" cy="274320"/>
          </a:xfrm>
          <a:prstGeom prst="roundRect">
            <a:avLst>
              <a:gd name="adj" fmla="val 16667"/>
            </a:avLst>
          </a:prstGeom>
          <a:solidFill>
            <a:srgbClr val="0F9B8E"/>
          </a:solidFill>
          <a:ln w="12700">
            <a:solidFill>
              <a:srgbClr val="0F9B8E"/>
            </a:solidFill>
            <a:prstDash val="solid"/>
          </a:ln>
        </p:spPr>
      </p:sp>
      <p:sp>
        <p:nvSpPr>
          <p:cNvPr id="30" name="Text 28"/>
          <p:cNvSpPr txBox="1"/>
          <p:nvPr/>
        </p:nvSpPr>
        <p:spPr>
          <a:xfrm>
            <a:off x="8302752" y="3959352"/>
            <a:ext cx="74980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회사</a:t>
            </a:r>
            <a:endParaRPr lang="en-US" sz="1050" dirty="0"/>
          </a:p>
        </p:txBody>
      </p:sp>
      <p:sp>
        <p:nvSpPr>
          <p:cNvPr id="31" name="Text 29"/>
          <p:cNvSpPr txBox="1"/>
          <p:nvPr/>
        </p:nvSpPr>
        <p:spPr>
          <a:xfrm>
            <a:off x="9134856" y="3941064"/>
            <a:ext cx="2423160" cy="310896"/>
          </a:xfrm>
          <a:prstGeom prst="rect">
            <a:avLst/>
          </a:prstGeom>
          <a:noFill/>
          <a:ln/>
        </p:spPr>
        <p:txBody>
          <a:bodyPr wrap="square" lIns="0" tIns="0" rIns="0" bIns="0" rtlCol="0" anchor="ctr"/>
          <a:lstStyle/>
          <a:p>
            <a:pPr indent="0" marL="0">
              <a:buNone/>
            </a:pPr>
            <a:r>
              <a:rPr lang="en-US" sz="1050" b="1" dirty="0">
                <a:solidFill>
                  <a:srgbClr val="0F2B46"/>
                </a:solidFill>
                <a:latin typeface="맑은 고딕" pitchFamily="34" charset="0"/>
                <a:ea typeface="맑은 고딕" pitchFamily="34" charset="-122"/>
                <a:cs typeface="맑은 고딕" pitchFamily="34" charset="-120"/>
              </a:rPr>
              <a:t>안내 기준의 일관성 확보</a:t>
            </a:r>
            <a:endParaRPr lang="en-US" sz="1050" dirty="0"/>
          </a:p>
        </p:txBody>
      </p:sp>
      <p:sp>
        <p:nvSpPr>
          <p:cNvPr id="32" name="Text 30"/>
          <p:cNvSpPr txBox="1"/>
          <p:nvPr/>
        </p:nvSpPr>
        <p:spPr>
          <a:xfrm>
            <a:off x="8302752" y="4315968"/>
            <a:ext cx="3255264" cy="713232"/>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같은 질문에 같은 근거로 답하고, 답변 출처가 기록으로 남음</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5285232"/>
          <a:ext cx="11183112" cy="914400"/>
        </p:xfrm>
        <a:graphic>
          <a:graphicData uri="http://schemas.openxmlformats.org/drawingml/2006/table">
            <a:tbl>
              <a:tblPr/>
              <a:tblGrid>
                <a:gridCol w="2194560"/>
                <a:gridCol w="1463040"/>
                <a:gridCol w="7525512"/>
              </a:tblGrid>
              <a:tr h="27432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구분</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27432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근거 기반 상담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구현 완료</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4개 제도 · 135개 조항 대상, 근거 링크와 함께 안내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7432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별첨 표 검색</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E07B39"/>
                          </a:solidFill>
                          <a:latin typeface="맑은 고딕" pitchFamily="34" charset="0"/>
                          <a:ea typeface="맑은 고딕" pitchFamily="34" charset="-122"/>
                          <a:cs typeface="맑은 고딕" pitchFamily="34" charset="-120"/>
                        </a:rPr>
                        <a:t>개선 필요</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국내여비기준표가 상위 조항에 흡수돼 검색으로 도달하지 못함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7432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실사용 평가셋</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E07B39"/>
                          </a:solidFill>
                          <a:latin typeface="맑은 고딕" pitchFamily="34" charset="0"/>
                          <a:ea typeface="맑은 고딕" pitchFamily="34" charset="-122"/>
                          <a:cs typeface="맑은 고딕" pitchFamily="34" charset="-120"/>
                        </a:rPr>
                        <a:t>부분 확보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실제 상담 로그가 숙소지원금 영역에만 존재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274320">
                <a:tc>
                  <a:txBody>
                    <a:bodyPr/>
                    <a:lstStyle/>
                    <a:p>
                      <a:pPr indent="0" marL="0">
                        <a:buNone/>
                      </a:pPr>
                      <a:r>
                        <a:rPr lang="en-US" sz="1050" b="1" dirty="0">
                          <a:solidFill>
                            <a:srgbClr val="333333"/>
                          </a:solidFill>
                          <a:latin typeface="맑은 고딕" pitchFamily="34" charset="0"/>
                          <a:ea typeface="맑은 고딕" pitchFamily="34" charset="-122"/>
                          <a:cs typeface="맑은 고딕" pitchFamily="34" charset="-120"/>
                        </a:rPr>
                        <a:t>규정 최신성 관리</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b="1" dirty="0">
                          <a:solidFill>
                            <a:srgbClr val="6B7280"/>
                          </a:solidFill>
                          <a:latin typeface="맑은 고딕" pitchFamily="34" charset="0"/>
                          <a:ea typeface="맑은 고딕" pitchFamily="34" charset="-122"/>
                          <a:cs typeface="맑은 고딕" pitchFamily="34" charset="-120"/>
                        </a:rPr>
                        <a:t>체계화 예정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 개정 시 반영 절차와 담당 기준 확정 필요</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577072" y="237744"/>
            <a:ext cx="3108960" cy="219456"/>
          </a:xfrm>
          <a:prstGeom prst="rect">
            <a:avLst/>
          </a:prstGeom>
          <a:noFill/>
          <a:ln/>
        </p:spPr>
        <p:txBody>
          <a:bodyPr wrap="square" lIns="0" tIns="0" rIns="0" bIns="0" rtlCol="0" anchor="ctr"/>
          <a:lstStyle/>
          <a:p>
            <a:pPr algn="r" indent="0" marL="0">
              <a:buNone/>
            </a:pPr>
            <a:r>
              <a:rPr lang="en-US" sz="1000" dirty="0">
                <a:solidFill>
                  <a:srgbClr val="9CA3AF"/>
                </a:solidFill>
                <a:latin typeface="맑은 고딕" pitchFamily="34" charset="0"/>
                <a:ea typeface="맑은 고딕" pitchFamily="34" charset="-122"/>
                <a:cs typeface="맑은 고딕" pitchFamily="34" charset="-120"/>
              </a:rPr>
              <a:t>03 결과 및 시연 · 14 / 15</a:t>
            </a:r>
            <a:endParaRPr lang="en-US" sz="1000" dirty="0"/>
          </a:p>
        </p:txBody>
      </p:sp>
      <p:sp>
        <p:nvSpPr>
          <p:cNvPr id="3" name="Text 1"/>
          <p:cNvSpPr txBox="1"/>
          <p:nvPr/>
        </p:nvSpPr>
        <p:spPr>
          <a:xfrm>
            <a:off x="502920" y="310896"/>
            <a:ext cx="8229600" cy="512064"/>
          </a:xfrm>
          <a:prstGeom prst="rect">
            <a:avLst/>
          </a:prstGeom>
          <a:noFill/>
          <a:ln/>
        </p:spPr>
        <p:txBody>
          <a:bodyPr wrap="square" lIns="0" tIns="0" rIns="0" bIns="0" rtlCol="0" anchor="ctr"/>
          <a:lstStyle/>
          <a:p>
            <a:pPr indent="0" marL="0">
              <a:buNone/>
            </a:pPr>
            <a:r>
              <a:rPr lang="en-US" sz="2800" b="1" dirty="0">
                <a:solidFill>
                  <a:srgbClr val="0F2B46"/>
                </a:solidFill>
                <a:latin typeface="맑은 고딕" pitchFamily="34" charset="0"/>
                <a:ea typeface="맑은 고딕" pitchFamily="34" charset="-122"/>
                <a:cs typeface="맑은 고딕" pitchFamily="34" charset="-120"/>
              </a:rPr>
              <a:t>인사이트 · 회고 · 교육 소감</a:t>
            </a:r>
            <a:endParaRPr lang="en-US" sz="2800" dirty="0"/>
          </a:p>
        </p:txBody>
      </p:sp>
      <p:sp>
        <p:nvSpPr>
          <p:cNvPr id="4" name="Text 2"/>
          <p:cNvSpPr txBox="1"/>
          <p:nvPr/>
        </p:nvSpPr>
        <p:spPr>
          <a:xfrm>
            <a:off x="502920" y="868680"/>
            <a:ext cx="11183112" cy="292608"/>
          </a:xfrm>
          <a:prstGeom prst="rect">
            <a:avLst/>
          </a:prstGeom>
          <a:noFill/>
          <a:ln/>
        </p:spPr>
        <p:txBody>
          <a:bodyPr wrap="square" lIns="0" tIns="0" rIns="0" bIns="0" rtlCol="0" anchor="ctr"/>
          <a:lstStyle/>
          <a:p>
            <a:pPr indent="0" marL="0">
              <a:buNone/>
            </a:pPr>
            <a:r>
              <a:rPr lang="en-US" sz="1300" dirty="0">
                <a:solidFill>
                  <a:srgbClr val="6B7280"/>
                </a:solidFill>
                <a:latin typeface="맑은 고딕" pitchFamily="34" charset="0"/>
                <a:ea typeface="맑은 고딕" pitchFamily="34" charset="-122"/>
                <a:cs typeface="맑은 고딕" pitchFamily="34" charset="-120"/>
              </a:rPr>
              <a:t>한 달 동안 가장 크게 바뀐 것은 "확인해 보기 전까지는 모른다"는 태도였습니다</a:t>
            </a:r>
            <a:endParaRPr lang="en-US" sz="1300" dirty="0"/>
          </a:p>
        </p:txBody>
      </p:sp>
      <p:sp>
        <p:nvSpPr>
          <p:cNvPr id="5" name="Shape 3"/>
          <p:cNvSpPr/>
          <p:nvPr/>
        </p:nvSpPr>
        <p:spPr>
          <a:xfrm>
            <a:off x="502920" y="1325880"/>
            <a:ext cx="3566160" cy="1627632"/>
          </a:xfrm>
          <a:prstGeom prst="roundRect">
            <a:avLst>
              <a:gd name="adj" fmla="val 4494"/>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6" name="Shape 4"/>
          <p:cNvSpPr/>
          <p:nvPr/>
        </p:nvSpPr>
        <p:spPr>
          <a:xfrm>
            <a:off x="685800" y="1463040"/>
            <a:ext cx="274320" cy="274320"/>
          </a:xfrm>
          <a:prstGeom prst="ellipse">
            <a:avLst/>
          </a:prstGeom>
          <a:solidFill>
            <a:srgbClr val="0F9B8E"/>
          </a:solidFill>
          <a:ln w="12700">
            <a:solidFill>
              <a:srgbClr val="0F9B8E"/>
            </a:solidFill>
            <a:prstDash val="solid"/>
          </a:ln>
        </p:spPr>
      </p:sp>
      <p:sp>
        <p:nvSpPr>
          <p:cNvPr id="7" name="Text 5"/>
          <p:cNvSpPr txBox="1"/>
          <p:nvPr/>
        </p:nvSpPr>
        <p:spPr>
          <a:xfrm>
            <a:off x="685800" y="14630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8" name="Text 6"/>
          <p:cNvSpPr txBox="1"/>
          <p:nvPr/>
        </p:nvSpPr>
        <p:spPr>
          <a:xfrm>
            <a:off x="685800" y="1792224"/>
            <a:ext cx="3200400" cy="566928"/>
          </a:xfrm>
          <a:prstGeom prst="rect">
            <a:avLst/>
          </a:prstGeom>
          <a:noFill/>
          <a:ln/>
        </p:spPr>
        <p:txBody>
          <a:bodyPr wrap="square" lIns="0" tIns="0" rIns="0" bIns="0" rtlCol="0" anchor="ctr"/>
          <a:lstStyle/>
          <a:p>
            <a:pPr indent="0" marL="0">
              <a:lnSpc>
                <a:spcPts val="1900"/>
              </a:lnSpc>
              <a:buNone/>
            </a:pPr>
            <a:r>
              <a:rPr lang="en-US" sz="1300" b="1" dirty="0">
                <a:solidFill>
                  <a:srgbClr val="0F2B46"/>
                </a:solidFill>
                <a:latin typeface="맑은 고딕" pitchFamily="34" charset="0"/>
                <a:ea typeface="맑은 고딕" pitchFamily="34" charset="-122"/>
                <a:cs typeface="맑은 고딕" pitchFamily="34" charset="-120"/>
              </a:rPr>
              <a:t>좋은 답변보다</a:t>
            </a:r>
            <a:endParaRPr lang="en-US" sz="1300" dirty="0"/>
          </a:p>
          <a:p>
            <a:pPr indent="0" marL="0">
              <a:lnSpc>
                <a:spcPts val="1900"/>
              </a:lnSpc>
              <a:buNone/>
            </a:pPr>
            <a:r>
              <a:rPr lang="en-US" sz="1300" b="1" dirty="0">
                <a:solidFill>
                  <a:srgbClr val="0F2B46"/>
                </a:solidFill>
                <a:latin typeface="맑은 고딕" pitchFamily="34" charset="0"/>
                <a:ea typeface="맑은 고딕" pitchFamily="34" charset="-122"/>
                <a:cs typeface="맑은 고딕" pitchFamily="34" charset="-120"/>
              </a:rPr>
              <a:t>좋은 근거가 먼저</a:t>
            </a:r>
            <a:endParaRPr lang="en-US" sz="1300" dirty="0"/>
          </a:p>
        </p:txBody>
      </p:sp>
      <p:sp>
        <p:nvSpPr>
          <p:cNvPr id="9" name="Text 7"/>
          <p:cNvSpPr txBox="1"/>
          <p:nvPr/>
        </p:nvSpPr>
        <p:spPr>
          <a:xfrm>
            <a:off x="685800" y="2340864"/>
            <a:ext cx="3200400" cy="566928"/>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프롬프트를 다듬는 것보다, 답의 재료가 될 조항을 정확히 찾아주는 것이 결과를 더 크게 바꿨습니다</a:t>
            </a:r>
            <a:endParaRPr lang="en-US" sz="950" dirty="0"/>
          </a:p>
        </p:txBody>
      </p:sp>
      <p:sp>
        <p:nvSpPr>
          <p:cNvPr id="10" name="Shape 8"/>
          <p:cNvSpPr/>
          <p:nvPr/>
        </p:nvSpPr>
        <p:spPr>
          <a:xfrm>
            <a:off x="4325112" y="1325880"/>
            <a:ext cx="3566160" cy="1627632"/>
          </a:xfrm>
          <a:prstGeom prst="roundRect">
            <a:avLst>
              <a:gd name="adj" fmla="val 4494"/>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1" name="Shape 9"/>
          <p:cNvSpPr/>
          <p:nvPr/>
        </p:nvSpPr>
        <p:spPr>
          <a:xfrm>
            <a:off x="4507992" y="1463040"/>
            <a:ext cx="274320" cy="274320"/>
          </a:xfrm>
          <a:prstGeom prst="ellipse">
            <a:avLst/>
          </a:prstGeom>
          <a:solidFill>
            <a:srgbClr val="0F9B8E"/>
          </a:solidFill>
          <a:ln w="12700">
            <a:solidFill>
              <a:srgbClr val="0F9B8E"/>
            </a:solidFill>
            <a:prstDash val="solid"/>
          </a:ln>
        </p:spPr>
      </p:sp>
      <p:sp>
        <p:nvSpPr>
          <p:cNvPr id="12" name="Text 10"/>
          <p:cNvSpPr txBox="1"/>
          <p:nvPr/>
        </p:nvSpPr>
        <p:spPr>
          <a:xfrm>
            <a:off x="4507992" y="14630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13" name="Text 11"/>
          <p:cNvSpPr txBox="1"/>
          <p:nvPr/>
        </p:nvSpPr>
        <p:spPr>
          <a:xfrm>
            <a:off x="4507992" y="1792224"/>
            <a:ext cx="3200400" cy="566928"/>
          </a:xfrm>
          <a:prstGeom prst="rect">
            <a:avLst/>
          </a:prstGeom>
          <a:noFill/>
          <a:ln/>
        </p:spPr>
        <p:txBody>
          <a:bodyPr wrap="square" lIns="0" tIns="0" rIns="0" bIns="0" rtlCol="0" anchor="ctr"/>
          <a:lstStyle/>
          <a:p>
            <a:pPr indent="0" marL="0">
              <a:lnSpc>
                <a:spcPts val="1900"/>
              </a:lnSpc>
              <a:buNone/>
            </a:pPr>
            <a:r>
              <a:rPr lang="en-US" sz="1300" b="1" dirty="0">
                <a:solidFill>
                  <a:srgbClr val="0F2B46"/>
                </a:solidFill>
                <a:latin typeface="맑은 고딕" pitchFamily="34" charset="0"/>
                <a:ea typeface="맑은 고딕" pitchFamily="34" charset="-122"/>
                <a:cs typeface="맑은 고딕" pitchFamily="34" charset="-120"/>
              </a:rPr>
              <a:t>지시보다</a:t>
            </a:r>
            <a:endParaRPr lang="en-US" sz="1300" dirty="0"/>
          </a:p>
          <a:p>
            <a:pPr indent="0" marL="0">
              <a:lnSpc>
                <a:spcPts val="1900"/>
              </a:lnSpc>
              <a:buNone/>
            </a:pPr>
            <a:r>
              <a:rPr lang="en-US" sz="1300" b="1" dirty="0">
                <a:solidFill>
                  <a:srgbClr val="0F2B46"/>
                </a:solidFill>
                <a:latin typeface="맑은 고딕" pitchFamily="34" charset="0"/>
                <a:ea typeface="맑은 고딕" pitchFamily="34" charset="-122"/>
                <a:cs typeface="맑은 고딕" pitchFamily="34" charset="-120"/>
              </a:rPr>
              <a:t>구조로 막는다</a:t>
            </a:r>
            <a:endParaRPr lang="en-US" sz="1300" dirty="0"/>
          </a:p>
        </p:txBody>
      </p:sp>
      <p:sp>
        <p:nvSpPr>
          <p:cNvPr id="14" name="Text 12"/>
          <p:cNvSpPr txBox="1"/>
          <p:nvPr/>
        </p:nvSpPr>
        <p:spPr>
          <a:xfrm>
            <a:off x="4507992" y="2340864"/>
            <a:ext cx="3200400" cy="566928"/>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모델에게 "모르면 말하지 마"라고 지시하는 것보다, 답을 만들기 전에 판정 단계에서 멈추는 구조가 훨씬 안정적이었습니다</a:t>
            </a:r>
            <a:endParaRPr lang="en-US" sz="950" dirty="0"/>
          </a:p>
        </p:txBody>
      </p:sp>
      <p:sp>
        <p:nvSpPr>
          <p:cNvPr id="15" name="Shape 13"/>
          <p:cNvSpPr/>
          <p:nvPr/>
        </p:nvSpPr>
        <p:spPr>
          <a:xfrm>
            <a:off x="8147304" y="1325880"/>
            <a:ext cx="3566160" cy="1627632"/>
          </a:xfrm>
          <a:prstGeom prst="roundRect">
            <a:avLst>
              <a:gd name="adj" fmla="val 4494"/>
            </a:avLst>
          </a:prstGeom>
          <a:solidFill>
            <a:srgbClr val="F5F7FA"/>
          </a:solidFill>
          <a:ln w="12700">
            <a:solidFill>
              <a:srgbClr val="F5F7FA"/>
            </a:solidFill>
            <a:prstDash val="solid"/>
          </a:ln>
          <a:effectLst>
            <a:outerShdw sx="100000" sy="100000" kx="0" ky="0" algn="bl" rotWithShape="0" blurRad="127000" dist="12700" dir="5400000">
              <a:srgbClr val="0F2B46">
                <a:alpha val="10000"/>
              </a:srgbClr>
            </a:outerShdw>
          </a:effectLst>
        </p:spPr>
      </p:sp>
      <p:sp>
        <p:nvSpPr>
          <p:cNvPr id="16" name="Shape 14"/>
          <p:cNvSpPr/>
          <p:nvPr/>
        </p:nvSpPr>
        <p:spPr>
          <a:xfrm>
            <a:off x="8330184" y="1463040"/>
            <a:ext cx="274320" cy="274320"/>
          </a:xfrm>
          <a:prstGeom prst="ellipse">
            <a:avLst/>
          </a:prstGeom>
          <a:solidFill>
            <a:srgbClr val="0F9B8E"/>
          </a:solidFill>
          <a:ln w="12700">
            <a:solidFill>
              <a:srgbClr val="0F9B8E"/>
            </a:solidFill>
            <a:prstDash val="solid"/>
          </a:ln>
        </p:spPr>
      </p:sp>
      <p:sp>
        <p:nvSpPr>
          <p:cNvPr id="17" name="Text 15"/>
          <p:cNvSpPr txBox="1"/>
          <p:nvPr/>
        </p:nvSpPr>
        <p:spPr>
          <a:xfrm>
            <a:off x="8330184" y="14630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18" name="Text 16"/>
          <p:cNvSpPr txBox="1"/>
          <p:nvPr/>
        </p:nvSpPr>
        <p:spPr>
          <a:xfrm>
            <a:off x="8330184" y="1792224"/>
            <a:ext cx="3200400" cy="566928"/>
          </a:xfrm>
          <a:prstGeom prst="rect">
            <a:avLst/>
          </a:prstGeom>
          <a:noFill/>
          <a:ln/>
        </p:spPr>
        <p:txBody>
          <a:bodyPr wrap="square" lIns="0" tIns="0" rIns="0" bIns="0" rtlCol="0" anchor="ctr"/>
          <a:lstStyle/>
          <a:p>
            <a:pPr indent="0" marL="0">
              <a:lnSpc>
                <a:spcPts val="1900"/>
              </a:lnSpc>
              <a:buNone/>
            </a:pPr>
            <a:r>
              <a:rPr lang="en-US" sz="1300" b="1" dirty="0">
                <a:solidFill>
                  <a:srgbClr val="0F2B46"/>
                </a:solidFill>
                <a:latin typeface="맑은 고딕" pitchFamily="34" charset="0"/>
                <a:ea typeface="맑은 고딕" pitchFamily="34" charset="-122"/>
                <a:cs typeface="맑은 고딕" pitchFamily="34" charset="-120"/>
              </a:rPr>
              <a:t>미리 좁히는</a:t>
            </a:r>
            <a:endParaRPr lang="en-US" sz="1300" dirty="0"/>
          </a:p>
          <a:p>
            <a:pPr indent="0" marL="0">
              <a:lnSpc>
                <a:spcPts val="1900"/>
              </a:lnSpc>
              <a:buNone/>
            </a:pPr>
            <a:r>
              <a:rPr lang="en-US" sz="1300" b="1" dirty="0">
                <a:solidFill>
                  <a:srgbClr val="0F2B46"/>
                </a:solidFill>
                <a:latin typeface="맑은 고딕" pitchFamily="34" charset="0"/>
                <a:ea typeface="맑은 고딕" pitchFamily="34" charset="-122"/>
                <a:cs typeface="맑은 고딕" pitchFamily="34" charset="-120"/>
              </a:rPr>
              <a:t>최적화는 손해였다</a:t>
            </a:r>
            <a:endParaRPr lang="en-US" sz="1300" dirty="0"/>
          </a:p>
        </p:txBody>
      </p:sp>
      <p:sp>
        <p:nvSpPr>
          <p:cNvPr id="19" name="Text 17"/>
          <p:cNvSpPr txBox="1"/>
          <p:nvPr/>
        </p:nvSpPr>
        <p:spPr>
          <a:xfrm>
            <a:off x="8330184" y="2340864"/>
            <a:ext cx="3200400" cy="566928"/>
          </a:xfrm>
          <a:prstGeom prst="rect">
            <a:avLst/>
          </a:prstGeom>
          <a:noFill/>
          <a:ln/>
        </p:spPr>
        <p:txBody>
          <a:bodyPr wrap="square" lIns="0" tIns="0" rIns="0" bIns="0" rtlCol="0" anchor="ctr"/>
          <a:lstStyle/>
          <a:p>
            <a:pPr indent="0" marL="0">
              <a:lnSpc>
                <a:spcPts val="1400"/>
              </a:lnSpc>
              <a:buNone/>
            </a:pPr>
            <a:r>
              <a:rPr lang="en-US" sz="950" dirty="0">
                <a:solidFill>
                  <a:srgbClr val="6B7280"/>
                </a:solidFill>
                <a:latin typeface="맑은 고딕" pitchFamily="34" charset="0"/>
                <a:ea typeface="맑은 고딕" pitchFamily="34" charset="-122"/>
                <a:cs typeface="맑은 고딕" pitchFamily="34" charset="-120"/>
              </a:rPr>
              <a:t>단어로 앞질러 판단할수록 정답이 범위 밖으로 밀렸고, 틀려도 조용히 틀렸습니다</a:t>
            </a:r>
            <a:endParaRPr lang="en-US" sz="950" dirty="0"/>
          </a:p>
        </p:txBody>
      </p:sp>
      <p:sp>
        <p:nvSpPr>
          <p:cNvPr id="20" name="Text 18"/>
          <p:cNvSpPr txBox="1"/>
          <p:nvPr/>
        </p:nvSpPr>
        <p:spPr>
          <a:xfrm>
            <a:off x="502920" y="3127248"/>
            <a:ext cx="5486400" cy="237744"/>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아쉬운 점과 거기서 얻은 것</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3410712"/>
          <a:ext cx="5806440" cy="914400"/>
        </p:xfrm>
        <a:graphic>
          <a:graphicData uri="http://schemas.openxmlformats.org/drawingml/2006/table">
            <a:tbl>
              <a:tblPr/>
              <a:tblGrid>
                <a:gridCol w="2606040"/>
                <a:gridCol w="3200400"/>
              </a:tblGrid>
              <a:tr h="36576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아쉬운 점</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여기서 얻은 것</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65760">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초기에 고정 문구로 답을 빠르게 맞추려 했던 것</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편법으로 맞춘 답은 인접 사안에서 조용히 틀린다는 것을 실제로 확인</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65760">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평가셋을 코퍼스를 보면서 만든 것</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상위 지표가 좋아도 커버리지 증명은 아니라는 것을 알게 됨</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22" name="Text 19"/>
          <p:cNvSpPr txBox="1"/>
          <p:nvPr/>
        </p:nvSpPr>
        <p:spPr>
          <a:xfrm>
            <a:off x="502920" y="4828032"/>
            <a:ext cx="5486400" cy="237744"/>
          </a:xfrm>
          <a:prstGeom prst="rect">
            <a:avLst/>
          </a:prstGeom>
          <a:noFill/>
          <a:ln/>
        </p:spPr>
        <p:txBody>
          <a:bodyPr wrap="square" lIns="0" tIns="0" rIns="0" bIns="0" rtlCol="0" anchor="ctr"/>
          <a:lstStyle/>
          <a:p>
            <a:pPr indent="0" marL="0">
              <a:buNone/>
            </a:pPr>
            <a:r>
              <a:rPr lang="en-US" sz="1150" b="1" dirty="0">
                <a:solidFill>
                  <a:srgbClr val="0F2B46"/>
                </a:solidFill>
                <a:latin typeface="맑은 고딕" pitchFamily="34" charset="0"/>
                <a:ea typeface="맑은 고딕" pitchFamily="34" charset="-122"/>
                <a:cs typeface="맑은 고딕" pitchFamily="34" charset="-120"/>
              </a:rPr>
              <a:t>향후 계획</a:t>
            </a:r>
            <a:endParaRPr lang="en-US" sz="115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502920" y="5111496"/>
          <a:ext cx="5806440" cy="914400"/>
        </p:xfrm>
        <a:graphic>
          <a:graphicData uri="http://schemas.openxmlformats.org/drawingml/2006/table">
            <a:tbl>
              <a:tblPr/>
              <a:tblGrid>
                <a:gridCol w="914400"/>
                <a:gridCol w="4892040"/>
              </a:tblGrid>
              <a:tr h="32004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시점</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계획</a:t>
                      </a:r>
                      <a:endParaRPr lang="en-US" sz="11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0F2B46"/>
                    </a:solidFill>
                  </a:tcPr>
                </a:tc>
              </a:tr>
              <a:tr h="320040">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단기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별첨 표 검색 문제 해결, 네 제도 전체의 실사용 평가셋 확보</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0040">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중기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파일럿 운영으로 실제 문의 로그 축적, 답변 품질 지속 측정 체계 구축</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r h="320040">
                <a:tc>
                  <a:txBody>
                    <a:bodyPr/>
                    <a:lstStyle/>
                    <a:p>
                      <a:pPr indent="0" marL="0">
                        <a:buNone/>
                      </a:pPr>
                      <a:r>
                        <a:rPr lang="en-US" sz="1050" b="1" dirty="0">
                          <a:solidFill>
                            <a:srgbClr val="0F9B8E"/>
                          </a:solidFill>
                          <a:latin typeface="맑은 고딕" pitchFamily="34" charset="0"/>
                          <a:ea typeface="맑은 고딕" pitchFamily="34" charset="-122"/>
                          <a:cs typeface="맑은 고딕" pitchFamily="34" charset="-120"/>
                        </a:rPr>
                        <a:t>장기</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333333"/>
                          </a:solidFill>
                          <a:latin typeface="맑은 고딕" pitchFamily="34" charset="0"/>
                          <a:ea typeface="맑은 고딕" pitchFamily="34" charset="-122"/>
                          <a:cs typeface="맑은 고딕" pitchFamily="34" charset="-120"/>
                        </a:rPr>
                        <a:t>규정 개정 시 자동 반영 체계, 신청·전자결재 시스템 연동</a:t>
                      </a:r>
                      <a:endParaRPr lang="en-US" sz="105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tcPr>
                </a:tc>
              </a:tr>
            </a:tbl>
          </a:graphicData>
        </a:graphic>
      </p:graphicFrame>
      <p:sp>
        <p:nvSpPr>
          <p:cNvPr id="24" name="Shape 20"/>
          <p:cNvSpPr/>
          <p:nvPr/>
        </p:nvSpPr>
        <p:spPr>
          <a:xfrm>
            <a:off x="6629400" y="3127248"/>
            <a:ext cx="5056632" cy="3200400"/>
          </a:xfrm>
          <a:prstGeom prst="roundRect">
            <a:avLst>
              <a:gd name="adj" fmla="val 2286"/>
            </a:avLst>
          </a:prstGeom>
          <a:solidFill>
            <a:srgbClr val="0F2B46"/>
          </a:solidFill>
          <a:ln w="12700">
            <a:solidFill>
              <a:srgbClr val="0F2B46"/>
            </a:solidFill>
            <a:prstDash val="solid"/>
          </a:ln>
        </p:spPr>
      </p:sp>
      <p:sp>
        <p:nvSpPr>
          <p:cNvPr id="25" name="Text 21"/>
          <p:cNvSpPr txBox="1"/>
          <p:nvPr/>
        </p:nvSpPr>
        <p:spPr>
          <a:xfrm>
            <a:off x="6885432" y="3310128"/>
            <a:ext cx="4572000" cy="292608"/>
          </a:xfrm>
          <a:prstGeom prst="rect">
            <a:avLst/>
          </a:prstGeom>
          <a:noFill/>
          <a:ln/>
        </p:spPr>
        <p:txBody>
          <a:bodyPr wrap="square" lIns="0" tIns="0" rIns="0" bIns="0" rtlCol="0" anchor="ctr"/>
          <a:lstStyle/>
          <a:p>
            <a:pPr indent="0" marL="0">
              <a:buNone/>
            </a:pPr>
            <a:r>
              <a:rPr lang="en-US" sz="1300" b="1" dirty="0">
                <a:solidFill>
                  <a:srgbClr val="0F9B8E"/>
                </a:solidFill>
                <a:latin typeface="맑은 고딕" pitchFamily="34" charset="0"/>
                <a:ea typeface="맑은 고딕" pitchFamily="34" charset="-122"/>
                <a:cs typeface="맑은 고딕" pitchFamily="34" charset="-120"/>
              </a:rPr>
              <a:t>한 달간의 학습 소감</a:t>
            </a:r>
            <a:endParaRPr lang="en-US" sz="1300" dirty="0"/>
          </a:p>
        </p:txBody>
      </p:sp>
      <p:sp>
        <p:nvSpPr>
          <p:cNvPr id="26" name="Text 22"/>
          <p:cNvSpPr txBox="1"/>
          <p:nvPr/>
        </p:nvSpPr>
        <p:spPr>
          <a:xfrm>
            <a:off x="6885432" y="3730752"/>
            <a:ext cx="274320" cy="256032"/>
          </a:xfrm>
          <a:prstGeom prst="rect">
            <a:avLst/>
          </a:prstGeom>
          <a:noFill/>
          <a:ln/>
        </p:spPr>
        <p:txBody>
          <a:bodyPr wrap="square" lIns="0" tIns="0" rIns="0" bIns="0" rtlCol="0" anchor="ctr"/>
          <a:lstStyle/>
          <a:p>
            <a:pPr indent="0" marL="0">
              <a:buNone/>
            </a:pPr>
            <a:r>
              <a:rPr lang="en-US" sz="1300" b="1" dirty="0">
                <a:solidFill>
                  <a:srgbClr val="0F9B8E"/>
                </a:solidFill>
                <a:latin typeface="맑은 고딕" pitchFamily="34" charset="0"/>
                <a:ea typeface="맑은 고딕" pitchFamily="34" charset="-122"/>
                <a:cs typeface="맑은 고딕" pitchFamily="34" charset="-120"/>
              </a:rPr>
              <a:t>✓</a:t>
            </a:r>
            <a:endParaRPr lang="en-US" sz="1300" dirty="0"/>
          </a:p>
        </p:txBody>
      </p:sp>
      <p:sp>
        <p:nvSpPr>
          <p:cNvPr id="27" name="Text 23"/>
          <p:cNvSpPr txBox="1"/>
          <p:nvPr/>
        </p:nvSpPr>
        <p:spPr>
          <a:xfrm>
            <a:off x="7205472" y="3694176"/>
            <a:ext cx="4251960" cy="658368"/>
          </a:xfrm>
          <a:prstGeom prst="rect">
            <a:avLst/>
          </a:prstGeom>
          <a:noFill/>
          <a:ln/>
        </p:spPr>
        <p:txBody>
          <a:bodyPr wrap="square" lIns="0" tIns="0" rIns="0" bIns="0" rtlCol="0" anchor="ctr"/>
          <a:lstStyle/>
          <a:p>
            <a:pPr indent="0" marL="0">
              <a:lnSpc>
                <a:spcPts val="1700"/>
              </a:lnSpc>
              <a:buNone/>
            </a:pPr>
            <a:r>
              <a:rPr lang="en-US" sz="1100" dirty="0">
                <a:solidFill>
                  <a:srgbClr val="FFFFFF"/>
                </a:solidFill>
                <a:latin typeface="맑은 고딕" pitchFamily="34" charset="0"/>
                <a:ea typeface="맑은 고딕" pitchFamily="34" charset="-122"/>
                <a:cs typeface="맑은 고딕" pitchFamily="34" charset="-120"/>
              </a:rPr>
              <a:t>모델을 호출하는 것과 업무에 쓸 시스템을 설계하는 것은 다르다는 점을 몸으로 배웠습니다.</a:t>
            </a:r>
            <a:endParaRPr lang="en-US" sz="1100" dirty="0"/>
          </a:p>
        </p:txBody>
      </p:sp>
      <p:sp>
        <p:nvSpPr>
          <p:cNvPr id="28" name="Text 24"/>
          <p:cNvSpPr txBox="1"/>
          <p:nvPr/>
        </p:nvSpPr>
        <p:spPr>
          <a:xfrm>
            <a:off x="6885432" y="4462272"/>
            <a:ext cx="274320" cy="256032"/>
          </a:xfrm>
          <a:prstGeom prst="rect">
            <a:avLst/>
          </a:prstGeom>
          <a:noFill/>
          <a:ln/>
        </p:spPr>
        <p:txBody>
          <a:bodyPr wrap="square" lIns="0" tIns="0" rIns="0" bIns="0" rtlCol="0" anchor="ctr"/>
          <a:lstStyle/>
          <a:p>
            <a:pPr indent="0" marL="0">
              <a:buNone/>
            </a:pPr>
            <a:r>
              <a:rPr lang="en-US" sz="1300" b="1" dirty="0">
                <a:solidFill>
                  <a:srgbClr val="0F9B8E"/>
                </a:solidFill>
                <a:latin typeface="맑은 고딕" pitchFamily="34" charset="0"/>
                <a:ea typeface="맑은 고딕" pitchFamily="34" charset="-122"/>
                <a:cs typeface="맑은 고딕" pitchFamily="34" charset="-120"/>
              </a:rPr>
              <a:t>✓</a:t>
            </a:r>
            <a:endParaRPr lang="en-US" sz="1300" dirty="0"/>
          </a:p>
        </p:txBody>
      </p:sp>
      <p:sp>
        <p:nvSpPr>
          <p:cNvPr id="29" name="Text 25"/>
          <p:cNvSpPr txBox="1"/>
          <p:nvPr/>
        </p:nvSpPr>
        <p:spPr>
          <a:xfrm>
            <a:off x="7205472" y="4425696"/>
            <a:ext cx="4251960" cy="658368"/>
          </a:xfrm>
          <a:prstGeom prst="rect">
            <a:avLst/>
          </a:prstGeom>
          <a:noFill/>
          <a:ln/>
        </p:spPr>
        <p:txBody>
          <a:bodyPr wrap="square" lIns="0" tIns="0" rIns="0" bIns="0" rtlCol="0" anchor="ctr"/>
          <a:lstStyle/>
          <a:p>
            <a:pPr indent="0" marL="0">
              <a:lnSpc>
                <a:spcPts val="1700"/>
              </a:lnSpc>
              <a:buNone/>
            </a:pPr>
            <a:r>
              <a:rPr lang="en-US" sz="1100" dirty="0">
                <a:solidFill>
                  <a:srgbClr val="FFFFFF"/>
                </a:solidFill>
                <a:latin typeface="맑은 고딕" pitchFamily="34" charset="0"/>
                <a:ea typeface="맑은 고딕" pitchFamily="34" charset="-122"/>
                <a:cs typeface="맑은 고딕" pitchFamily="34" charset="-120"/>
              </a:rPr>
              <a:t>데이터 준비 · 검색 · 평가 · 운영 원칙이 하나로 연결돼야 실제 업무에 쓸 수 있다는 것을 확인했습니다.</a:t>
            </a:r>
            <a:endParaRPr lang="en-US" sz="1100" dirty="0"/>
          </a:p>
        </p:txBody>
      </p:sp>
      <p:sp>
        <p:nvSpPr>
          <p:cNvPr id="30" name="Text 26"/>
          <p:cNvSpPr txBox="1"/>
          <p:nvPr/>
        </p:nvSpPr>
        <p:spPr>
          <a:xfrm>
            <a:off x="6885432" y="5193792"/>
            <a:ext cx="274320" cy="256032"/>
          </a:xfrm>
          <a:prstGeom prst="rect">
            <a:avLst/>
          </a:prstGeom>
          <a:noFill/>
          <a:ln/>
        </p:spPr>
        <p:txBody>
          <a:bodyPr wrap="square" lIns="0" tIns="0" rIns="0" bIns="0" rtlCol="0" anchor="ctr"/>
          <a:lstStyle/>
          <a:p>
            <a:pPr indent="0" marL="0">
              <a:buNone/>
            </a:pPr>
            <a:r>
              <a:rPr lang="en-US" sz="1300" b="1" dirty="0">
                <a:solidFill>
                  <a:srgbClr val="0F9B8E"/>
                </a:solidFill>
                <a:latin typeface="맑은 고딕" pitchFamily="34" charset="0"/>
                <a:ea typeface="맑은 고딕" pitchFamily="34" charset="-122"/>
                <a:cs typeface="맑은 고딕" pitchFamily="34" charset="-120"/>
              </a:rPr>
              <a:t>✓</a:t>
            </a:r>
            <a:endParaRPr lang="en-US" sz="1300" dirty="0"/>
          </a:p>
        </p:txBody>
      </p:sp>
      <p:sp>
        <p:nvSpPr>
          <p:cNvPr id="31" name="Text 27"/>
          <p:cNvSpPr txBox="1"/>
          <p:nvPr/>
        </p:nvSpPr>
        <p:spPr>
          <a:xfrm>
            <a:off x="7205472" y="5157216"/>
            <a:ext cx="4251960" cy="658368"/>
          </a:xfrm>
          <a:prstGeom prst="rect">
            <a:avLst/>
          </a:prstGeom>
          <a:noFill/>
          <a:ln/>
        </p:spPr>
        <p:txBody>
          <a:bodyPr wrap="square" lIns="0" tIns="0" rIns="0" bIns="0" rtlCol="0" anchor="ctr"/>
          <a:lstStyle/>
          <a:p>
            <a:pPr indent="0" marL="0">
              <a:lnSpc>
                <a:spcPts val="1700"/>
              </a:lnSpc>
              <a:buNone/>
            </a:pPr>
            <a:r>
              <a:rPr lang="en-US" sz="1100" dirty="0">
                <a:solidFill>
                  <a:srgbClr val="FFFFFF"/>
                </a:solidFill>
                <a:latin typeface="맑은 고딕" pitchFamily="34" charset="0"/>
                <a:ea typeface="맑은 고딕" pitchFamily="34" charset="-122"/>
                <a:cs typeface="맑은 고딕" pitchFamily="34" charset="-120"/>
              </a:rPr>
              <a:t>가장 크게 배운 것은, 잘 돌아가는 것처럼 보여도 측정해 보기 전까지는 모른다는 점이었습니다.</a:t>
            </a:r>
            <a:endParaRPr lang="en-US" sz="1100" dirty="0"/>
          </a:p>
        </p:txBody>
      </p:sp>
      <p:sp>
        <p:nvSpPr>
          <p:cNvPr id="32" name="Shape 28"/>
          <p:cNvSpPr/>
          <p:nvPr/>
        </p:nvSpPr>
        <p:spPr>
          <a:xfrm>
            <a:off x="6885432" y="5870448"/>
            <a:ext cx="4572000" cy="0"/>
          </a:xfrm>
          <a:prstGeom prst="line">
            <a:avLst/>
          </a:prstGeom>
          <a:noFill/>
          <a:ln w="12700">
            <a:solidFill>
              <a:srgbClr val="2A5077"/>
            </a:solidFill>
            <a:prstDash val="solid"/>
          </a:ln>
        </p:spPr>
      </p:sp>
      <p:sp>
        <p:nvSpPr>
          <p:cNvPr id="33" name="Text 29"/>
          <p:cNvSpPr txBox="1"/>
          <p:nvPr/>
        </p:nvSpPr>
        <p:spPr>
          <a:xfrm>
            <a:off x="6885432" y="5943600"/>
            <a:ext cx="4572000" cy="347472"/>
          </a:xfrm>
          <a:prstGeom prst="rect">
            <a:avLst/>
          </a:prstGeom>
          <a:noFill/>
          <a:ln/>
        </p:spPr>
        <p:txBody>
          <a:bodyPr wrap="square" lIns="0" tIns="0" rIns="0" bIns="0" rtlCol="0" anchor="ctr"/>
          <a:lstStyle/>
          <a:p>
            <a:pPr indent="0" marL="0">
              <a:buNone/>
            </a:pPr>
            <a:r>
              <a:rPr lang="en-US" sz="900" dirty="0">
                <a:solidFill>
                  <a:srgbClr val="8FA9C4"/>
                </a:solidFill>
                <a:latin typeface="맑은 고딕" pitchFamily="34" charset="0"/>
                <a:ea typeface="맑은 고딕" pitchFamily="34" charset="-122"/>
                <a:cs typeface="맑은 고딕" pitchFamily="34" charset="-120"/>
              </a:rPr>
              <a:t>실무 활용 계획 — 규정 원본과 담당 기준을 확정한 뒤 파일럿으로 운영해, 실제 문의 로그로 평가셋을 넓혀가겠습니다.</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B46"/>
        </a:solidFill>
      </p:bgPr>
    </p:bg>
    <p:spTree>
      <p:nvGrpSpPr>
        <p:cNvPr id="1" name=""/>
        <p:cNvGrpSpPr/>
        <p:nvPr/>
      </p:nvGrpSpPr>
      <p:grpSpPr>
        <a:xfrm>
          <a:off x="0" y="0"/>
          <a:ext cx="0" cy="0"/>
          <a:chOff x="0" y="0"/>
          <a:chExt cx="0" cy="0"/>
        </a:xfrm>
      </p:grpSpPr>
      <p:sp>
        <p:nvSpPr>
          <p:cNvPr id="2" name="Shape 0"/>
          <p:cNvSpPr/>
          <p:nvPr/>
        </p:nvSpPr>
        <p:spPr>
          <a:xfrm>
            <a:off x="9052560" y="-1097280"/>
            <a:ext cx="4572000" cy="4572000"/>
          </a:xfrm>
          <a:prstGeom prst="ellipse">
            <a:avLst/>
          </a:prstGeom>
          <a:solidFill>
            <a:srgbClr val="1B3F63"/>
          </a:solidFill>
          <a:ln w="12700">
            <a:solidFill>
              <a:srgbClr val="1B3F63"/>
            </a:solidFill>
            <a:prstDash val="solid"/>
          </a:ln>
        </p:spPr>
      </p:sp>
      <p:sp>
        <p:nvSpPr>
          <p:cNvPr id="3" name="Shape 1"/>
          <p:cNvSpPr/>
          <p:nvPr/>
        </p:nvSpPr>
        <p:spPr>
          <a:xfrm>
            <a:off x="10424160" y="4389120"/>
            <a:ext cx="2743200" cy="2743200"/>
          </a:xfrm>
          <a:prstGeom prst="ellipse">
            <a:avLst/>
          </a:prstGeom>
          <a:solidFill>
            <a:srgbClr val="16496F"/>
          </a:solidFill>
          <a:ln w="12700">
            <a:solidFill>
              <a:srgbClr val="16496F"/>
            </a:solidFill>
            <a:prstDash val="solid"/>
          </a:ln>
        </p:spPr>
      </p:sp>
      <p:sp>
        <p:nvSpPr>
          <p:cNvPr id="4" name="Text 2"/>
          <p:cNvSpPr txBox="1"/>
          <p:nvPr/>
        </p:nvSpPr>
        <p:spPr>
          <a:xfrm>
            <a:off x="502920" y="2057400"/>
            <a:ext cx="6400800" cy="868680"/>
          </a:xfrm>
          <a:prstGeom prst="rect">
            <a:avLst/>
          </a:prstGeom>
          <a:noFill/>
          <a:ln/>
        </p:spPr>
        <p:txBody>
          <a:bodyPr wrap="square" lIns="0" tIns="0" rIns="0" bIns="0" rtlCol="0" anchor="ctr"/>
          <a:lstStyle/>
          <a:p>
            <a:pPr indent="0" marL="0">
              <a:buNone/>
            </a:pPr>
            <a:r>
              <a:rPr lang="en-US" sz="4400" b="1" dirty="0">
                <a:solidFill>
                  <a:srgbClr val="FFFFFF"/>
                </a:solidFill>
                <a:latin typeface="맑은 고딕" pitchFamily="34" charset="0"/>
                <a:ea typeface="맑은 고딕" pitchFamily="34" charset="-122"/>
                <a:cs typeface="맑은 고딕" pitchFamily="34" charset="-120"/>
              </a:rPr>
              <a:t>감사합니다</a:t>
            </a:r>
            <a:endParaRPr lang="en-US" sz="4400" dirty="0"/>
          </a:p>
        </p:txBody>
      </p:sp>
      <p:sp>
        <p:nvSpPr>
          <p:cNvPr id="5" name="Text 3"/>
          <p:cNvSpPr txBox="1"/>
          <p:nvPr/>
        </p:nvSpPr>
        <p:spPr>
          <a:xfrm>
            <a:off x="502920" y="3063240"/>
            <a:ext cx="6400800" cy="457200"/>
          </a:xfrm>
          <a:prstGeom prst="rect">
            <a:avLst/>
          </a:prstGeom>
          <a:noFill/>
          <a:ln/>
        </p:spPr>
        <p:txBody>
          <a:bodyPr wrap="square" lIns="0" tIns="0" rIns="0" bIns="0" rtlCol="0" anchor="ctr"/>
          <a:lstStyle/>
          <a:p>
            <a:pPr indent="0" marL="0">
              <a:buNone/>
            </a:pPr>
            <a:r>
              <a:rPr lang="en-US" sz="2000" b="1" dirty="0">
                <a:solidFill>
                  <a:srgbClr val="0F9B8E"/>
                </a:solidFill>
                <a:latin typeface="맑은 고딕" pitchFamily="34" charset="0"/>
                <a:ea typeface="맑은 고딕" pitchFamily="34" charset="-122"/>
                <a:cs typeface="맑은 고딕" pitchFamily="34" charset="-120"/>
              </a:rPr>
              <a:t>Q &amp; A</a:t>
            </a:r>
            <a:endParaRPr lang="en-US" sz="2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4160520"/>
          <a:ext cx="7315200" cy="914400"/>
        </p:xfrm>
        <a:graphic>
          <a:graphicData uri="http://schemas.openxmlformats.org/drawingml/2006/table">
            <a:tbl>
              <a:tblPr/>
              <a:tblGrid>
                <a:gridCol w="1554480"/>
                <a:gridCol w="5760720"/>
              </a:tblGrid>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대상 제도</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4개 제도 · 규정 6개 문서 · 135개 조항</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검색 정확도</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상위 1개 63.6% / 상위 3개 81.8% / 상위 5개 90.9%</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검증 규모</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평가셋 62문항 · 답변 고정 회귀 36건</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r h="310896">
                <a:tc>
                  <a:txBody>
                    <a:bodyPr/>
                    <a:lstStyle/>
                    <a:p>
                      <a:pPr indent="0" marL="0">
                        <a:buNone/>
                      </a:pPr>
                      <a:r>
                        <a:rPr lang="en-US" sz="1000" dirty="0">
                          <a:solidFill>
                            <a:srgbClr val="8FA9C4"/>
                          </a:solidFill>
                          <a:latin typeface="맑은 고딕" pitchFamily="34" charset="0"/>
                          <a:ea typeface="맑은 고딕" pitchFamily="34" charset="-122"/>
                          <a:cs typeface="맑은 고딕" pitchFamily="34" charset="-120"/>
                        </a:rPr>
                        <a:t>기대 효과</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연 263시간(33일)이 1차 안내로 전환 · 대기 시간 즉시화</a:t>
                      </a:r>
                      <a:endParaRPr lang="en-US" sz="1000" dirty="0">
                        <a:latin typeface="맑은 고딕" charset="0"/>
                        <a:ea typeface="맑은 고딕" charset="0"/>
                        <a:cs typeface="맑은 고딕"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2A5077"/>
                      </a:solidFill>
                      <a:prstDash val="solid"/>
                      <a:round/>
                      <a:headEnd type="none" w="med" len="med"/>
                      <a:tailEnd type="none" w="med" len="med"/>
                    </a:lnB>
                    <a:solidFill>
                      <a:srgbClr val="0F2B46"/>
                    </a:solidFill>
                  </a:tcPr>
                </a:tc>
              </a:tr>
            </a:tbl>
          </a:graphicData>
        </a:graphic>
      </p:graphicFrame>
      <p:sp>
        <p:nvSpPr>
          <p:cNvPr id="7" name="Text 4"/>
          <p:cNvSpPr txBox="1"/>
          <p:nvPr/>
        </p:nvSpPr>
        <p:spPr>
          <a:xfrm>
            <a:off x="502920" y="6080760"/>
            <a:ext cx="8229600" cy="274320"/>
          </a:xfrm>
          <a:prstGeom prst="rect">
            <a:avLst/>
          </a:prstGeom>
          <a:noFill/>
          <a:ln/>
        </p:spPr>
        <p:txBody>
          <a:bodyPr wrap="square" lIns="0" tIns="0" rIns="0" bIns="0" rtlCol="0" anchor="ctr"/>
          <a:lstStyle/>
          <a:p>
            <a:pPr indent="0" marL="0">
              <a:buNone/>
            </a:pPr>
            <a:r>
              <a:rPr lang="en-US" sz="1100" dirty="0">
                <a:solidFill>
                  <a:srgbClr val="8FA9C4"/>
                </a:solidFill>
                <a:latin typeface="맑은 고딕" pitchFamily="34" charset="0"/>
                <a:ea typeface="맑은 고딕" pitchFamily="34" charset="-122"/>
                <a:cs typeface="맑은 고딕" pitchFamily="34" charset="-120"/>
              </a:rPr>
              <a:t>AI활용전문가 양성과정(사무계)  |  포스코퓨처엠 김정훈</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포스코퓨처엠</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기반 사내 복리후생 통합 상담 및 적정성 검토 Agent</dc:title>
  <dc:subject>PptxGenJS Presentation</dc:subject>
  <dc:creator>김정훈</dc:creator>
  <cp:lastModifiedBy>김정훈</cp:lastModifiedBy>
  <cp:revision>1</cp:revision>
  <dcterms:created xsi:type="dcterms:W3CDTF">2026-09-14T07:08:49Z</dcterms:created>
  <dcterms:modified xsi:type="dcterms:W3CDTF">2026-09-14T07:08:49Z</dcterms:modified>
</cp:coreProperties>
</file>